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9" r:id="rId11"/>
    <p:sldId id="300" r:id="rId12"/>
    <p:sldId id="301" r:id="rId13"/>
    <p:sldId id="265" r:id="rId14"/>
    <p:sldId id="266" r:id="rId15"/>
    <p:sldId id="267" r:id="rId16"/>
    <p:sldId id="268" r:id="rId17"/>
    <p:sldId id="269" r:id="rId18"/>
    <p:sldId id="270" r:id="rId19"/>
    <p:sldId id="302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x="9144000" cy="5143500" type="screen16x9"/>
  <p:notesSz cx="6858000" cy="9144000"/>
  <p:embeddedFontLst>
    <p:embeddedFont>
      <p:font typeface="Noto Sans Symbols" panose="020B0604020202020204" charset="0"/>
      <p:regular r:id="rId50"/>
      <p:bold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jHB0keiaeRgBoMaF4w0rCakVEu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735F8E-FE9B-491D-A3AA-47D10F5E36AC}">
  <a:tblStyle styleId="{9A735F8E-FE9B-491D-A3AA-47D10F5E36A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3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customschemas.google.com/relationships/presentationmetadata" Target="metadata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gula Vijayalakshmi" userId="d18b6a86b3badea5" providerId="LiveId" clId="{38C9C441-9006-4956-B570-86329C55A408}"/>
    <pc:docChg chg="undo custSel addSld delSld modSld">
      <pc:chgData name="Gangula Vijayalakshmi" userId="d18b6a86b3badea5" providerId="LiveId" clId="{38C9C441-9006-4956-B570-86329C55A408}" dt="2026-05-31T12:43:44.154" v="198" actId="5793"/>
      <pc:docMkLst>
        <pc:docMk/>
      </pc:docMkLst>
      <pc:sldChg chg="modSp mod">
        <pc:chgData name="Gangula Vijayalakshmi" userId="d18b6a86b3badea5" providerId="LiveId" clId="{38C9C441-9006-4956-B570-86329C55A408}" dt="2026-05-20T16:52:29.175" v="197" actId="20577"/>
        <pc:sldMkLst>
          <pc:docMk/>
          <pc:sldMk cId="0" sldId="274"/>
        </pc:sldMkLst>
        <pc:spChg chg="mod">
          <ac:chgData name="Gangula Vijayalakshmi" userId="d18b6a86b3badea5" providerId="LiveId" clId="{38C9C441-9006-4956-B570-86329C55A408}" dt="2026-05-20T16:52:29.175" v="197" actId="20577"/>
          <ac:spMkLst>
            <pc:docMk/>
            <pc:sldMk cId="0" sldId="274"/>
            <ac:spMk id="162" creationId="{00000000-0000-0000-0000-000000000000}"/>
          </ac:spMkLst>
        </pc:spChg>
      </pc:sldChg>
      <pc:sldChg chg="modSp mod">
        <pc:chgData name="Gangula Vijayalakshmi" userId="d18b6a86b3badea5" providerId="LiveId" clId="{38C9C441-9006-4956-B570-86329C55A408}" dt="2026-05-31T12:43:44.154" v="198" actId="5793"/>
        <pc:sldMkLst>
          <pc:docMk/>
          <pc:sldMk cId="2877038433" sldId="300"/>
        </pc:sldMkLst>
        <pc:spChg chg="mod">
          <ac:chgData name="Gangula Vijayalakshmi" userId="d18b6a86b3badea5" providerId="LiveId" clId="{38C9C441-9006-4956-B570-86329C55A408}" dt="2026-05-31T12:43:44.154" v="198" actId="5793"/>
          <ac:spMkLst>
            <pc:docMk/>
            <pc:sldMk cId="2877038433" sldId="300"/>
            <ac:spMk id="3" creationId="{A5BE7E9D-5E8A-8427-5B6A-95E854775AC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7" name="Google Shape;637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9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9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9"/>
          <p:cNvSpPr txBox="1">
            <a:spLocks noGrp="1"/>
          </p:cNvSpPr>
          <p:nvPr>
            <p:ph type="sldNum" idx="12"/>
          </p:nvPr>
        </p:nvSpPr>
        <p:spPr>
          <a:xfrm>
            <a:off x="8610600" y="493395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0"/>
          <p:cNvSpPr txBox="1">
            <a:spLocks noGrp="1"/>
          </p:cNvSpPr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0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50"/>
          <p:cNvSpPr txBox="1">
            <a:spLocks noGrp="1"/>
          </p:cNvSpPr>
          <p:nvPr>
            <p:ph type="sldNum" idx="12"/>
          </p:nvPr>
        </p:nvSpPr>
        <p:spPr>
          <a:xfrm>
            <a:off x="8458200" y="4850606"/>
            <a:ext cx="533400" cy="292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" name="Google Shape;22;p50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34200" y="4870029"/>
            <a:ext cx="1132109" cy="292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1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8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8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48"/>
          <p:cNvSpPr txBox="1"/>
          <p:nvPr/>
        </p:nvSpPr>
        <p:spPr>
          <a:xfrm>
            <a:off x="2286000" y="4869656"/>
            <a:ext cx="457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© DataMites™. All Rights Reserved | www.datamites.com | IABAC® Accredited</a:t>
            </a:r>
            <a:endParaRPr sz="9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 txBox="1">
            <a:spLocks noGrp="1"/>
          </p:cNvSpPr>
          <p:nvPr>
            <p:ph type="ctrTitle"/>
          </p:nvPr>
        </p:nvSpPr>
        <p:spPr>
          <a:xfrm>
            <a:off x="533400" y="1791890"/>
            <a:ext cx="7391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000"/>
              <a:t>Advanced Data Analytics</a:t>
            </a:r>
            <a:endParaRPr sz="5000"/>
          </a:p>
        </p:txBody>
      </p:sp>
      <p:pic>
        <p:nvPicPr>
          <p:cNvPr id="30" name="Google Shape;30;p1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9600" y="3182817"/>
            <a:ext cx="1376143" cy="138164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 txBox="1"/>
          <p:nvPr/>
        </p:nvSpPr>
        <p:spPr>
          <a:xfrm>
            <a:off x="2805165" y="3715918"/>
            <a:ext cx="152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Accredited by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 txBox="1">
            <a:spLocks noGrp="1"/>
          </p:cNvSpPr>
          <p:nvPr>
            <p:ph type="title"/>
          </p:nvPr>
        </p:nvSpPr>
        <p:spPr>
          <a:xfrm>
            <a:off x="914400" y="361950"/>
            <a:ext cx="70104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Data Analytics</a:t>
            </a:r>
            <a:endParaRPr/>
          </a:p>
        </p:txBody>
      </p:sp>
      <p:sp>
        <p:nvSpPr>
          <p:cNvPr id="37" name="Google Shape;37;p2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6482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 of exploring and analyzing data to gain insights and drive informed decision-making within organizations.</a:t>
            </a:r>
            <a:endParaRPr sz="1800"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Encompasses a wide range of techniques, methodologies, and tools aimed at leveraging data to improve business performance, enhance operational efficiency, and achieve strategic objectives.</a:t>
            </a:r>
            <a:endParaRPr sz="1800" b="0" i="0" u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38" name="Google Shape;38;p2" descr="Photo manager meeting discussing company growth project success financial statistic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0" y="1320429"/>
            <a:ext cx="3819525" cy="2544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>
            <a:spLocks noGrp="1"/>
          </p:cNvSpPr>
          <p:nvPr>
            <p:ph type="title"/>
          </p:nvPr>
        </p:nvSpPr>
        <p:spPr>
          <a:xfrm>
            <a:off x="457200" y="133350"/>
            <a:ext cx="7010400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Different Stages in Data Analytics</a:t>
            </a:r>
            <a:endParaRPr/>
          </a:p>
        </p:txBody>
      </p:sp>
      <p:sp>
        <p:nvSpPr>
          <p:cNvPr id="44" name="Google Shape;44;p3"/>
          <p:cNvSpPr txBox="1">
            <a:spLocks noGrp="1"/>
          </p:cNvSpPr>
          <p:nvPr>
            <p:ph type="body" idx="1"/>
          </p:nvPr>
        </p:nvSpPr>
        <p:spPr>
          <a:xfrm>
            <a:off x="457200" y="817756"/>
            <a:ext cx="5195683" cy="397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None/>
            </a:pPr>
            <a:r>
              <a:rPr lang="en-US" sz="1800" b="1" i="0" u="none" strike="noStrike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Collecting the data </a:t>
            </a:r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Collection of relevant data from various sources, including internal databases, external sources, and third-party data providers.</a:t>
            </a:r>
            <a:endParaRPr sz="1800" b="0" i="0" u="none" strike="noStrike" dirty="0">
              <a:solidFill>
                <a:srgbClr val="0D0D0D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None/>
            </a:pPr>
            <a:r>
              <a:rPr lang="en-US" sz="1800" b="1" i="0" u="none" strike="noStrike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Cleaning and preparing the data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Clean, integrate, and transform the data into a format suitable for analysis.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None/>
            </a:pPr>
            <a:r>
              <a:rPr lang="en-US" sz="1500" b="1" i="0" u="none" strike="noStrike" dirty="0">
                <a:solidFill>
                  <a:srgbClr val="0D0D0D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Exploring and summarizing data</a:t>
            </a:r>
            <a:endParaRPr sz="1500" b="1" i="0" u="none" strike="noStrike" dirty="0">
              <a:solidFill>
                <a:srgbClr val="0D0D0D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Visually explore and summarize data to identify patterns, trends, and relationships. </a:t>
            </a:r>
            <a:endParaRPr sz="1800" b="0" i="0" u="none" strike="noStrike" dirty="0">
              <a:solidFill>
                <a:srgbClr val="0D0D0D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None/>
            </a:pPr>
            <a:r>
              <a:rPr lang="en-US" sz="1800" b="1" i="0" u="none" strike="noStrike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Applying methods and models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Apply statistical methods and models to quantify relationships between variables, test hypotheses, and make predictions.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None/>
            </a:pPr>
            <a:r>
              <a:rPr lang="en-US" sz="1500" b="1" i="0" u="none" strike="noStrike" dirty="0">
                <a:solidFill>
                  <a:srgbClr val="0D0D0D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Forecasting/predicting future outcomes</a:t>
            </a:r>
            <a:endParaRPr sz="1500" b="1" i="0" u="none" strike="noStrike" dirty="0">
              <a:solidFill>
                <a:srgbClr val="0D0D0D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Forecast future outcomes or trends based on historical data and statistical algorithms</a:t>
            </a:r>
            <a:endParaRPr sz="1800" b="0" i="0" u="none" strike="noStrike" dirty="0">
              <a:solidFill>
                <a:srgbClr val="0D0D0D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42900" lvl="0" indent="-1549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pic>
        <p:nvPicPr>
          <p:cNvPr id="45" name="Google Shape;45;p3" descr="Vector business analytics the concept of business and finance marketing analytic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7188" y="1303065"/>
            <a:ext cx="3100823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>
            <a:spLocks noGrp="1"/>
          </p:cNvSpPr>
          <p:nvPr>
            <p:ph type="title"/>
          </p:nvPr>
        </p:nvSpPr>
        <p:spPr>
          <a:xfrm>
            <a:off x="457200" y="133350"/>
            <a:ext cx="7010400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dirty="0"/>
              <a:t>Application of Business Analytics</a:t>
            </a:r>
            <a:endParaRPr dirty="0"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1"/>
          </p:nvPr>
        </p:nvSpPr>
        <p:spPr>
          <a:xfrm>
            <a:off x="457200" y="1429277"/>
            <a:ext cx="44958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238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100"/>
              <a:buChar char="•"/>
            </a:pPr>
            <a:r>
              <a:rPr lang="en-US" sz="2100" b="0" i="0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Customer Segmentation</a:t>
            </a:r>
            <a:endParaRPr sz="2100" dirty="0"/>
          </a:p>
          <a:p>
            <a:pPr marL="342900" lvl="0" indent="-323850" algn="l" rtl="0">
              <a:spcBef>
                <a:spcPts val="480"/>
              </a:spcBef>
              <a:spcAft>
                <a:spcPts val="0"/>
              </a:spcAft>
              <a:buClr>
                <a:srgbClr val="374151"/>
              </a:buClr>
              <a:buSzPts val="2100"/>
              <a:buChar char="•"/>
            </a:pPr>
            <a:r>
              <a:rPr lang="en-US" sz="2100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Sales Forecasting</a:t>
            </a:r>
            <a:endParaRPr sz="2100" dirty="0"/>
          </a:p>
          <a:p>
            <a:pPr marL="342900" lvl="0" indent="-323850" algn="l" rtl="0">
              <a:spcBef>
                <a:spcPts val="480"/>
              </a:spcBef>
              <a:spcAft>
                <a:spcPts val="0"/>
              </a:spcAft>
              <a:buClr>
                <a:srgbClr val="374151"/>
              </a:buClr>
              <a:buSzPts val="2100"/>
              <a:buChar char="•"/>
            </a:pPr>
            <a:r>
              <a:rPr lang="en-US" sz="2100" b="0" i="0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Supply chain optimization</a:t>
            </a:r>
            <a:endParaRPr sz="2100" dirty="0"/>
          </a:p>
          <a:p>
            <a:pPr marL="342900" lvl="0" indent="-323850" algn="l" rtl="0">
              <a:spcBef>
                <a:spcPts val="480"/>
              </a:spcBef>
              <a:spcAft>
                <a:spcPts val="0"/>
              </a:spcAft>
              <a:buClr>
                <a:srgbClr val="374151"/>
              </a:buClr>
              <a:buSzPts val="2100"/>
              <a:buChar char="•"/>
            </a:pPr>
            <a:r>
              <a:rPr lang="en-US" sz="2100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Risk Analysis</a:t>
            </a:r>
            <a:endParaRPr sz="2100" dirty="0"/>
          </a:p>
          <a:p>
            <a:pPr marL="342900" lvl="0" indent="-323850" algn="l" rtl="0">
              <a:spcBef>
                <a:spcPts val="480"/>
              </a:spcBef>
              <a:spcAft>
                <a:spcPts val="0"/>
              </a:spcAft>
              <a:buClr>
                <a:srgbClr val="374151"/>
              </a:buClr>
              <a:buSzPts val="2100"/>
              <a:buChar char="•"/>
            </a:pPr>
            <a:r>
              <a:rPr lang="en-US" sz="2100" b="0" i="0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Operational Efficiency</a:t>
            </a:r>
            <a:endParaRPr sz="2100" dirty="0"/>
          </a:p>
          <a:p>
            <a:pPr marL="342900" lvl="0" indent="-323850" algn="l" rtl="0">
              <a:spcBef>
                <a:spcPts val="480"/>
              </a:spcBef>
              <a:spcAft>
                <a:spcPts val="0"/>
              </a:spcAft>
              <a:buClr>
                <a:srgbClr val="374151"/>
              </a:buClr>
              <a:buSzPts val="2100"/>
              <a:buChar char="•"/>
            </a:pPr>
            <a:r>
              <a:rPr lang="en-US" sz="2100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Predictive Maintenance</a:t>
            </a:r>
            <a:endParaRPr sz="2100" b="0" i="0" dirty="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1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4" descr="The concept of risk on the speedomet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81800" y="666750"/>
            <a:ext cx="2243678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4" descr="Audience segmentation abstract concept illustration"/>
          <p:cNvPicPr preferRelativeResize="0"/>
          <p:nvPr/>
        </p:nvPicPr>
        <p:blipFill rotWithShape="1">
          <a:blip r:embed="rId4">
            <a:alphaModFix/>
          </a:blip>
          <a:srcRect l="12962" t="10671" r="10000" b="10671"/>
          <a:stretch/>
        </p:blipFill>
        <p:spPr>
          <a:xfrm>
            <a:off x="3962400" y="666750"/>
            <a:ext cx="1981200" cy="202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4" descr="Supply Chain Statistics: Key Insights and Trends for 2024"/>
          <p:cNvPicPr preferRelativeResize="0"/>
          <p:nvPr/>
        </p:nvPicPr>
        <p:blipFill rotWithShape="1">
          <a:blip r:embed="rId5">
            <a:alphaModFix/>
          </a:blip>
          <a:srcRect t="18889"/>
          <a:stretch/>
        </p:blipFill>
        <p:spPr>
          <a:xfrm>
            <a:off x="5557838" y="2571750"/>
            <a:ext cx="3128962" cy="1943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>
            <a:spLocks noGrp="1"/>
          </p:cNvSpPr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Data Sources</a:t>
            </a: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70260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111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740"/>
              <a:buFont typeface="Calibri"/>
              <a:buChar char="•"/>
            </a:pPr>
            <a:r>
              <a:rPr lang="en-US" sz="1740" i="0">
                <a:solidFill>
                  <a:srgbClr val="374151"/>
                </a:solidFill>
              </a:rPr>
              <a:t>Internal Data. Eg. Customer Data, Sales data.</a:t>
            </a:r>
            <a:endParaRPr sz="1740"/>
          </a:p>
          <a:p>
            <a:pPr marL="342900" lvl="0" indent="-311150" algn="l" rtl="0">
              <a:lnSpc>
                <a:spcPct val="90000"/>
              </a:lnSpc>
              <a:spcBef>
                <a:spcPts val="448"/>
              </a:spcBef>
              <a:spcAft>
                <a:spcPts val="0"/>
              </a:spcAft>
              <a:buClr>
                <a:srgbClr val="374151"/>
              </a:buClr>
              <a:buSzPts val="1740"/>
              <a:buFont typeface="Calibri"/>
              <a:buChar char="•"/>
            </a:pPr>
            <a:r>
              <a:rPr lang="en-US" sz="1740">
                <a:solidFill>
                  <a:srgbClr val="374151"/>
                </a:solidFill>
              </a:rPr>
              <a:t>External Data. Eg. Social Media Platform, Market research firms, and Government agencies.</a:t>
            </a:r>
            <a:endParaRPr sz="1740"/>
          </a:p>
          <a:p>
            <a:pPr marL="342900" lvl="0" indent="-311150" algn="l" rtl="0">
              <a:lnSpc>
                <a:spcPct val="90000"/>
              </a:lnSpc>
              <a:spcBef>
                <a:spcPts val="448"/>
              </a:spcBef>
              <a:spcAft>
                <a:spcPts val="0"/>
              </a:spcAft>
              <a:buClr>
                <a:srgbClr val="374151"/>
              </a:buClr>
              <a:buSzPts val="1740"/>
              <a:buFont typeface="Calibri"/>
              <a:buChar char="•"/>
            </a:pPr>
            <a:r>
              <a:rPr lang="en-US" sz="1740">
                <a:solidFill>
                  <a:srgbClr val="374151"/>
                </a:solidFill>
              </a:rPr>
              <a:t>Public Data. Eg. Census data, Weather data.</a:t>
            </a:r>
            <a:endParaRPr sz="1740"/>
          </a:p>
          <a:p>
            <a:pPr marL="342900" lvl="0" indent="-311150" algn="l" rtl="0">
              <a:lnSpc>
                <a:spcPct val="90000"/>
              </a:lnSpc>
              <a:spcBef>
                <a:spcPts val="448"/>
              </a:spcBef>
              <a:spcAft>
                <a:spcPts val="0"/>
              </a:spcAft>
              <a:buClr>
                <a:srgbClr val="374151"/>
              </a:buClr>
              <a:buSzPts val="1740"/>
              <a:buFont typeface="Calibri"/>
              <a:buChar char="•"/>
            </a:pPr>
            <a:r>
              <a:rPr lang="en-US" sz="1740" i="0">
                <a:solidFill>
                  <a:srgbClr val="374151"/>
                </a:solidFill>
              </a:rPr>
              <a:t>Third-party Data: This refers to data that is purchased or acquired from third-party sources, such as data brokers or data providers. </a:t>
            </a:r>
            <a:endParaRPr sz="1740"/>
          </a:p>
          <a:p>
            <a:pPr marL="0" lvl="0" indent="0" algn="l" rtl="0">
              <a:lnSpc>
                <a:spcPct val="9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endParaRPr sz="1740">
              <a:solidFill>
                <a:srgbClr val="37415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448"/>
              </a:spcBef>
              <a:spcAft>
                <a:spcPts val="0"/>
              </a:spcAft>
              <a:buClr>
                <a:srgbClr val="374151"/>
              </a:buClr>
              <a:buSzPts val="2240"/>
              <a:buNone/>
            </a:pPr>
            <a:r>
              <a:rPr lang="en-US" sz="1740" i="0">
                <a:solidFill>
                  <a:srgbClr val="374151"/>
                </a:solidFill>
              </a:rPr>
              <a:t>The choice of data sources will depend on the specific objectives of the analysis and the type of insights that are needed.</a:t>
            </a:r>
            <a:endParaRPr sz="1740">
              <a:solidFill>
                <a:srgbClr val="37415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>
            <a:spLocks noGrp="1"/>
          </p:cNvSpPr>
          <p:nvPr>
            <p:ph type="title"/>
          </p:nvPr>
        </p:nvSpPr>
        <p:spPr>
          <a:xfrm>
            <a:off x="685800" y="361950"/>
            <a:ext cx="70104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Data Sources</a:t>
            </a:r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body" idx="1"/>
          </p:nvPr>
        </p:nvSpPr>
        <p:spPr>
          <a:xfrm>
            <a:off x="685800" y="1428751"/>
            <a:ext cx="441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794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Char char="•"/>
            </a:pPr>
            <a:r>
              <a:rPr lang="en-US" sz="2200" b="0" i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sz="2200"/>
          </a:p>
          <a:p>
            <a:pPr marL="342900" lvl="0" indent="-279400" algn="l" rtl="0">
              <a:spcBef>
                <a:spcPts val="640"/>
              </a:spcBef>
              <a:spcAft>
                <a:spcPts val="0"/>
              </a:spcAft>
              <a:buClr>
                <a:srgbClr val="374151"/>
              </a:buClr>
              <a:buSzPts val="2200"/>
              <a:buChar char="•"/>
            </a:pPr>
            <a:r>
              <a:rPr lang="en-US" sz="2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Spreadsheets</a:t>
            </a:r>
            <a:endParaRPr sz="2200"/>
          </a:p>
          <a:p>
            <a:pPr marL="342900" lvl="0" indent="-279400" algn="l" rtl="0">
              <a:spcBef>
                <a:spcPts val="640"/>
              </a:spcBef>
              <a:spcAft>
                <a:spcPts val="0"/>
              </a:spcAft>
              <a:buClr>
                <a:srgbClr val="374151"/>
              </a:buClr>
              <a:buSzPts val="2200"/>
              <a:buChar char="•"/>
            </a:pPr>
            <a:r>
              <a:rPr lang="en-US" sz="2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Big Data Platforms</a:t>
            </a:r>
            <a:endParaRPr sz="2200"/>
          </a:p>
          <a:p>
            <a:pPr marL="342900" lvl="0" indent="-279400" algn="l" rtl="0">
              <a:spcBef>
                <a:spcPts val="640"/>
              </a:spcBef>
              <a:spcAft>
                <a:spcPts val="0"/>
              </a:spcAft>
              <a:buClr>
                <a:srgbClr val="374151"/>
              </a:buClr>
              <a:buSzPts val="2200"/>
              <a:buChar char="•"/>
            </a:pPr>
            <a:r>
              <a:rPr lang="en-US" sz="2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APIs</a:t>
            </a:r>
            <a:endParaRPr sz="220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200" b="0" i="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200"/>
          </a:p>
        </p:txBody>
      </p:sp>
      <p:pic>
        <p:nvPicPr>
          <p:cNvPr id="67" name="Google Shape;67;p6" descr="Database - Free electronics ico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1037" y="575070"/>
            <a:ext cx="1387079" cy="1387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6" descr="HDFS Logo - LogoDix"/>
          <p:cNvPicPr preferRelativeResize="0"/>
          <p:nvPr/>
        </p:nvPicPr>
        <p:blipFill rotWithShape="1">
          <a:blip r:embed="rId4">
            <a:alphaModFix/>
          </a:blip>
          <a:srcRect l="5946" t="7377" r="10450" b="13459"/>
          <a:stretch/>
        </p:blipFill>
        <p:spPr>
          <a:xfrm>
            <a:off x="7317783" y="269606"/>
            <a:ext cx="1447799" cy="1338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6" descr="Spreadsheet Logo - LogoDix"/>
          <p:cNvPicPr preferRelativeResize="0"/>
          <p:nvPr/>
        </p:nvPicPr>
        <p:blipFill rotWithShape="1">
          <a:blip r:embed="rId5">
            <a:alphaModFix/>
          </a:blip>
          <a:srcRect l="13637" r="16060" b="32395"/>
          <a:stretch/>
        </p:blipFill>
        <p:spPr>
          <a:xfrm>
            <a:off x="6212883" y="1809750"/>
            <a:ext cx="1598409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762000" y="361950"/>
            <a:ext cx="70104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Challenges</a:t>
            </a:r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669072" y="1100254"/>
            <a:ext cx="7573537" cy="3561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</a:pPr>
            <a:r>
              <a:rPr lang="en-US" sz="1800" b="0" i="0" u="none" strike="noStrike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Poor data quality, including inaccuracies, inconsistencies, and incompleteness.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</a:pPr>
            <a:r>
              <a:rPr lang="en-US" sz="1800" b="0" i="0" u="none" strike="noStrik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So we need accurate data to get accurate results</a:t>
            </a:r>
            <a:endParaRPr sz="1800" b="0" i="0" u="none" strike="noStrike" dirty="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865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</a:pPr>
            <a:r>
              <a:rPr lang="en-US" sz="1800" b="0" i="0" u="none" strike="noStrike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Integrating data from disparate sources with different formats and structures presents additional challenges.</a:t>
            </a:r>
          </a:p>
          <a:p>
            <a:pPr marL="0" lvl="0" indent="0" algn="l" rtl="0">
              <a:spcBef>
                <a:spcPts val="865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</a:pPr>
            <a:r>
              <a:rPr lang="en-US" sz="1800" b="0" i="0" u="none" strike="noStrik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So we need a structured format to smooth analysis</a:t>
            </a:r>
            <a:endParaRPr sz="1800" b="0" i="0" u="none" strike="noStrike" dirty="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865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</a:pPr>
            <a:r>
              <a:rPr lang="en-US" sz="1800" b="0" i="0" u="none" strike="noStrike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Protecting sensitive data from unauthorized access, breaches, and compliance violations.</a:t>
            </a:r>
          </a:p>
          <a:p>
            <a:pPr marL="0" lvl="0" indent="0" algn="l" rtl="0">
              <a:spcBef>
                <a:spcPts val="865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</a:pPr>
            <a:r>
              <a:rPr lang="en-US" sz="1800" b="0" i="0" u="none" strike="noStrik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So the data should be protected </a:t>
            </a:r>
            <a:endParaRPr sz="1800" b="0" i="0" u="none" strike="noStrike" dirty="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276225" lvl="0" indent="-342900" algn="l" rtl="0">
              <a:spcBef>
                <a:spcPts val="835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</a:pPr>
            <a:r>
              <a:rPr lang="en-US" sz="1800" b="0" i="0" u="none" strike="noStrike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Challenges in recruiting and retaining qualified talent with diverse skills like programming, data analysis, statistical modelling, and domain expertise.</a:t>
            </a:r>
          </a:p>
          <a:p>
            <a:pPr marL="0" marR="276225" lvl="0" indent="0" algn="l" rtl="0">
              <a:spcBef>
                <a:spcPts val="835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</a:pPr>
            <a:r>
              <a:rPr lang="en-US" sz="1800" b="0" i="0" u="none" strike="noStrik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So skill gap is there, proper knowledge is required</a:t>
            </a:r>
            <a:endParaRPr sz="1800" b="0" i="0" u="none" strike="noStrike" dirty="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5080" lvl="0" indent="-342900" algn="l" rtl="0">
              <a:spcBef>
                <a:spcPts val="815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</a:pPr>
            <a:r>
              <a:rPr lang="en-US" sz="1800" b="0" i="0" u="none" strike="noStrike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Rapidly evolving landscape of analytics tools and technologies can be overwhelming for organizations to navigate and  implement effectively.</a:t>
            </a:r>
          </a:p>
          <a:p>
            <a:pPr marL="0" marR="5080" lvl="0" indent="0" algn="l" rtl="0">
              <a:spcBef>
                <a:spcPts val="815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</a:pPr>
            <a:r>
              <a:rPr lang="en-US" sz="1800" b="0" i="0" u="none" strike="noStrik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So continuous learning mindset is needed.</a:t>
            </a:r>
            <a:endParaRPr sz="1800" b="0" i="0" u="none" strike="noStrike" dirty="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0" i="0" dirty="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Building and Optimizing Models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 txBox="1">
            <a:spLocks noGrp="1"/>
          </p:cNvSpPr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Decision Modeling</a:t>
            </a:r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body" idx="1"/>
          </p:nvPr>
        </p:nvSpPr>
        <p:spPr>
          <a:xfrm>
            <a:off x="609600" y="2495549"/>
            <a:ext cx="8077200" cy="209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3147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0"/>
              <a:buChar char="•"/>
            </a:pPr>
            <a:r>
              <a:rPr lang="en-US" sz="1580" dirty="0"/>
              <a:t>A logical or mathematical representation of a problem or business situation that can be used to understand, analyze, or facilitate making a decision.</a:t>
            </a:r>
          </a:p>
          <a:p>
            <a:pPr marL="1143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0"/>
              <a:buNone/>
            </a:pPr>
            <a:endParaRPr sz="1580" dirty="0"/>
          </a:p>
          <a:p>
            <a:pPr marL="342900" lvl="0" indent="-331470" algn="l" rtl="0">
              <a:lnSpc>
                <a:spcPct val="9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580"/>
              <a:buChar char="•"/>
            </a:pPr>
            <a:r>
              <a:rPr lang="en-US" sz="1580" dirty="0"/>
              <a:t>Inputs: </a:t>
            </a:r>
            <a:endParaRPr sz="1580" dirty="0"/>
          </a:p>
          <a:p>
            <a:pPr marL="342900" lvl="0" indent="-331470" algn="l" rtl="0">
              <a:lnSpc>
                <a:spcPct val="9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580"/>
              <a:buChar char="•"/>
            </a:pPr>
            <a:r>
              <a:rPr lang="en-US" sz="1580" dirty="0"/>
              <a:t>Uncontrollable variables, which are quantities that can change  but cannot be directly controlled by the decision maker.</a:t>
            </a:r>
            <a:endParaRPr sz="1580" dirty="0"/>
          </a:p>
          <a:p>
            <a:pPr marL="342900" lvl="0" indent="-331470" algn="l" rtl="0">
              <a:lnSpc>
                <a:spcPct val="9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580"/>
              <a:buChar char="•"/>
            </a:pPr>
            <a:r>
              <a:rPr lang="en-US" sz="1580" dirty="0"/>
              <a:t>Decision variables, which are controllable and can be selected  at the discretion of the decision maker.</a:t>
            </a:r>
            <a:endParaRPr sz="1580" dirty="0"/>
          </a:p>
          <a:p>
            <a:pPr marL="342900" lvl="0" indent="-231140" algn="l" rtl="0">
              <a:lnSpc>
                <a:spcPct val="9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</a:pPr>
            <a:endParaRPr sz="1580" dirty="0"/>
          </a:p>
          <a:p>
            <a:pPr marL="342900" lvl="0" indent="-231140" algn="l" rtl="0">
              <a:lnSpc>
                <a:spcPct val="9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</a:pPr>
            <a:endParaRPr sz="1580" dirty="0"/>
          </a:p>
        </p:txBody>
      </p:sp>
      <p:sp>
        <p:nvSpPr>
          <p:cNvPr id="87" name="Google Shape;87;p9"/>
          <p:cNvSpPr/>
          <p:nvPr/>
        </p:nvSpPr>
        <p:spPr>
          <a:xfrm>
            <a:off x="2564781" y="906967"/>
            <a:ext cx="4361985" cy="139950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DBB3B-3106-083B-24AD-EB8CF3265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55270"/>
            <a:ext cx="5166360" cy="460771"/>
          </a:xfrm>
        </p:spPr>
        <p:txBody>
          <a:bodyPr/>
          <a:lstStyle/>
          <a:p>
            <a:r>
              <a:rPr lang="en-US" b="1" dirty="0"/>
              <a:t>Example: </a:t>
            </a:r>
            <a:r>
              <a:rPr lang="en-US" dirty="0"/>
              <a:t>Inventory Planning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8F12D-88DB-8AE5-E658-0B691CD2C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b="1" dirty="0"/>
              <a:t>Scenario: </a:t>
            </a:r>
            <a:r>
              <a:rPr lang="en-US" dirty="0"/>
              <a:t>A shop owner is planning stock for next week.</a:t>
            </a:r>
          </a:p>
          <a:p>
            <a:pPr marL="114300" indent="0">
              <a:buNone/>
            </a:pPr>
            <a:r>
              <a:rPr lang="en-US" b="1" dirty="0"/>
              <a:t>Question:</a:t>
            </a:r>
            <a:r>
              <a:rPr lang="en-US" dirty="0"/>
              <a:t> </a:t>
            </a:r>
            <a:r>
              <a:rPr lang="en-US" b="1" dirty="0"/>
              <a:t>How many units should be stocked?</a:t>
            </a:r>
          </a:p>
          <a:p>
            <a:r>
              <a:rPr lang="en-US" b="1" dirty="0"/>
              <a:t>Goal</a:t>
            </a:r>
          </a:p>
          <a:p>
            <a:r>
              <a:rPr lang="en-US" dirty="0"/>
              <a:t>Meet customer demand  </a:t>
            </a:r>
          </a:p>
          <a:p>
            <a:r>
              <a:rPr lang="en-US" dirty="0"/>
              <a:t>Avoid extra stock  (waste, storage cost) </a:t>
            </a:r>
          </a:p>
          <a:p>
            <a:r>
              <a:rPr lang="en-US" b="1" dirty="0"/>
              <a:t>Stock enough, but not too much</a:t>
            </a:r>
            <a:endParaRPr lang="en-US" dirty="0"/>
          </a:p>
          <a:p>
            <a:pPr marL="11430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150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E7E9D-5E8A-8427-5B6A-95E854775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140" y="297180"/>
            <a:ext cx="8328660" cy="4297443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b="1" dirty="0"/>
              <a:t>Step 1: Estimate Demand</a:t>
            </a:r>
          </a:p>
          <a:p>
            <a:pPr marL="114300" indent="0">
              <a:buNone/>
            </a:pPr>
            <a:r>
              <a:rPr lang="en-US" dirty="0"/>
              <a:t>Use past data:</a:t>
            </a:r>
          </a:p>
          <a:p>
            <a:r>
              <a:rPr lang="en-US" dirty="0"/>
              <a:t>Last week sales = 90 units </a:t>
            </a:r>
          </a:p>
          <a:p>
            <a:r>
              <a:rPr lang="en-US" dirty="0"/>
              <a:t>Average weekly sales = 100 units </a:t>
            </a:r>
          </a:p>
          <a:p>
            <a:pPr marL="114300" indent="0">
              <a:buNone/>
            </a:pPr>
            <a:r>
              <a:rPr lang="en-US" dirty="0"/>
              <a:t> So, expected demand </a:t>
            </a:r>
            <a:r>
              <a:rPr lang="en-US" b="1" dirty="0"/>
              <a:t>≈ 100 units</a:t>
            </a:r>
            <a:endParaRPr lang="en-US" dirty="0"/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r>
              <a:rPr lang="en-US" b="1" dirty="0"/>
              <a:t>Step 2: Understand Costs</a:t>
            </a:r>
          </a:p>
          <a:p>
            <a:pPr marL="114300" indent="0">
              <a:buNone/>
            </a:pPr>
            <a:r>
              <a:rPr lang="en-US" dirty="0"/>
              <a:t>If extra stock remains:</a:t>
            </a:r>
          </a:p>
          <a:p>
            <a:r>
              <a:rPr lang="en-US" dirty="0"/>
              <a:t>Storage cost </a:t>
            </a:r>
          </a:p>
          <a:p>
            <a:r>
              <a:rPr lang="en-US" dirty="0"/>
              <a:t>Risk of damage/spoilage  </a:t>
            </a:r>
          </a:p>
          <a:p>
            <a:r>
              <a:rPr lang="en-US" dirty="0"/>
              <a:t>This is called: </a:t>
            </a:r>
            <a:r>
              <a:rPr lang="en-US" b="1" dirty="0"/>
              <a:t>Holding Cost</a:t>
            </a: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038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CE36A-8BF4-A144-06A0-5823B6AA7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152400"/>
            <a:ext cx="8420100" cy="4808220"/>
          </a:xfrm>
        </p:spPr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US" b="1" dirty="0"/>
              <a:t>Step 3: Test Different Decisions (Scenarios)</a:t>
            </a:r>
          </a:p>
          <a:p>
            <a:pPr marL="114300" indent="0">
              <a:buNone/>
            </a:pPr>
            <a:r>
              <a:rPr lang="en-US" b="1" dirty="0"/>
              <a:t>Scenario A: Stock = 200 units</a:t>
            </a:r>
          </a:p>
          <a:p>
            <a:pPr marL="114300" indent="0">
              <a:buNone/>
            </a:pPr>
            <a:r>
              <a:rPr lang="en-US" dirty="0"/>
              <a:t>       Demand = 100 units</a:t>
            </a:r>
          </a:p>
          <a:p>
            <a:pPr marL="114300" indent="0">
              <a:buNone/>
            </a:pPr>
            <a:r>
              <a:rPr lang="en-US" b="1" dirty="0"/>
              <a:t>Result:</a:t>
            </a:r>
          </a:p>
          <a:p>
            <a:r>
              <a:rPr lang="en-US" dirty="0"/>
              <a:t>100 units unsold  </a:t>
            </a:r>
          </a:p>
          <a:p>
            <a:r>
              <a:rPr lang="en-US" dirty="0"/>
              <a:t>Storage cost increases  </a:t>
            </a:r>
          </a:p>
          <a:p>
            <a:r>
              <a:rPr lang="en-US" dirty="0"/>
              <a:t>Waste/spoilage possible  </a:t>
            </a:r>
          </a:p>
          <a:p>
            <a:r>
              <a:rPr lang="en-US" b="1" dirty="0"/>
              <a:t>Profit decreases</a:t>
            </a:r>
            <a:endParaRPr lang="en-US" dirty="0"/>
          </a:p>
          <a:p>
            <a:endParaRPr lang="en-US" dirty="0"/>
          </a:p>
          <a:p>
            <a:pPr marL="114300" indent="0">
              <a:buNone/>
            </a:pPr>
            <a:r>
              <a:rPr lang="en-US" b="1" dirty="0"/>
              <a:t>Scenario B: Stock = 60 units</a:t>
            </a:r>
          </a:p>
          <a:p>
            <a:pPr marL="114300" indent="0">
              <a:buNone/>
            </a:pPr>
            <a:r>
              <a:rPr lang="en-US" dirty="0"/>
              <a:t>       Demand = 100 units</a:t>
            </a:r>
          </a:p>
          <a:p>
            <a:pPr marL="114300" indent="0">
              <a:buNone/>
            </a:pPr>
            <a:r>
              <a:rPr lang="en-US" b="1" dirty="0"/>
              <a:t>Result:</a:t>
            </a:r>
          </a:p>
          <a:p>
            <a:r>
              <a:rPr lang="en-US" dirty="0"/>
              <a:t>Not enough products </a:t>
            </a:r>
          </a:p>
          <a:p>
            <a:r>
              <a:rPr lang="en-US" dirty="0"/>
              <a:t>Customers unhappy  </a:t>
            </a:r>
          </a:p>
          <a:p>
            <a:r>
              <a:rPr lang="en-US" dirty="0"/>
              <a:t>Lost sales </a:t>
            </a:r>
          </a:p>
          <a:p>
            <a:r>
              <a:rPr lang="en-US" b="1" dirty="0"/>
              <a:t>Profit decreases</a:t>
            </a:r>
            <a:endParaRPr lang="en-US" dirty="0"/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r>
              <a:rPr lang="en-US" b="1" dirty="0"/>
              <a:t>Final Decision (Optimal Point)</a:t>
            </a:r>
          </a:p>
          <a:p>
            <a:pPr marL="114300" indent="0">
              <a:buNone/>
            </a:pPr>
            <a:r>
              <a:rPr lang="en-US" dirty="0"/>
              <a:t> We need a </a:t>
            </a:r>
            <a:r>
              <a:rPr lang="en-US" b="1" dirty="0"/>
              <a:t>balance point</a:t>
            </a:r>
            <a:endParaRPr lang="en-US" dirty="0"/>
          </a:p>
          <a:p>
            <a:r>
              <a:rPr lang="en-US" b="1" dirty="0"/>
              <a:t>Best Stock:</a:t>
            </a:r>
            <a:r>
              <a:rPr lang="en-US" dirty="0"/>
              <a:t> </a:t>
            </a:r>
            <a:r>
              <a:rPr lang="en-US" b="1" dirty="0"/>
              <a:t>100 – 110 units</a:t>
            </a: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982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 dirty="0"/>
              <a:t>Prescriptive Model Pricing</a:t>
            </a:r>
            <a:endParaRPr sz="1800" dirty="0"/>
          </a:p>
        </p:txBody>
      </p:sp>
      <p:sp>
        <p:nvSpPr>
          <p:cNvPr id="93" name="Google Shape;93;p10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7086600" cy="71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</a:pPr>
            <a:r>
              <a:rPr lang="en-US" sz="2700"/>
              <a:t>Predictive Analytics with Regression Techniques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>
            <a:spLocks noGrp="1"/>
          </p:cNvSpPr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Prescriptive Model Pricing</a:t>
            </a:r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body" idx="1"/>
          </p:nvPr>
        </p:nvSpPr>
        <p:spPr>
          <a:xfrm>
            <a:off x="457200" y="729147"/>
            <a:ext cx="8229600" cy="2452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dirty="0"/>
              <a:t>A firm wishes to determine the best pricing for one of its products in order to maximize profit.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dirty="0"/>
              <a:t>Analysts determined the following model:  Sales = -2.9(price) + 3000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dirty="0"/>
              <a:t>Total revenue = (price)(sales)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dirty="0"/>
              <a:t>Fixed cost = 5000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dirty="0"/>
              <a:t>Total Cost = 10(Sales) + 5000</a:t>
            </a:r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lang="en-US" sz="1600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dirty="0"/>
              <a:t>Identify the price that maximizes profit, subject to any constraints that might exist.</a:t>
            </a:r>
            <a:endParaRPr dirty="0"/>
          </a:p>
          <a:p>
            <a:pPr marL="342900" lvl="0" indent="-2413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/>
          </a:p>
          <a:p>
            <a:pPr marL="342900" lvl="0" indent="-2413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/>
          </a:p>
        </p:txBody>
      </p:sp>
      <p:graphicFrame>
        <p:nvGraphicFramePr>
          <p:cNvPr id="100" name="Google Shape;100;p11"/>
          <p:cNvGraphicFramePr/>
          <p:nvPr/>
        </p:nvGraphicFramePr>
        <p:xfrm>
          <a:off x="4476482" y="3299929"/>
          <a:ext cx="2781825" cy="1114425"/>
        </p:xfrm>
        <a:graphic>
          <a:graphicData uri="http://schemas.openxmlformats.org/drawingml/2006/table">
            <a:tbl>
              <a:tblPr>
                <a:noFill/>
                <a:tableStyleId>{9A735F8E-FE9B-491D-A3AA-47D10F5E36AC}</a:tableStyleId>
              </a:tblPr>
              <a:tblGrid>
                <a:gridCol w="133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Price</a:t>
                      </a:r>
                      <a:endParaRPr sz="1400" b="1" i="0" u="none" strike="noStrike" cap="none">
                        <a:solidFill>
                          <a:srgbClr val="4040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$ 100</a:t>
                      </a:r>
                      <a:endParaRPr sz="1400" b="1" i="0" u="none" strike="noStrike" cap="none">
                        <a:solidFill>
                          <a:srgbClr val="4040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57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Sales</a:t>
                      </a:r>
                      <a:endParaRPr sz="1400" b="1" i="0" u="none" strike="noStrike" cap="none">
                        <a:solidFill>
                          <a:srgbClr val="4040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2950</a:t>
                      </a:r>
                      <a:endParaRPr sz="1400" b="1" i="0" u="none" strike="noStrike" cap="none">
                        <a:solidFill>
                          <a:srgbClr val="4040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57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Total Cost</a:t>
                      </a:r>
                      <a:endParaRPr sz="1400" b="1" i="0" u="none" strike="noStrike" cap="none">
                        <a:solidFill>
                          <a:srgbClr val="4040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$ 34,500</a:t>
                      </a:r>
                      <a:endParaRPr sz="1400" b="1" i="0" u="none" strike="noStrike" cap="none">
                        <a:solidFill>
                          <a:srgbClr val="4040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57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Cost per unit</a:t>
                      </a:r>
                      <a:endParaRPr sz="1400" b="1" i="0" u="none" strike="noStrike" cap="none">
                        <a:solidFill>
                          <a:srgbClr val="4040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$ 12</a:t>
                      </a:r>
                      <a:endParaRPr sz="1400" b="1" i="0" u="none" strike="noStrike" cap="none">
                        <a:solidFill>
                          <a:srgbClr val="4040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57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Profit</a:t>
                      </a:r>
                      <a:endParaRPr sz="1400" b="1" i="0" u="none" strike="noStrike" cap="none">
                        <a:solidFill>
                          <a:srgbClr val="4040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$ 260,500</a:t>
                      </a:r>
                      <a:endParaRPr sz="1400" b="1" i="0" u="none" strike="noStrike" cap="none" dirty="0">
                        <a:solidFill>
                          <a:srgbClr val="4040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57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1" name="Google Shape;101;p11"/>
          <p:cNvSpPr/>
          <p:nvPr/>
        </p:nvSpPr>
        <p:spPr>
          <a:xfrm>
            <a:off x="914400" y="3487809"/>
            <a:ext cx="2971800" cy="73866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= -2.9 (Price) + 3000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revenue = (Price)(Sales)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= 10(Sales) + 5000</a:t>
            </a: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60E3E4-1E6E-6044-8744-737BE8194C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10"/>
          <a:stretch>
            <a:fillRect/>
          </a:stretch>
        </p:blipFill>
        <p:spPr>
          <a:xfrm>
            <a:off x="5285677" y="1585639"/>
            <a:ext cx="2872031" cy="11659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Sales Promotion Decision</a:t>
            </a:r>
            <a:endParaRPr sz="1800"/>
          </a:p>
        </p:txBody>
      </p:sp>
      <p:sp>
        <p:nvSpPr>
          <p:cNvPr id="107" name="Google Shape;107;p12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7086600" cy="71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</a:pPr>
            <a:r>
              <a:rPr lang="en-US" sz="2700"/>
              <a:t>Predictive Analytics with Regression Techniques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>
            <a:spLocks noGrp="1"/>
          </p:cNvSpPr>
          <p:nvPr>
            <p:ph type="title"/>
          </p:nvPr>
        </p:nvSpPr>
        <p:spPr>
          <a:xfrm>
            <a:off x="609600" y="285750"/>
            <a:ext cx="5029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Sales Promotion Decision</a:t>
            </a:r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body" idx="1"/>
          </p:nvPr>
        </p:nvSpPr>
        <p:spPr>
          <a:xfrm>
            <a:off x="1676400" y="1200150"/>
            <a:ext cx="4374000" cy="30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342900" lvl="0" indent="-31242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dirty="0"/>
              <a:t>In the grocery industry, managers typically need to know  how best to use pricing, coupons and advertising  strategies to influence sales.</a:t>
            </a:r>
            <a:endParaRPr dirty="0"/>
          </a:p>
          <a:p>
            <a:pPr marL="342900" lvl="0" indent="-31242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dirty="0"/>
              <a:t>Controlled experiments:</a:t>
            </a:r>
            <a:endParaRPr dirty="0"/>
          </a:p>
          <a:p>
            <a:pPr marL="342900" lvl="0" indent="0" algn="l" rtl="0">
              <a:spcBef>
                <a:spcPts val="448"/>
              </a:spcBef>
              <a:spcAft>
                <a:spcPts val="0"/>
              </a:spcAft>
              <a:buNone/>
            </a:pPr>
            <a:r>
              <a:rPr lang="en-US" dirty="0"/>
              <a:t>Grocers implement different combinations of pricing, coupons, and advertising to observe the resulting sales. Analytics helps develop a predictive model of sales as a function of these decision strategies.</a:t>
            </a:r>
            <a:endParaRPr dirty="0"/>
          </a:p>
          <a:p>
            <a:pPr marL="342900" lvl="0" indent="-20066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pic>
        <p:nvPicPr>
          <p:cNvPr id="114" name="Google Shape;114;p13" title="8459348.jpg"/>
          <p:cNvPicPr preferRelativeResize="0"/>
          <p:nvPr/>
        </p:nvPicPr>
        <p:blipFill rotWithShape="1">
          <a:blip r:embed="rId3">
            <a:alphaModFix/>
          </a:blip>
          <a:srcRect l="48038"/>
          <a:stretch/>
        </p:blipFill>
        <p:spPr>
          <a:xfrm>
            <a:off x="6149099" y="670350"/>
            <a:ext cx="1775698" cy="196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 title="8966364.jpg"/>
          <p:cNvPicPr preferRelativeResize="0"/>
          <p:nvPr/>
        </p:nvPicPr>
        <p:blipFill rotWithShape="1">
          <a:blip r:embed="rId4">
            <a:alphaModFix/>
          </a:blip>
          <a:srcRect l="46363"/>
          <a:stretch/>
        </p:blipFill>
        <p:spPr>
          <a:xfrm>
            <a:off x="224449" y="2939100"/>
            <a:ext cx="1832950" cy="1963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>
            <a:spLocks noGrp="1"/>
          </p:cNvSpPr>
          <p:nvPr>
            <p:ph type="title"/>
          </p:nvPr>
        </p:nvSpPr>
        <p:spPr>
          <a:xfrm>
            <a:off x="457200" y="133350"/>
            <a:ext cx="6400800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Sales Prediction with Multiple Regression Analysis</a:t>
            </a:r>
            <a:endParaRPr/>
          </a:p>
        </p:txBody>
      </p:sp>
      <p:sp>
        <p:nvSpPr>
          <p:cNvPr id="121" name="Google Shape;121;p14"/>
          <p:cNvSpPr txBox="1">
            <a:spLocks noGrp="1"/>
          </p:cNvSpPr>
          <p:nvPr>
            <p:ph type="body" idx="1"/>
          </p:nvPr>
        </p:nvSpPr>
        <p:spPr>
          <a:xfrm>
            <a:off x="533400" y="1288791"/>
            <a:ext cx="525458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200"/>
              <a:t>Find the pricing and Ads Budget to maximize the Sales</a:t>
            </a:r>
            <a:endParaRPr/>
          </a:p>
          <a:p>
            <a:pPr marL="342900" lvl="0" indent="-342900" algn="l" rtl="0">
              <a:spcBef>
                <a:spcPts val="22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200"/>
              <a:t>Use Multiple Linear Regression</a:t>
            </a:r>
            <a:endParaRPr/>
          </a:p>
          <a:p>
            <a:pPr marL="342900" lvl="0" indent="-342900" algn="l" rtl="0">
              <a:spcBef>
                <a:spcPts val="22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200"/>
              <a:t>Cost price of the Product is $8</a:t>
            </a:r>
            <a:endParaRPr/>
          </a:p>
          <a:p>
            <a:pPr marL="342900" lvl="0" indent="-342900" algn="l" rtl="0">
              <a:spcBef>
                <a:spcPts val="22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200"/>
              <a:t>Minimum Profit desired is $10,000</a:t>
            </a:r>
            <a:endParaRPr/>
          </a:p>
        </p:txBody>
      </p:sp>
      <p:graphicFrame>
        <p:nvGraphicFramePr>
          <p:cNvPr id="122" name="Google Shape;122;p14"/>
          <p:cNvGraphicFramePr/>
          <p:nvPr/>
        </p:nvGraphicFramePr>
        <p:xfrm>
          <a:off x="5867400" y="874710"/>
          <a:ext cx="3211175" cy="3394050"/>
        </p:xfrm>
        <a:graphic>
          <a:graphicData uri="http://schemas.openxmlformats.org/drawingml/2006/table">
            <a:tbl>
              <a:tblPr>
                <a:noFill/>
                <a:tableStyleId>{9A735F8E-FE9B-491D-A3AA-47D10F5E36AC}</a:tableStyleId>
              </a:tblPr>
              <a:tblGrid>
                <a:gridCol w="59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247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Sales Promotion Data</a:t>
                      </a:r>
                      <a:endParaRPr sz="14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Week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Price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Ads Budget (Thousands USD )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Sales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$15.0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$16.4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4000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$13.0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1580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$16.5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1190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5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$12.0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1430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$11.0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1560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7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$14.3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1060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8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$18.2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3465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9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$9.6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1895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10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$15.4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4000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1475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11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$12.0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1560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12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$14.0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1235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13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$16.0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1065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14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$15.0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1025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15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00" marR="9300" marT="93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$11.0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2000</a:t>
                      </a:r>
                      <a:endParaRPr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1645</a:t>
                      </a:r>
                      <a:endParaRPr dirty="0"/>
                    </a:p>
                  </a:txBody>
                  <a:tcPr marL="9525" marR="9525" marT="9525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23" name="Google Shape;123;p14"/>
          <p:cNvSpPr/>
          <p:nvPr/>
        </p:nvSpPr>
        <p:spPr>
          <a:xfrm>
            <a:off x="582769" y="4243594"/>
            <a:ext cx="424988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Solution: Sales = -142 x Price + 0.10 x Ad+3091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650444" y="2143554"/>
            <a:ext cx="457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Price per unit	$9.00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 Profit	$4,000.00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Maximum Ads Budget	$10,000.00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 Ads Budget	$1,000.00</a:t>
            </a:r>
            <a:endParaRPr dirty="0"/>
          </a:p>
        </p:txBody>
      </p:sp>
      <p:graphicFrame>
        <p:nvGraphicFramePr>
          <p:cNvPr id="125" name="Google Shape;125;p14"/>
          <p:cNvGraphicFramePr/>
          <p:nvPr/>
        </p:nvGraphicFramePr>
        <p:xfrm>
          <a:off x="582769" y="3175902"/>
          <a:ext cx="2628900" cy="771525"/>
        </p:xfrm>
        <a:graphic>
          <a:graphicData uri="http://schemas.openxmlformats.org/drawingml/2006/table">
            <a:tbl>
              <a:tblPr>
                <a:noFill/>
                <a:tableStyleId>{9A735F8E-FE9B-491D-A3AA-47D10F5E36AC}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 </a:t>
                      </a:r>
                      <a:endParaRPr sz="1100" b="0" i="1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Coefficients</a:t>
                      </a:r>
                      <a:endParaRPr sz="1100" b="0" i="1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Intercept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3092.883488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Price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-142.5484493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Ads Budget 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0.10225716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6" name="Google Shape;126;p14"/>
          <p:cNvSpPr/>
          <p:nvPr/>
        </p:nvSpPr>
        <p:spPr>
          <a:xfrm>
            <a:off x="3407474" y="3175902"/>
            <a:ext cx="152400" cy="771525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3589797" y="3333678"/>
            <a:ext cx="160576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from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Regression Analysis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subTitle" idx="1"/>
          </p:nvPr>
        </p:nvSpPr>
        <p:spPr>
          <a:xfrm>
            <a:off x="1371600" y="1809750"/>
            <a:ext cx="5460900" cy="27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rPr lang="en-US" sz="2400"/>
              <a:t>Stable, well understood systems with established patterns can utilise low-uncertainty predictions effectively.</a:t>
            </a:r>
            <a:endParaRPr sz="2900"/>
          </a:p>
          <a:p>
            <a:pPr marL="0" lvl="0" indent="0" algn="l" rtl="0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</a:pPr>
            <a:endParaRPr sz="2400"/>
          </a:p>
        </p:txBody>
      </p:sp>
      <p:sp>
        <p:nvSpPr>
          <p:cNvPr id="133" name="Google Shape;133;p15"/>
          <p:cNvSpPr txBox="1">
            <a:spLocks noGrp="1"/>
          </p:cNvSpPr>
          <p:nvPr>
            <p:ph type="ctrTitle"/>
          </p:nvPr>
        </p:nvSpPr>
        <p:spPr>
          <a:xfrm>
            <a:off x="304800" y="590550"/>
            <a:ext cx="86106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br>
              <a:rPr lang="en-US" sz="3600"/>
            </a:br>
            <a:r>
              <a:rPr lang="en-US" sz="3600"/>
              <a:t>Predictive Analytics with less uncertainty</a:t>
            </a:r>
            <a:br>
              <a:rPr lang="en-US" sz="3600"/>
            </a:br>
            <a:endParaRPr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C229B-2571-C21B-EFB6-5F33703DE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318" y="128354"/>
            <a:ext cx="8177135" cy="4735953"/>
          </a:xfrm>
        </p:spPr>
        <p:txBody>
          <a:bodyPr>
            <a:normAutofit fontScale="40000" lnSpcReduction="20000"/>
          </a:bodyPr>
          <a:lstStyle/>
          <a:p>
            <a:pPr marL="114300" indent="0">
              <a:buNone/>
            </a:pPr>
            <a:r>
              <a:rPr lang="en-US" b="1" dirty="0"/>
              <a:t>What is Uncertainty?</a:t>
            </a:r>
          </a:p>
          <a:p>
            <a:pPr marL="114300" indent="0">
              <a:buNone/>
            </a:pPr>
            <a:r>
              <a:rPr lang="en-US" dirty="0"/>
              <a:t>Uncertainty means:  Lack of clarity , Difficult to predict , System is complex </a:t>
            </a:r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r>
              <a:rPr lang="en-US" b="1" dirty="0"/>
              <a:t> Key Idea</a:t>
            </a:r>
          </a:p>
          <a:p>
            <a:pPr marL="114300" indent="0">
              <a:buNone/>
            </a:pPr>
            <a:r>
              <a:rPr lang="en-US" dirty="0"/>
              <a:t>Predictive analytics works better when: The system is </a:t>
            </a:r>
            <a:r>
              <a:rPr lang="en-US" b="1" dirty="0"/>
              <a:t>stable and predictable</a:t>
            </a:r>
            <a:br>
              <a:rPr lang="en-US" dirty="0"/>
            </a:br>
            <a:endParaRPr lang="en-US" dirty="0"/>
          </a:p>
          <a:p>
            <a:pPr marL="114300" indent="0">
              <a:buNone/>
            </a:pPr>
            <a:r>
              <a:rPr lang="en-US" b="1" dirty="0"/>
              <a:t>Important Points</a:t>
            </a:r>
          </a:p>
          <a:p>
            <a:r>
              <a:rPr lang="en-US" dirty="0"/>
              <a:t>Stable systems give </a:t>
            </a:r>
            <a:r>
              <a:rPr lang="en-US" b="1" dirty="0"/>
              <a:t>accurate results</a:t>
            </a:r>
            <a:r>
              <a:rPr lang="en-US" dirty="0"/>
              <a:t> </a:t>
            </a:r>
          </a:p>
          <a:p>
            <a:r>
              <a:rPr lang="en-US" dirty="0"/>
              <a:t>Prediction accuracy depends on how </a:t>
            </a:r>
            <a:r>
              <a:rPr lang="en-US" b="1" dirty="0"/>
              <a:t>stable and predictable</a:t>
            </a:r>
            <a:r>
              <a:rPr lang="en-US" dirty="0"/>
              <a:t> the system is </a:t>
            </a:r>
          </a:p>
          <a:p>
            <a:r>
              <a:rPr lang="en-US" dirty="0"/>
              <a:t>Some systems behave in a </a:t>
            </a:r>
            <a:r>
              <a:rPr lang="en-US" b="1" dirty="0"/>
              <a:t>regular and consistent way</a:t>
            </a:r>
            <a:r>
              <a:rPr lang="en-US" dirty="0"/>
              <a:t> </a:t>
            </a:r>
          </a:p>
          <a:p>
            <a:r>
              <a:rPr lang="en-US" dirty="0"/>
              <a:t>Other systems may change </a:t>
            </a:r>
            <a:r>
              <a:rPr lang="en-US" b="1" dirty="0"/>
              <a:t>suddenly and unpredictably</a:t>
            </a:r>
            <a:r>
              <a:rPr lang="en-US" dirty="0"/>
              <a:t> </a:t>
            </a:r>
          </a:p>
          <a:p>
            <a:br>
              <a:rPr lang="en-US" dirty="0"/>
            </a:br>
            <a:r>
              <a:rPr lang="en-US" b="1" dirty="0"/>
              <a:t> Example</a:t>
            </a:r>
          </a:p>
          <a:p>
            <a:pPr marL="114300" indent="0">
              <a:buNone/>
            </a:pPr>
            <a:r>
              <a:rPr lang="en-US" dirty="0"/>
              <a:t> A grocery store that sells similar quantities every week</a:t>
            </a:r>
          </a:p>
          <a:p>
            <a:r>
              <a:rPr lang="en-US" dirty="0"/>
              <a:t>Sales are consistent </a:t>
            </a:r>
          </a:p>
          <a:p>
            <a:r>
              <a:rPr lang="en-US" dirty="0"/>
              <a:t>Patterns repeat </a:t>
            </a:r>
            <a:br>
              <a:rPr lang="en-US" dirty="0"/>
            </a:br>
            <a:endParaRPr lang="en-US" dirty="0"/>
          </a:p>
          <a:p>
            <a:pPr marL="114300" indent="0">
              <a:buNone/>
            </a:pPr>
            <a:r>
              <a:rPr lang="en-US" b="1" dirty="0"/>
              <a:t> Predictive Analytics with Less Uncertainty Means</a:t>
            </a:r>
          </a:p>
          <a:p>
            <a:r>
              <a:rPr lang="en-US" dirty="0"/>
              <a:t>Systems behave </a:t>
            </a:r>
            <a:r>
              <a:rPr lang="en-US" b="1" dirty="0"/>
              <a:t>consistently</a:t>
            </a:r>
            <a:r>
              <a:rPr lang="en-US" dirty="0"/>
              <a:t> </a:t>
            </a:r>
          </a:p>
          <a:p>
            <a:r>
              <a:rPr lang="en-US" dirty="0"/>
              <a:t>Patterns </a:t>
            </a:r>
            <a:r>
              <a:rPr lang="en-US" b="1" dirty="0"/>
              <a:t>repeat over time</a:t>
            </a:r>
            <a:r>
              <a:rPr lang="en-US" dirty="0"/>
              <a:t> </a:t>
            </a:r>
          </a:p>
          <a:p>
            <a:r>
              <a:rPr lang="en-US" dirty="0"/>
              <a:t>Relationships between variables are </a:t>
            </a:r>
            <a:r>
              <a:rPr lang="en-US" b="1" dirty="0"/>
              <a:t>well understood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013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>
            <a:spLocks noGrp="1"/>
          </p:cNvSpPr>
          <p:nvPr>
            <p:ph type="ctrTitle"/>
          </p:nvPr>
        </p:nvSpPr>
        <p:spPr>
          <a:xfrm>
            <a:off x="838200" y="1276350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KERC Inc – Car Manufacturer</a:t>
            </a:r>
            <a:br>
              <a:rPr lang="en-US" sz="3600"/>
            </a:br>
            <a:r>
              <a:rPr lang="en-US" sz="2400"/>
              <a:t>Optimization Model -1 </a:t>
            </a:r>
            <a:endParaRPr sz="3600"/>
          </a:p>
        </p:txBody>
      </p:sp>
      <p:sp>
        <p:nvSpPr>
          <p:cNvPr id="139" name="Google Shape;139;p16"/>
          <p:cNvSpPr txBox="1">
            <a:spLocks noGrp="1"/>
          </p:cNvSpPr>
          <p:nvPr>
            <p:ph type="subTitle" idx="1"/>
          </p:nvPr>
        </p:nvSpPr>
        <p:spPr>
          <a:xfrm>
            <a:off x="1219200" y="3067050"/>
            <a:ext cx="70866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</a:pPr>
            <a:r>
              <a:rPr lang="en-US" sz="2700"/>
              <a:t>Predictive Analytics with Less uncertainty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 txBox="1">
            <a:spLocks noGrp="1"/>
          </p:cNvSpPr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KERC Inc – Car Manufacturer</a:t>
            </a:r>
            <a:endParaRPr/>
          </a:p>
        </p:txBody>
      </p:sp>
      <p:sp>
        <p:nvSpPr>
          <p:cNvPr id="146" name="Google Shape;146;p17"/>
          <p:cNvSpPr txBox="1">
            <a:spLocks noGrp="1"/>
          </p:cNvSpPr>
          <p:nvPr>
            <p:ph type="body" idx="1"/>
          </p:nvPr>
        </p:nvSpPr>
        <p:spPr>
          <a:xfrm>
            <a:off x="457200" y="1200152"/>
            <a:ext cx="8229600" cy="1505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sz="2700" dirty="0"/>
              <a:t>Has two main car models</a:t>
            </a:r>
            <a:endParaRPr dirty="0"/>
          </a:p>
          <a:p>
            <a:pPr marL="742950" lvl="1" indent="-285750" algn="l" rtl="0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sz="2400" dirty="0"/>
              <a:t>KERC 501</a:t>
            </a:r>
            <a:endParaRPr dirty="0"/>
          </a:p>
          <a:p>
            <a:pPr marL="742950" lvl="1" indent="-285750" algn="l" rtl="0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sz="2400" dirty="0"/>
              <a:t>KERC 601</a:t>
            </a:r>
            <a:endParaRPr dirty="0"/>
          </a:p>
          <a:p>
            <a:pPr marL="457189" lvl="1" indent="0" algn="l" rtl="0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400" dirty="0"/>
          </a:p>
          <a:p>
            <a:pPr marL="57149" lvl="0" indent="0" algn="l" rtl="0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1" dirty="0"/>
              <a:t>Below table provides the Activity times (</a:t>
            </a:r>
            <a:r>
              <a:rPr lang="en-US" sz="2801" dirty="0" err="1"/>
              <a:t>hrs</a:t>
            </a:r>
            <a:r>
              <a:rPr lang="en-US" sz="2801" dirty="0"/>
              <a:t>) of the models</a:t>
            </a:r>
            <a:endParaRPr dirty="0"/>
          </a:p>
        </p:txBody>
      </p:sp>
      <p:graphicFrame>
        <p:nvGraphicFramePr>
          <p:cNvPr id="147" name="Google Shape;147;p17"/>
          <p:cNvGraphicFramePr/>
          <p:nvPr/>
        </p:nvGraphicFramePr>
        <p:xfrm>
          <a:off x="432487" y="2631991"/>
          <a:ext cx="8025725" cy="1460425"/>
        </p:xfrm>
        <a:graphic>
          <a:graphicData uri="http://schemas.openxmlformats.org/drawingml/2006/table">
            <a:tbl>
              <a:tblPr>
                <a:noFill/>
                <a:tableStyleId>{9A735F8E-FE9B-491D-A3AA-47D10F5E36AC}</a:tableStyleId>
              </a:tblPr>
              <a:tblGrid>
                <a:gridCol w="212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 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b">
                    <a:solidFill>
                      <a:srgbClr val="A5A5A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Activity time in Hours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b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Car Model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Assembly ( All parts) 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Frame Fitting and Painting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Quality Assurance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KERC 501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8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KERC 601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10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1.6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>
            <a:spLocks noGrp="1"/>
          </p:cNvSpPr>
          <p:nvPr>
            <p:ph type="title"/>
          </p:nvPr>
        </p:nvSpPr>
        <p:spPr>
          <a:xfrm>
            <a:off x="457200" y="133351"/>
            <a:ext cx="5937422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KERC Inc – Car Manufacturer…</a:t>
            </a:r>
            <a:endParaRPr/>
          </a:p>
        </p:txBody>
      </p:sp>
      <p:sp>
        <p:nvSpPr>
          <p:cNvPr id="153" name="Google Shape;153;p18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92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89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/>
          </a:p>
          <a:p>
            <a:pPr marL="57149" lvl="0" indent="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2100"/>
              <a:t>KERC Manufacturing Unit has a limited resources for activities as below</a:t>
            </a:r>
            <a:endParaRPr/>
          </a:p>
        </p:txBody>
      </p:sp>
      <p:graphicFrame>
        <p:nvGraphicFramePr>
          <p:cNvPr id="154" name="Google Shape;154;p18"/>
          <p:cNvGraphicFramePr/>
          <p:nvPr/>
        </p:nvGraphicFramePr>
        <p:xfrm>
          <a:off x="1328352" y="2032436"/>
          <a:ext cx="5529650" cy="993255"/>
        </p:xfrm>
        <a:graphic>
          <a:graphicData uri="http://schemas.openxmlformats.org/drawingml/2006/table">
            <a:tbl>
              <a:tblPr>
                <a:noFill/>
                <a:tableStyleId>{9A735F8E-FE9B-491D-A3AA-47D10F5E36AC}</a:tableStyleId>
              </a:tblPr>
              <a:tblGrid>
                <a:gridCol w="290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Manufacturing Activity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Time Available Hours per Week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Assembly ( All parts)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b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10800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Frame Fitting and Painting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b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4500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Quality Assurance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b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2500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5" name="Google Shape;155;p18"/>
          <p:cNvGraphicFramePr/>
          <p:nvPr/>
        </p:nvGraphicFramePr>
        <p:xfrm>
          <a:off x="1328351" y="3776234"/>
          <a:ext cx="4763525" cy="661530"/>
        </p:xfrm>
        <a:graphic>
          <a:graphicData uri="http://schemas.openxmlformats.org/drawingml/2006/table">
            <a:tbl>
              <a:tblPr>
                <a:noFill/>
                <a:tableStyleId>{9A735F8E-FE9B-491D-A3AA-47D10F5E36AC}</a:tableStyleId>
              </a:tblPr>
              <a:tblGrid>
                <a:gridCol w="250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Car Model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b"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Profit (USD Thousands)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b"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KERK 501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b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4.9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KERK 601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b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5.8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6" name="Google Shape;156;p18"/>
          <p:cNvSpPr txBox="1"/>
          <p:nvPr/>
        </p:nvSpPr>
        <p:spPr>
          <a:xfrm>
            <a:off x="228600" y="3034903"/>
            <a:ext cx="8229600" cy="92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189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149" marR="0" lvl="0" indent="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 Model Profitability Table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>
            <a:spLocks noGrp="1"/>
          </p:cNvSpPr>
          <p:nvPr>
            <p:ph type="title"/>
          </p:nvPr>
        </p:nvSpPr>
        <p:spPr>
          <a:xfrm>
            <a:off x="457200" y="133351"/>
            <a:ext cx="5857103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Optimize KERC production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562233" y="1989438"/>
            <a:ext cx="826667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Objective Function (profit) and find the Optimal manufacturing quantities for car models to maximize the objective function?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 How many of each model should be produced without exceeding the available hours.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WonderZon  Retailer</a:t>
            </a:r>
            <a:br>
              <a:rPr lang="en-US" sz="3600"/>
            </a:br>
            <a:r>
              <a:rPr lang="en-US" sz="1800"/>
              <a:t>Optimization Model of Logistics to minimize cost</a:t>
            </a:r>
            <a:endParaRPr sz="3600"/>
          </a:p>
        </p:txBody>
      </p:sp>
      <p:sp>
        <p:nvSpPr>
          <p:cNvPr id="168" name="Google Shape;168;p20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7086600" cy="71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</a:pPr>
            <a:r>
              <a:rPr lang="en-US" sz="2700"/>
              <a:t>Predictive Analytics with Less uncertainty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21"/>
          <p:cNvGrpSpPr/>
          <p:nvPr/>
        </p:nvGrpSpPr>
        <p:grpSpPr>
          <a:xfrm>
            <a:off x="4347723" y="91839"/>
            <a:ext cx="3935006" cy="4461626"/>
            <a:chOff x="3136141" y="73024"/>
            <a:chExt cx="5919718" cy="6711951"/>
          </a:xfrm>
        </p:grpSpPr>
        <p:pic>
          <p:nvPicPr>
            <p:cNvPr id="174" name="Google Shape;174;p21" descr="Image result for india map outline"/>
            <p:cNvPicPr preferRelativeResize="0"/>
            <p:nvPr/>
          </p:nvPicPr>
          <p:blipFill rotWithShape="1">
            <a:blip r:embed="rId3">
              <a:alphaModFix/>
            </a:blip>
            <a:srcRect t="9595" b="8902"/>
            <a:stretch/>
          </p:blipFill>
          <p:spPr>
            <a:xfrm>
              <a:off x="3136141" y="73024"/>
              <a:ext cx="5919718" cy="67119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21"/>
            <p:cNvSpPr/>
            <p:nvPr/>
          </p:nvSpPr>
          <p:spPr>
            <a:xfrm>
              <a:off x="5016068" y="1825624"/>
              <a:ext cx="738189" cy="418702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75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G(25)</a:t>
              </a:r>
              <a:endParaRPr/>
            </a:p>
          </p:txBody>
        </p:sp>
        <p:sp>
          <p:nvSpPr>
            <p:cNvPr id="176" name="Google Shape;176;p21"/>
            <p:cNvSpPr/>
            <p:nvPr/>
          </p:nvSpPr>
          <p:spPr>
            <a:xfrm>
              <a:off x="4160404" y="3666725"/>
              <a:ext cx="774305" cy="422672"/>
            </a:xfrm>
            <a:prstGeom prst="ellipse">
              <a:avLst/>
            </a:prstGeom>
            <a:solidFill>
              <a:srgbClr val="E36C09"/>
            </a:solidFill>
            <a:ln w="25400" cap="flat" cmpd="sng">
              <a:solidFill>
                <a:srgbClr val="E36C0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75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M(50)</a:t>
              </a:r>
              <a:endParaRPr/>
            </a:p>
          </p:txBody>
        </p:sp>
        <p:sp>
          <p:nvSpPr>
            <p:cNvPr id="177" name="Google Shape;177;p21"/>
            <p:cNvSpPr/>
            <p:nvPr/>
          </p:nvSpPr>
          <p:spPr>
            <a:xfrm>
              <a:off x="5231571" y="3950096"/>
              <a:ext cx="552451" cy="315516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25400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H(&gt;25)</a:t>
              </a:r>
              <a:endParaRPr/>
            </a:p>
          </p:txBody>
        </p:sp>
        <p:cxnSp>
          <p:nvCxnSpPr>
            <p:cNvPr id="178" name="Google Shape;178;p21"/>
            <p:cNvCxnSpPr/>
            <p:nvPr/>
          </p:nvCxnSpPr>
          <p:spPr>
            <a:xfrm>
              <a:off x="5456600" y="2315764"/>
              <a:ext cx="53578" cy="1466453"/>
            </a:xfrm>
            <a:prstGeom prst="straightConnector1">
              <a:avLst/>
            </a:prstGeom>
            <a:noFill/>
            <a:ln w="2857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9" name="Google Shape;179;p21"/>
            <p:cNvCxnSpPr/>
            <p:nvPr/>
          </p:nvCxnSpPr>
          <p:spPr>
            <a:xfrm>
              <a:off x="5575663" y="2256232"/>
              <a:ext cx="345281" cy="2674939"/>
            </a:xfrm>
            <a:prstGeom prst="straightConnector1">
              <a:avLst/>
            </a:prstGeom>
            <a:noFill/>
            <a:ln w="2857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0" name="Google Shape;180;p21"/>
            <p:cNvCxnSpPr/>
            <p:nvPr/>
          </p:nvCxnSpPr>
          <p:spPr>
            <a:xfrm flipH="1">
              <a:off x="4986303" y="2280045"/>
              <a:ext cx="214313" cy="2460626"/>
            </a:xfrm>
            <a:prstGeom prst="straightConnector1">
              <a:avLst/>
            </a:prstGeom>
            <a:noFill/>
            <a:ln w="2857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1" name="Google Shape;181;p21"/>
            <p:cNvCxnSpPr>
              <a:stCxn id="176" idx="5"/>
              <a:endCxn id="177" idx="1"/>
            </p:cNvCxnSpPr>
            <p:nvPr/>
          </p:nvCxnSpPr>
          <p:spPr>
            <a:xfrm>
              <a:off x="4821315" y="4027498"/>
              <a:ext cx="410400" cy="80400"/>
            </a:xfrm>
            <a:prstGeom prst="straightConnector1">
              <a:avLst/>
            </a:prstGeom>
            <a:noFill/>
            <a:ln w="28575" cap="flat" cmpd="sng">
              <a:solidFill>
                <a:srgbClr val="E36C0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2" name="Google Shape;182;p21"/>
            <p:cNvCxnSpPr/>
            <p:nvPr/>
          </p:nvCxnSpPr>
          <p:spPr>
            <a:xfrm>
              <a:off x="4660866" y="4097733"/>
              <a:ext cx="289719" cy="678656"/>
            </a:xfrm>
            <a:prstGeom prst="straightConnector1">
              <a:avLst/>
            </a:prstGeom>
            <a:noFill/>
            <a:ln w="28575" cap="flat" cmpd="sng">
              <a:solidFill>
                <a:srgbClr val="E36C0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3" name="Google Shape;183;p21"/>
            <p:cNvCxnSpPr/>
            <p:nvPr/>
          </p:nvCxnSpPr>
          <p:spPr>
            <a:xfrm>
              <a:off x="4702538" y="4097733"/>
              <a:ext cx="968375" cy="726281"/>
            </a:xfrm>
            <a:prstGeom prst="straightConnector1">
              <a:avLst/>
            </a:prstGeom>
            <a:noFill/>
            <a:ln w="28575" cap="flat" cmpd="sng">
              <a:solidFill>
                <a:srgbClr val="E36C0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84" name="Google Shape;184;p21"/>
            <p:cNvSpPr/>
            <p:nvPr/>
          </p:nvSpPr>
          <p:spPr>
            <a:xfrm>
              <a:off x="5468507" y="4829967"/>
              <a:ext cx="552451" cy="315516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25400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C(&gt;15)</a:t>
              </a:r>
              <a:endParaRPr/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4719205" y="4793058"/>
              <a:ext cx="556420" cy="315516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25400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B(&gt;20)</a:t>
              </a:r>
              <a:endParaRPr/>
            </a:p>
          </p:txBody>
        </p:sp>
      </p:grpSp>
      <p:graphicFrame>
        <p:nvGraphicFramePr>
          <p:cNvPr id="186" name="Google Shape;186;p21"/>
          <p:cNvGraphicFramePr/>
          <p:nvPr/>
        </p:nvGraphicFramePr>
        <p:xfrm>
          <a:off x="182160" y="2542055"/>
          <a:ext cx="4139975" cy="1371600"/>
        </p:xfrm>
        <a:graphic>
          <a:graphicData uri="http://schemas.openxmlformats.org/drawingml/2006/table">
            <a:tbl>
              <a:tblPr>
                <a:noFill/>
                <a:tableStyleId>{9A735F8E-FE9B-491D-A3AA-47D10F5E36AC}</a:tableStyleId>
              </a:tblPr>
              <a:tblGrid>
                <a:gridCol w="92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43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Logistics Cost in INR per Package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Delivery Centers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 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From / To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Bengaluru (B)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Hyderabad (H)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Chennai (C) 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Warehouses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Gurgaon (G)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116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106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115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Mumbai (M)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110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95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112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7" name="Google Shape;187;p21"/>
          <p:cNvGraphicFramePr/>
          <p:nvPr/>
        </p:nvGraphicFramePr>
        <p:xfrm>
          <a:off x="182160" y="1618087"/>
          <a:ext cx="2514600" cy="577240"/>
        </p:xfrm>
        <a:graphic>
          <a:graphicData uri="http://schemas.openxmlformats.org/drawingml/2006/table">
            <a:tbl>
              <a:tblPr>
                <a:noFill/>
                <a:tableStyleId>{9A735F8E-FE9B-491D-A3AA-47D10F5E36AC}</a:tableStyleId>
              </a:tblPr>
              <a:tblGrid>
                <a:gridCol w="134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Delivery Centers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Minimum Quantity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Bengaluru (B)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20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Hyderabad(H)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25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Chennai(C) 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15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8" name="Google Shape;188;p21"/>
          <p:cNvGraphicFramePr/>
          <p:nvPr/>
        </p:nvGraphicFramePr>
        <p:xfrm>
          <a:off x="182160" y="889687"/>
          <a:ext cx="2511625" cy="432930"/>
        </p:xfrm>
        <a:graphic>
          <a:graphicData uri="http://schemas.openxmlformats.org/drawingml/2006/table">
            <a:tbl>
              <a:tblPr>
                <a:noFill/>
                <a:tableStyleId>{9A735F8E-FE9B-491D-A3AA-47D10F5E36AC}</a:tableStyleId>
              </a:tblPr>
              <a:tblGrid>
                <a:gridCol w="133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Warehouses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Shipment Quantity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Gurgaon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25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Mumbai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50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9" name="Google Shape;189;p21"/>
          <p:cNvSpPr txBox="1"/>
          <p:nvPr/>
        </p:nvSpPr>
        <p:spPr>
          <a:xfrm>
            <a:off x="315233" y="231562"/>
            <a:ext cx="3873843" cy="715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Objective function for cost and optimize the network for min logistics cost for WonderZon Retailer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Predictive Analytics </a:t>
            </a:r>
            <a:br>
              <a:rPr lang="en-US"/>
            </a:br>
            <a:r>
              <a:rPr lang="en-US" sz="2700">
                <a:solidFill>
                  <a:srgbClr val="595959"/>
                </a:solidFill>
              </a:rPr>
              <a:t>with High Uncertainty</a:t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Internet Usage - Plan Decision</a:t>
            </a:r>
            <a:br>
              <a:rPr lang="en-US" sz="3600"/>
            </a:br>
            <a:r>
              <a:rPr lang="en-US" sz="2100"/>
              <a:t>Monte Carlo Simulation</a:t>
            </a:r>
            <a:endParaRPr sz="3600"/>
          </a:p>
        </p:txBody>
      </p:sp>
      <p:sp>
        <p:nvSpPr>
          <p:cNvPr id="200" name="Google Shape;200;p23"/>
          <p:cNvSpPr txBox="1">
            <a:spLocks noGrp="1"/>
          </p:cNvSpPr>
          <p:nvPr>
            <p:ph type="subTitle" idx="1"/>
          </p:nvPr>
        </p:nvSpPr>
        <p:spPr>
          <a:xfrm>
            <a:off x="1066800" y="2914650"/>
            <a:ext cx="70866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</a:pPr>
            <a:r>
              <a:rPr lang="en-US" sz="2700"/>
              <a:t>Predictive Analytics with high uncertainty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>
            <a:spLocks noGrp="1"/>
          </p:cNvSpPr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SMART IT Inc. Internet Plan</a:t>
            </a:r>
            <a:endParaRPr/>
          </a:p>
        </p:txBody>
      </p:sp>
      <p:graphicFrame>
        <p:nvGraphicFramePr>
          <p:cNvPr id="206" name="Google Shape;206;p24"/>
          <p:cNvGraphicFramePr/>
          <p:nvPr>
            <p:extLst>
              <p:ext uri="{D42A27DB-BD31-4B8C-83A1-F6EECF244321}">
                <p14:modId xmlns:p14="http://schemas.microsoft.com/office/powerpoint/2010/main" val="1925179243"/>
              </p:ext>
            </p:extLst>
          </p:nvPr>
        </p:nvGraphicFramePr>
        <p:xfrm>
          <a:off x="2185639" y="2929054"/>
          <a:ext cx="4549704" cy="1169501"/>
        </p:xfrm>
        <a:graphic>
          <a:graphicData uri="http://schemas.openxmlformats.org/drawingml/2006/table">
            <a:tbl>
              <a:tblPr>
                <a:noFill/>
                <a:tableStyleId>{9A735F8E-FE9B-491D-A3AA-47D10F5E36AC}</a:tableStyleId>
              </a:tblPr>
              <a:tblGrid>
                <a:gridCol w="1779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0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784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/>
                        <a:t>Corporate Internet Plans</a:t>
                      </a: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7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FLEXI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/>
                        <a:t>Flat plan charging $2 per GB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93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FAST1000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/>
                        <a:t>1000 GB included , Post 1000 GB ,</a:t>
                      </a:r>
                      <a:br>
                        <a:rPr lang="en-US" sz="1200" u="none" strike="noStrike" cap="none" dirty="0"/>
                      </a:br>
                      <a:r>
                        <a:rPr lang="en-US" sz="1200" u="none" strike="noStrike" cap="none" dirty="0"/>
                        <a:t>$1500 +  $3.5 per GB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7" name="Google Shape;207;p24"/>
          <p:cNvSpPr/>
          <p:nvPr/>
        </p:nvSpPr>
        <p:spPr>
          <a:xfrm>
            <a:off x="654908" y="925064"/>
            <a:ext cx="6820929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IT Inc  has been using FLEXI corporate internet plan for a year and thinking about deciding to switch to FAST1000. SMART IT Inc business is seasonal and internet usage varies as per the demand.</a:t>
            </a:r>
            <a:b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Generally bill usage vary from around 1000 GB. Past 6 months usage in GB are 620,1050,1200,1480,870,1600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best plan for SMART IT ( Use Monte Carlo Simulation with Normally distribution data)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>
            <a:spLocks noGrp="1"/>
          </p:cNvSpPr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Monte Carlo Simulation</a:t>
            </a:r>
            <a:endParaRPr/>
          </a:p>
        </p:txBody>
      </p:sp>
      <p:sp>
        <p:nvSpPr>
          <p:cNvPr id="213" name="Google Shape;213;p2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It is a probability model used to predict the probability of various outcomes.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It is used to mitigate the possibility of unpredicted outcomes.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Kickathlon Sport Retailer</a:t>
            </a:r>
            <a:br>
              <a:rPr lang="en-US" sz="3600"/>
            </a:br>
            <a:r>
              <a:rPr lang="en-US" sz="1800"/>
              <a:t>Decision Tree &amp; Monte Carlo Simulation</a:t>
            </a:r>
            <a:endParaRPr/>
          </a:p>
        </p:txBody>
      </p:sp>
      <p:sp>
        <p:nvSpPr>
          <p:cNvPr id="219" name="Google Shape;219;p26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7086600" cy="71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</a:pPr>
            <a:r>
              <a:rPr lang="en-US" sz="2700"/>
              <a:t>Predictive Analytics with High uncertainty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>
            <a:spLocks noGrp="1"/>
          </p:cNvSpPr>
          <p:nvPr>
            <p:ph type="title"/>
          </p:nvPr>
        </p:nvSpPr>
        <p:spPr>
          <a:xfrm>
            <a:off x="191530" y="133351"/>
            <a:ext cx="6641756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Kickathlon – Supplier Decision Making</a:t>
            </a:r>
            <a:endParaRPr/>
          </a:p>
        </p:txBody>
      </p:sp>
      <p:sp>
        <p:nvSpPr>
          <p:cNvPr id="225" name="Google Shape;225;p27"/>
          <p:cNvSpPr/>
          <p:nvPr/>
        </p:nvSpPr>
        <p:spPr>
          <a:xfrm>
            <a:off x="334662" y="796118"/>
            <a:ext cx="568513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3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Kickathlon</a:t>
            </a: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French based Sports Retailer, plans to introduce a new product, </a:t>
            </a:r>
            <a:r>
              <a:rPr lang="en-US" sz="13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TrekBareFoot</a:t>
            </a: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 tough Polyester based Socks, which can protect the foot while trekking barefoot.  </a:t>
            </a:r>
            <a:endParaRPr dirty="0"/>
          </a:p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3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TrekBareFoot</a:t>
            </a: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scheduled to launch in next Summer beginning so should be manufactured well in advance.</a:t>
            </a:r>
            <a:endParaRPr dirty="0"/>
          </a:p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price tag for </a:t>
            </a:r>
            <a:r>
              <a:rPr lang="en-US" sz="13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TrekBareFoot</a:t>
            </a: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fixed at </a:t>
            </a:r>
            <a:r>
              <a:rPr lang="en-US" sz="13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$200/-</a:t>
            </a:r>
            <a:endParaRPr dirty="0"/>
          </a:p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marketing efforts create a strong demand then about </a:t>
            </a:r>
            <a:r>
              <a:rPr lang="en-US" sz="13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15000 </a:t>
            </a: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units can be sold,  on the lower side, weak demand might end up with only </a:t>
            </a:r>
            <a:r>
              <a:rPr lang="en-US" sz="13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6000</a:t>
            </a: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units.</a:t>
            </a:r>
            <a:endParaRPr dirty="0"/>
          </a:p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a  50:50% chance for strong and weak demand in the market.</a:t>
            </a:r>
            <a:endParaRPr dirty="0"/>
          </a:p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3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TrekBareFoot</a:t>
            </a: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being a specialized product, </a:t>
            </a:r>
            <a:r>
              <a:rPr lang="en-US" sz="13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Kickathlon</a:t>
            </a: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found only two suppliers one in USA and other in China. The pricing is as below.</a:t>
            </a:r>
            <a:endParaRPr dirty="0"/>
          </a:p>
        </p:txBody>
      </p:sp>
      <p:graphicFrame>
        <p:nvGraphicFramePr>
          <p:cNvPr id="226" name="Google Shape;226;p27"/>
          <p:cNvGraphicFramePr/>
          <p:nvPr/>
        </p:nvGraphicFramePr>
        <p:xfrm>
          <a:off x="457200" y="3381441"/>
          <a:ext cx="4677925" cy="1453000"/>
        </p:xfrm>
        <a:graphic>
          <a:graphicData uri="http://schemas.openxmlformats.org/drawingml/2006/table">
            <a:tbl>
              <a:tblPr>
                <a:noFill/>
                <a:tableStyleId>{9A735F8E-FE9B-491D-A3AA-47D10F5E36AC}</a:tableStyleId>
              </a:tblPr>
              <a:tblGrid>
                <a:gridCol w="154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USA (A)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China (C) 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Supplier Capacity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b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/>
                        <a:t>6000</a:t>
                      </a: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15000</a:t>
                      </a:r>
                      <a:endParaRPr sz="12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Fixed Contract Charges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b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0</a:t>
                      </a:r>
                      <a:endParaRPr sz="12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$500,000 </a:t>
                      </a:r>
                      <a:endParaRPr sz="12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Unit Product cost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b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/>
                        <a:t>$150 </a:t>
                      </a: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$130 </a:t>
                      </a:r>
                      <a:endParaRPr sz="12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Profit per unit</a:t>
                      </a:r>
                      <a:endParaRPr/>
                    </a:p>
                  </a:txBody>
                  <a:tcPr marL="7150" marR="7150" marT="7150" marB="0" anchor="b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$50</a:t>
                      </a:r>
                      <a:endParaRPr dirty="0"/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$70</a:t>
                      </a:r>
                      <a:endParaRPr dirty="0"/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27" name="Google Shape;227;p27" descr="Image result for fyf socks in in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871339"/>
            <a:ext cx="2790825" cy="18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>
            <a:spLocks noGrp="1"/>
          </p:cNvSpPr>
          <p:nvPr>
            <p:ph type="title"/>
          </p:nvPr>
        </p:nvSpPr>
        <p:spPr>
          <a:xfrm>
            <a:off x="762000" y="361950"/>
            <a:ext cx="5029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Decision Trees</a:t>
            </a:r>
            <a:endParaRPr/>
          </a:p>
        </p:txBody>
      </p:sp>
      <p:sp>
        <p:nvSpPr>
          <p:cNvPr id="233" name="Google Shape;233;p2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70068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 Decision Tree is a visual and analytical decision support tool that helps map out decisions and their possible consequences, including risks, costs and benefits.</a:t>
            </a:r>
            <a:endParaRPr sz="2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/>
          <p:nvPr/>
        </p:nvSpPr>
        <p:spPr>
          <a:xfrm>
            <a:off x="846437" y="1155357"/>
            <a:ext cx="308919" cy="24713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1377778" y="1155357"/>
            <a:ext cx="126829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Nodes</a:t>
            </a:r>
            <a:endParaRPr/>
          </a:p>
        </p:txBody>
      </p:sp>
      <p:sp>
        <p:nvSpPr>
          <p:cNvPr id="240" name="Google Shape;240;p29"/>
          <p:cNvSpPr/>
          <p:nvPr/>
        </p:nvSpPr>
        <p:spPr>
          <a:xfrm>
            <a:off x="821725" y="2162433"/>
            <a:ext cx="358346" cy="358346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1377778" y="2162432"/>
            <a:ext cx="172746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Chance / Event Nodes</a:t>
            </a:r>
            <a:endParaRPr dirty="0"/>
          </a:p>
        </p:txBody>
      </p:sp>
      <p:sp>
        <p:nvSpPr>
          <p:cNvPr id="242" name="Google Shape;242;p29"/>
          <p:cNvSpPr/>
          <p:nvPr/>
        </p:nvSpPr>
        <p:spPr>
          <a:xfrm rot="-5400000">
            <a:off x="790833" y="3281747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1377776" y="3291528"/>
            <a:ext cx="1322478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Outcome Nodes</a:t>
            </a:r>
            <a:endParaRPr/>
          </a:p>
        </p:txBody>
      </p:sp>
      <p:sp>
        <p:nvSpPr>
          <p:cNvPr id="244" name="Google Shape;244;p29"/>
          <p:cNvSpPr txBox="1"/>
          <p:nvPr/>
        </p:nvSpPr>
        <p:spPr>
          <a:xfrm>
            <a:off x="1470454" y="1612557"/>
            <a:ext cx="5214889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decision points where it branches to more than one decisions</a:t>
            </a:r>
            <a:endParaRPr dirty="0"/>
          </a:p>
        </p:txBody>
      </p:sp>
      <p:sp>
        <p:nvSpPr>
          <p:cNvPr id="245" name="Google Shape;245;p29"/>
          <p:cNvSpPr txBox="1"/>
          <p:nvPr/>
        </p:nvSpPr>
        <p:spPr>
          <a:xfrm>
            <a:off x="1470454" y="2565570"/>
            <a:ext cx="588507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points of uncertainty, which is defined by probability / random variable</a:t>
            </a:r>
            <a:endParaRPr/>
          </a:p>
        </p:txBody>
      </p:sp>
      <p:sp>
        <p:nvSpPr>
          <p:cNvPr id="246" name="Google Shape;246;p29"/>
          <p:cNvSpPr txBox="1"/>
          <p:nvPr/>
        </p:nvSpPr>
        <p:spPr>
          <a:xfrm>
            <a:off x="1377776" y="3733056"/>
            <a:ext cx="593244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the outcome variable ( Objective function), which needs to be either maximized or minimized.</a:t>
            </a:r>
            <a:endParaRPr/>
          </a:p>
        </p:txBody>
      </p:sp>
      <p:sp>
        <p:nvSpPr>
          <p:cNvPr id="247" name="Google Shape;247;p29"/>
          <p:cNvSpPr txBox="1">
            <a:spLocks noGrp="1"/>
          </p:cNvSpPr>
          <p:nvPr>
            <p:ph type="title"/>
          </p:nvPr>
        </p:nvSpPr>
        <p:spPr>
          <a:xfrm>
            <a:off x="191530" y="133351"/>
            <a:ext cx="6641756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Decision Tree – Key Components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/>
          <p:nvPr/>
        </p:nvSpPr>
        <p:spPr>
          <a:xfrm>
            <a:off x="1223318" y="2075933"/>
            <a:ext cx="308919" cy="24713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0"/>
          <p:cNvSpPr txBox="1">
            <a:spLocks noGrp="1"/>
          </p:cNvSpPr>
          <p:nvPr>
            <p:ph type="title"/>
          </p:nvPr>
        </p:nvSpPr>
        <p:spPr>
          <a:xfrm>
            <a:off x="191530" y="133351"/>
            <a:ext cx="6641756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Kickathlon – Supplier Decision Tree</a:t>
            </a:r>
            <a:endParaRPr/>
          </a:p>
        </p:txBody>
      </p:sp>
      <p:cxnSp>
        <p:nvCxnSpPr>
          <p:cNvPr id="254" name="Google Shape;254;p30"/>
          <p:cNvCxnSpPr>
            <a:stCxn id="252" idx="3"/>
          </p:cNvCxnSpPr>
          <p:nvPr/>
        </p:nvCxnSpPr>
        <p:spPr>
          <a:xfrm rot="10800000" flipH="1">
            <a:off x="1532237" y="1099701"/>
            <a:ext cx="1260300" cy="10998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5" name="Google Shape;255;p30"/>
          <p:cNvCxnSpPr>
            <a:stCxn id="252" idx="3"/>
            <a:endCxn id="256" idx="2"/>
          </p:cNvCxnSpPr>
          <p:nvPr/>
        </p:nvCxnSpPr>
        <p:spPr>
          <a:xfrm>
            <a:off x="1532237" y="2199501"/>
            <a:ext cx="1281900" cy="21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7" name="Google Shape;257;p30"/>
          <p:cNvCxnSpPr>
            <a:stCxn id="252" idx="3"/>
            <a:endCxn id="258" idx="2"/>
          </p:cNvCxnSpPr>
          <p:nvPr/>
        </p:nvCxnSpPr>
        <p:spPr>
          <a:xfrm>
            <a:off x="1532237" y="2199500"/>
            <a:ext cx="1297800" cy="15819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9" name="Google Shape;259;p30"/>
          <p:cNvSpPr txBox="1"/>
          <p:nvPr/>
        </p:nvSpPr>
        <p:spPr>
          <a:xfrm>
            <a:off x="1435904" y="1223246"/>
            <a:ext cx="10823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No one</a:t>
            </a:r>
            <a:endParaRPr/>
          </a:p>
        </p:txBody>
      </p:sp>
      <p:sp>
        <p:nvSpPr>
          <p:cNvPr id="260" name="Google Shape;260;p30"/>
          <p:cNvSpPr/>
          <p:nvPr/>
        </p:nvSpPr>
        <p:spPr>
          <a:xfrm rot="-5400000">
            <a:off x="2749379" y="977194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0"/>
          <p:cNvSpPr txBox="1"/>
          <p:nvPr/>
        </p:nvSpPr>
        <p:spPr>
          <a:xfrm>
            <a:off x="3231554" y="944224"/>
            <a:ext cx="399468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$ 0</a:t>
            </a:r>
            <a:endParaRPr/>
          </a:p>
        </p:txBody>
      </p:sp>
      <p:sp>
        <p:nvSpPr>
          <p:cNvPr id="262" name="Google Shape;262;p30"/>
          <p:cNvSpPr txBox="1"/>
          <p:nvPr/>
        </p:nvSpPr>
        <p:spPr>
          <a:xfrm>
            <a:off x="1827756" y="1952381"/>
            <a:ext cx="127424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USA(A)</a:t>
            </a:r>
            <a:endParaRPr/>
          </a:p>
        </p:txBody>
      </p:sp>
      <p:sp>
        <p:nvSpPr>
          <p:cNvPr id="263" name="Google Shape;263;p30"/>
          <p:cNvSpPr txBox="1"/>
          <p:nvPr/>
        </p:nvSpPr>
        <p:spPr>
          <a:xfrm>
            <a:off x="1293326" y="3158116"/>
            <a:ext cx="127424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China(C)</a:t>
            </a:r>
            <a:endParaRPr/>
          </a:p>
        </p:txBody>
      </p:sp>
      <p:sp>
        <p:nvSpPr>
          <p:cNvPr id="256" name="Google Shape;256;p30"/>
          <p:cNvSpPr/>
          <p:nvPr/>
        </p:nvSpPr>
        <p:spPr>
          <a:xfrm>
            <a:off x="2814251" y="2022576"/>
            <a:ext cx="358346" cy="358346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0"/>
          <p:cNvSpPr txBox="1"/>
          <p:nvPr/>
        </p:nvSpPr>
        <p:spPr>
          <a:xfrm>
            <a:off x="2755977" y="2384021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</a:t>
            </a:r>
            <a:endParaRPr/>
          </a:p>
        </p:txBody>
      </p:sp>
      <p:cxnSp>
        <p:nvCxnSpPr>
          <p:cNvPr id="265" name="Google Shape;265;p30"/>
          <p:cNvCxnSpPr>
            <a:stCxn id="256" idx="6"/>
            <a:endCxn id="266" idx="0"/>
          </p:cNvCxnSpPr>
          <p:nvPr/>
        </p:nvCxnSpPr>
        <p:spPr>
          <a:xfrm rot="10800000" flipH="1">
            <a:off x="3172597" y="1544449"/>
            <a:ext cx="1825800" cy="6573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7" name="Google Shape;267;p30"/>
          <p:cNvCxnSpPr>
            <a:stCxn id="256" idx="6"/>
          </p:cNvCxnSpPr>
          <p:nvPr/>
        </p:nvCxnSpPr>
        <p:spPr>
          <a:xfrm>
            <a:off x="3172597" y="2201749"/>
            <a:ext cx="1825800" cy="5025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6" name="Google Shape;266;p30"/>
          <p:cNvSpPr/>
          <p:nvPr/>
        </p:nvSpPr>
        <p:spPr>
          <a:xfrm rot="-5400000">
            <a:off x="4967417" y="1396181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0"/>
          <p:cNvSpPr txBox="1"/>
          <p:nvPr/>
        </p:nvSpPr>
        <p:spPr>
          <a:xfrm>
            <a:off x="3263899" y="1713366"/>
            <a:ext cx="57419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269" name="Google Shape;269;p30"/>
          <p:cNvSpPr txBox="1"/>
          <p:nvPr/>
        </p:nvSpPr>
        <p:spPr>
          <a:xfrm>
            <a:off x="5356655" y="1610503"/>
            <a:ext cx="18213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6000*$50 =$300,000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supplier A can only supply 6000</a:t>
            </a:r>
            <a:endParaRPr/>
          </a:p>
        </p:txBody>
      </p:sp>
      <p:sp>
        <p:nvSpPr>
          <p:cNvPr id="270" name="Google Shape;270;p30"/>
          <p:cNvSpPr txBox="1"/>
          <p:nvPr/>
        </p:nvSpPr>
        <p:spPr>
          <a:xfrm>
            <a:off x="3825064" y="1457607"/>
            <a:ext cx="101181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15000 units</a:t>
            </a:r>
            <a:endParaRPr/>
          </a:p>
        </p:txBody>
      </p:sp>
      <p:sp>
        <p:nvSpPr>
          <p:cNvPr id="271" name="Google Shape;271;p30"/>
          <p:cNvSpPr txBox="1"/>
          <p:nvPr/>
        </p:nvSpPr>
        <p:spPr>
          <a:xfrm>
            <a:off x="3260139" y="2284954"/>
            <a:ext cx="52770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272" name="Google Shape;272;p30"/>
          <p:cNvSpPr txBox="1"/>
          <p:nvPr/>
        </p:nvSpPr>
        <p:spPr>
          <a:xfrm>
            <a:off x="3982907" y="2205223"/>
            <a:ext cx="92365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6000 units</a:t>
            </a:r>
            <a:endParaRPr/>
          </a:p>
        </p:txBody>
      </p:sp>
      <p:sp>
        <p:nvSpPr>
          <p:cNvPr id="273" name="Google Shape;273;p30"/>
          <p:cNvSpPr/>
          <p:nvPr/>
        </p:nvSpPr>
        <p:spPr>
          <a:xfrm rot="-5400000">
            <a:off x="4967416" y="2544809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5307227" y="2681693"/>
            <a:ext cx="182133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6000*$50 =$300,000</a:t>
            </a:r>
            <a:endParaRPr/>
          </a:p>
        </p:txBody>
      </p:sp>
      <p:cxnSp>
        <p:nvCxnSpPr>
          <p:cNvPr id="275" name="Google Shape;275;p30"/>
          <p:cNvCxnSpPr>
            <a:stCxn id="258" idx="6"/>
            <a:endCxn id="276" idx="0"/>
          </p:cNvCxnSpPr>
          <p:nvPr/>
        </p:nvCxnSpPr>
        <p:spPr>
          <a:xfrm rot="10800000" flipH="1">
            <a:off x="3188372" y="3401602"/>
            <a:ext cx="1745100" cy="3798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7" name="Google Shape;277;p30"/>
          <p:cNvCxnSpPr>
            <a:stCxn id="258" idx="6"/>
            <a:endCxn id="278" idx="0"/>
          </p:cNvCxnSpPr>
          <p:nvPr/>
        </p:nvCxnSpPr>
        <p:spPr>
          <a:xfrm>
            <a:off x="3188372" y="3781402"/>
            <a:ext cx="1757700" cy="6891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6" name="Google Shape;276;p30"/>
          <p:cNvSpPr/>
          <p:nvPr/>
        </p:nvSpPr>
        <p:spPr>
          <a:xfrm rot="-5400000">
            <a:off x="4902545" y="3253293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0"/>
          <p:cNvSpPr txBox="1"/>
          <p:nvPr/>
        </p:nvSpPr>
        <p:spPr>
          <a:xfrm>
            <a:off x="3211664" y="3336442"/>
            <a:ext cx="57419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280" name="Google Shape;280;p30"/>
          <p:cNvSpPr txBox="1"/>
          <p:nvPr/>
        </p:nvSpPr>
        <p:spPr>
          <a:xfrm>
            <a:off x="5330851" y="3407623"/>
            <a:ext cx="23695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15000*$70 - $500000 =$550,000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supplier B can all 15000</a:t>
            </a:r>
            <a:endParaRPr/>
          </a:p>
        </p:txBody>
      </p:sp>
      <p:sp>
        <p:nvSpPr>
          <p:cNvPr id="281" name="Google Shape;281;p30"/>
          <p:cNvSpPr txBox="1"/>
          <p:nvPr/>
        </p:nvSpPr>
        <p:spPr>
          <a:xfrm>
            <a:off x="3833755" y="3197942"/>
            <a:ext cx="101181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15000 units</a:t>
            </a:r>
            <a:endParaRPr/>
          </a:p>
        </p:txBody>
      </p:sp>
      <p:sp>
        <p:nvSpPr>
          <p:cNvPr id="282" name="Google Shape;282;p30"/>
          <p:cNvSpPr txBox="1"/>
          <p:nvPr/>
        </p:nvSpPr>
        <p:spPr>
          <a:xfrm>
            <a:off x="3207905" y="3908030"/>
            <a:ext cx="52770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283" name="Google Shape;283;p30"/>
          <p:cNvSpPr txBox="1"/>
          <p:nvPr/>
        </p:nvSpPr>
        <p:spPr>
          <a:xfrm>
            <a:off x="3930010" y="3911535"/>
            <a:ext cx="92365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6000 units</a:t>
            </a:r>
            <a:endParaRPr/>
          </a:p>
        </p:txBody>
      </p:sp>
      <p:sp>
        <p:nvSpPr>
          <p:cNvPr id="278" name="Google Shape;278;p30"/>
          <p:cNvSpPr/>
          <p:nvPr/>
        </p:nvSpPr>
        <p:spPr>
          <a:xfrm rot="-5400000">
            <a:off x="4915182" y="4322348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0"/>
          <p:cNvSpPr txBox="1"/>
          <p:nvPr/>
        </p:nvSpPr>
        <p:spPr>
          <a:xfrm>
            <a:off x="5356655" y="4456037"/>
            <a:ext cx="228940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6000*$70-$500,000 =-$80,000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0"/>
          <p:cNvSpPr txBox="1"/>
          <p:nvPr/>
        </p:nvSpPr>
        <p:spPr>
          <a:xfrm>
            <a:off x="5552604" y="1364884"/>
            <a:ext cx="9701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$300,000</a:t>
            </a:r>
            <a:endParaRPr/>
          </a:p>
        </p:txBody>
      </p:sp>
      <p:sp>
        <p:nvSpPr>
          <p:cNvPr id="286" name="Google Shape;286;p30"/>
          <p:cNvSpPr txBox="1"/>
          <p:nvPr/>
        </p:nvSpPr>
        <p:spPr>
          <a:xfrm>
            <a:off x="5552604" y="2453271"/>
            <a:ext cx="9701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$300,000</a:t>
            </a:r>
            <a:endParaRPr/>
          </a:p>
        </p:txBody>
      </p:sp>
      <p:sp>
        <p:nvSpPr>
          <p:cNvPr id="287" name="Google Shape;287;p30"/>
          <p:cNvSpPr txBox="1"/>
          <p:nvPr/>
        </p:nvSpPr>
        <p:spPr>
          <a:xfrm>
            <a:off x="5567463" y="3173916"/>
            <a:ext cx="9701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$550,000</a:t>
            </a:r>
            <a:endParaRPr/>
          </a:p>
        </p:txBody>
      </p:sp>
      <p:sp>
        <p:nvSpPr>
          <p:cNvPr id="288" name="Google Shape;288;p30"/>
          <p:cNvSpPr txBox="1"/>
          <p:nvPr/>
        </p:nvSpPr>
        <p:spPr>
          <a:xfrm>
            <a:off x="5563242" y="4202390"/>
            <a:ext cx="848309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$80,000</a:t>
            </a:r>
            <a:endParaRPr/>
          </a:p>
        </p:txBody>
      </p:sp>
      <p:sp>
        <p:nvSpPr>
          <p:cNvPr id="289" name="Google Shape;289;p30"/>
          <p:cNvSpPr txBox="1"/>
          <p:nvPr/>
        </p:nvSpPr>
        <p:spPr>
          <a:xfrm>
            <a:off x="3913023" y="1863091"/>
            <a:ext cx="49084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$ 0</a:t>
            </a:r>
            <a:endParaRPr/>
          </a:p>
        </p:txBody>
      </p:sp>
      <p:sp>
        <p:nvSpPr>
          <p:cNvPr id="290" name="Google Shape;290;p30"/>
          <p:cNvSpPr txBox="1"/>
          <p:nvPr/>
        </p:nvSpPr>
        <p:spPr>
          <a:xfrm>
            <a:off x="3991912" y="2508583"/>
            <a:ext cx="49084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$ 0</a:t>
            </a:r>
            <a:endParaRPr/>
          </a:p>
        </p:txBody>
      </p:sp>
      <p:sp>
        <p:nvSpPr>
          <p:cNvPr id="291" name="Google Shape;291;p30"/>
          <p:cNvSpPr txBox="1"/>
          <p:nvPr/>
        </p:nvSpPr>
        <p:spPr>
          <a:xfrm>
            <a:off x="3861131" y="3612989"/>
            <a:ext cx="97494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$ 500,000</a:t>
            </a:r>
            <a:endParaRPr/>
          </a:p>
        </p:txBody>
      </p:sp>
      <p:sp>
        <p:nvSpPr>
          <p:cNvPr id="292" name="Google Shape;292;p30"/>
          <p:cNvSpPr txBox="1"/>
          <p:nvPr/>
        </p:nvSpPr>
        <p:spPr>
          <a:xfrm>
            <a:off x="3789765" y="4305772"/>
            <a:ext cx="97494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$ 500,000</a:t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12544" y="2046068"/>
            <a:ext cx="84670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Supplier?</a:t>
            </a:r>
            <a:endParaRPr/>
          </a:p>
        </p:txBody>
      </p:sp>
      <p:sp>
        <p:nvSpPr>
          <p:cNvPr id="294" name="Google Shape;294;p30"/>
          <p:cNvSpPr txBox="1"/>
          <p:nvPr/>
        </p:nvSpPr>
        <p:spPr>
          <a:xfrm>
            <a:off x="2643721" y="398205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</a:t>
            </a:r>
            <a:endParaRPr/>
          </a:p>
        </p:txBody>
      </p:sp>
      <p:sp>
        <p:nvSpPr>
          <p:cNvPr id="258" name="Google Shape;258;p30"/>
          <p:cNvSpPr/>
          <p:nvPr/>
        </p:nvSpPr>
        <p:spPr>
          <a:xfrm>
            <a:off x="2830026" y="3602229"/>
            <a:ext cx="358346" cy="358346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1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1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500"/>
                            </p:stCondLst>
                            <p:childTnLst>
                              <p:par>
                                <p:cTn id="1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000"/>
                            </p:stCondLst>
                            <p:childTnLst>
                              <p:par>
                                <p:cTn id="1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"/>
          <p:cNvSpPr txBox="1">
            <a:spLocks noGrp="1"/>
          </p:cNvSpPr>
          <p:nvPr>
            <p:ph type="title"/>
          </p:nvPr>
        </p:nvSpPr>
        <p:spPr>
          <a:xfrm>
            <a:off x="191530" y="133351"/>
            <a:ext cx="6641756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dirty="0"/>
              <a:t>Common Decision Strategies</a:t>
            </a:r>
            <a:endParaRPr dirty="0"/>
          </a:p>
        </p:txBody>
      </p:sp>
      <p:sp>
        <p:nvSpPr>
          <p:cNvPr id="300" name="Google Shape;300;p31"/>
          <p:cNvSpPr txBox="1"/>
          <p:nvPr/>
        </p:nvSpPr>
        <p:spPr>
          <a:xfrm>
            <a:off x="762455" y="1025166"/>
            <a:ext cx="7544694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 – Mini Strategy : Risk Averse Strategy</a:t>
            </a:r>
            <a:endParaRPr dirty="0"/>
          </a:p>
          <a:p>
            <a:pPr marL="557213" marR="0" lvl="1" indent="-21431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Maximize the Minimum outcome</a:t>
            </a:r>
            <a:endParaRPr dirty="0"/>
          </a:p>
          <a:p>
            <a:pPr marL="557213" marR="0" lvl="1" indent="-21431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Avoids bad outcomes and ignores possibility of good outcomes with risk.</a:t>
            </a:r>
            <a:endParaRPr dirty="0"/>
          </a:p>
          <a:p>
            <a:pPr marL="557213" marR="0" lvl="1" indent="-10001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7213" marR="0" lvl="1" indent="-10001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 – Maxi Strategy : Risk Seeking Strategy</a:t>
            </a:r>
            <a:endParaRPr dirty="0"/>
          </a:p>
          <a:p>
            <a:pPr marL="557213" marR="0" lvl="1" indent="-21431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Maximize the Maximum outcome</a:t>
            </a:r>
            <a:endParaRPr dirty="0"/>
          </a:p>
          <a:p>
            <a:pPr marL="557213" marR="0" lvl="1" indent="-21431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Seeks good outcomes  and  ignore possibility of bad outcomes</a:t>
            </a:r>
            <a:endParaRPr dirty="0"/>
          </a:p>
          <a:p>
            <a:pPr marL="557213" marR="0" lvl="1" indent="-10001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4313" marR="0" lvl="0" indent="-1000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Maximize Expected Value : Risk Neutral Strategy</a:t>
            </a:r>
            <a:endParaRPr dirty="0"/>
          </a:p>
          <a:p>
            <a:pPr marL="557213" marR="0" lvl="1" indent="-21431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Equal consideration of Good and Bad outcomes</a:t>
            </a:r>
            <a:endParaRPr dirty="0"/>
          </a:p>
          <a:p>
            <a:pPr marL="557213" marR="0" lvl="1" indent="-10001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4313" marR="0" lvl="0" indent="-1000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2"/>
          <p:cNvSpPr/>
          <p:nvPr/>
        </p:nvSpPr>
        <p:spPr>
          <a:xfrm>
            <a:off x="1223318" y="2075933"/>
            <a:ext cx="308919" cy="24713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2"/>
          <p:cNvSpPr txBox="1">
            <a:spLocks noGrp="1"/>
          </p:cNvSpPr>
          <p:nvPr>
            <p:ph type="title"/>
          </p:nvPr>
        </p:nvSpPr>
        <p:spPr>
          <a:xfrm>
            <a:off x="191530" y="133351"/>
            <a:ext cx="6641756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Maxi-Min Strategy</a:t>
            </a:r>
            <a:endParaRPr/>
          </a:p>
        </p:txBody>
      </p:sp>
      <p:cxnSp>
        <p:nvCxnSpPr>
          <p:cNvPr id="307" name="Google Shape;307;p32"/>
          <p:cNvCxnSpPr>
            <a:stCxn id="305" idx="3"/>
          </p:cNvCxnSpPr>
          <p:nvPr/>
        </p:nvCxnSpPr>
        <p:spPr>
          <a:xfrm rot="10800000" flipH="1">
            <a:off x="1532237" y="1099701"/>
            <a:ext cx="1260300" cy="10998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8" name="Google Shape;308;p32"/>
          <p:cNvCxnSpPr>
            <a:stCxn id="305" idx="3"/>
            <a:endCxn id="309" idx="2"/>
          </p:cNvCxnSpPr>
          <p:nvPr/>
        </p:nvCxnSpPr>
        <p:spPr>
          <a:xfrm>
            <a:off x="1532237" y="2199501"/>
            <a:ext cx="1281900" cy="21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0" name="Google Shape;310;p32"/>
          <p:cNvCxnSpPr>
            <a:stCxn id="305" idx="3"/>
            <a:endCxn id="311" idx="2"/>
          </p:cNvCxnSpPr>
          <p:nvPr/>
        </p:nvCxnSpPr>
        <p:spPr>
          <a:xfrm>
            <a:off x="1532237" y="2199500"/>
            <a:ext cx="1297800" cy="15819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2" name="Google Shape;312;p32"/>
          <p:cNvSpPr txBox="1"/>
          <p:nvPr/>
        </p:nvSpPr>
        <p:spPr>
          <a:xfrm>
            <a:off x="1435904" y="1223246"/>
            <a:ext cx="10823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No one</a:t>
            </a:r>
            <a:endParaRPr/>
          </a:p>
        </p:txBody>
      </p:sp>
      <p:sp>
        <p:nvSpPr>
          <p:cNvPr id="313" name="Google Shape;313;p32"/>
          <p:cNvSpPr/>
          <p:nvPr/>
        </p:nvSpPr>
        <p:spPr>
          <a:xfrm rot="-5400000">
            <a:off x="2749379" y="977194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2"/>
          <p:cNvSpPr txBox="1"/>
          <p:nvPr/>
        </p:nvSpPr>
        <p:spPr>
          <a:xfrm>
            <a:off x="3231554" y="944224"/>
            <a:ext cx="399468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$ 0</a:t>
            </a:r>
            <a:endParaRPr/>
          </a:p>
        </p:txBody>
      </p:sp>
      <p:sp>
        <p:nvSpPr>
          <p:cNvPr id="315" name="Google Shape;315;p32"/>
          <p:cNvSpPr txBox="1"/>
          <p:nvPr/>
        </p:nvSpPr>
        <p:spPr>
          <a:xfrm>
            <a:off x="1827756" y="1952381"/>
            <a:ext cx="127424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USA(A)</a:t>
            </a:r>
            <a:endParaRPr/>
          </a:p>
        </p:txBody>
      </p:sp>
      <p:sp>
        <p:nvSpPr>
          <p:cNvPr id="316" name="Google Shape;316;p32"/>
          <p:cNvSpPr txBox="1"/>
          <p:nvPr/>
        </p:nvSpPr>
        <p:spPr>
          <a:xfrm>
            <a:off x="1293326" y="3158116"/>
            <a:ext cx="127424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China(C)</a:t>
            </a:r>
            <a:endParaRPr/>
          </a:p>
        </p:txBody>
      </p:sp>
      <p:sp>
        <p:nvSpPr>
          <p:cNvPr id="309" name="Google Shape;309;p32"/>
          <p:cNvSpPr/>
          <p:nvPr/>
        </p:nvSpPr>
        <p:spPr>
          <a:xfrm>
            <a:off x="2814251" y="2022576"/>
            <a:ext cx="358346" cy="358346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2"/>
          <p:cNvSpPr txBox="1"/>
          <p:nvPr/>
        </p:nvSpPr>
        <p:spPr>
          <a:xfrm>
            <a:off x="2755977" y="2384021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</a:t>
            </a:r>
            <a:endParaRPr/>
          </a:p>
        </p:txBody>
      </p:sp>
      <p:cxnSp>
        <p:nvCxnSpPr>
          <p:cNvPr id="318" name="Google Shape;318;p32"/>
          <p:cNvCxnSpPr>
            <a:stCxn id="309" idx="6"/>
            <a:endCxn id="319" idx="0"/>
          </p:cNvCxnSpPr>
          <p:nvPr/>
        </p:nvCxnSpPr>
        <p:spPr>
          <a:xfrm rot="10800000" flipH="1">
            <a:off x="3172597" y="1544449"/>
            <a:ext cx="1825800" cy="6573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0" name="Google Shape;320;p32"/>
          <p:cNvCxnSpPr>
            <a:stCxn id="309" idx="6"/>
          </p:cNvCxnSpPr>
          <p:nvPr/>
        </p:nvCxnSpPr>
        <p:spPr>
          <a:xfrm>
            <a:off x="3172597" y="2201749"/>
            <a:ext cx="1825800" cy="5025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9" name="Google Shape;319;p32"/>
          <p:cNvSpPr/>
          <p:nvPr/>
        </p:nvSpPr>
        <p:spPr>
          <a:xfrm rot="-5400000">
            <a:off x="4967417" y="1396181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2"/>
          <p:cNvSpPr txBox="1"/>
          <p:nvPr/>
        </p:nvSpPr>
        <p:spPr>
          <a:xfrm>
            <a:off x="3263899" y="1713366"/>
            <a:ext cx="57419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322" name="Google Shape;322;p32"/>
          <p:cNvSpPr txBox="1"/>
          <p:nvPr/>
        </p:nvSpPr>
        <p:spPr>
          <a:xfrm>
            <a:off x="5356655" y="1610503"/>
            <a:ext cx="18213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6000*$50 =$300,000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supplier A can only supply 6000</a:t>
            </a:r>
            <a:endParaRPr/>
          </a:p>
        </p:txBody>
      </p:sp>
      <p:sp>
        <p:nvSpPr>
          <p:cNvPr id="323" name="Google Shape;323;p32"/>
          <p:cNvSpPr txBox="1"/>
          <p:nvPr/>
        </p:nvSpPr>
        <p:spPr>
          <a:xfrm>
            <a:off x="3825064" y="1457607"/>
            <a:ext cx="101181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15000 units</a:t>
            </a:r>
            <a:endParaRPr/>
          </a:p>
        </p:txBody>
      </p:sp>
      <p:sp>
        <p:nvSpPr>
          <p:cNvPr id="324" name="Google Shape;324;p32"/>
          <p:cNvSpPr txBox="1"/>
          <p:nvPr/>
        </p:nvSpPr>
        <p:spPr>
          <a:xfrm>
            <a:off x="3260139" y="2284954"/>
            <a:ext cx="52770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325" name="Google Shape;325;p32"/>
          <p:cNvSpPr txBox="1"/>
          <p:nvPr/>
        </p:nvSpPr>
        <p:spPr>
          <a:xfrm>
            <a:off x="3982907" y="2205223"/>
            <a:ext cx="92365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6000 units</a:t>
            </a:r>
            <a:endParaRPr/>
          </a:p>
        </p:txBody>
      </p:sp>
      <p:sp>
        <p:nvSpPr>
          <p:cNvPr id="326" name="Google Shape;326;p32"/>
          <p:cNvSpPr/>
          <p:nvPr/>
        </p:nvSpPr>
        <p:spPr>
          <a:xfrm rot="-5400000">
            <a:off x="4967416" y="2544809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2"/>
          <p:cNvSpPr txBox="1"/>
          <p:nvPr/>
        </p:nvSpPr>
        <p:spPr>
          <a:xfrm>
            <a:off x="5307227" y="2681693"/>
            <a:ext cx="182133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6000*$50 =$300,000</a:t>
            </a:r>
            <a:endParaRPr/>
          </a:p>
        </p:txBody>
      </p:sp>
      <p:cxnSp>
        <p:nvCxnSpPr>
          <p:cNvPr id="328" name="Google Shape;328;p32"/>
          <p:cNvCxnSpPr>
            <a:stCxn id="311" idx="6"/>
            <a:endCxn id="329" idx="0"/>
          </p:cNvCxnSpPr>
          <p:nvPr/>
        </p:nvCxnSpPr>
        <p:spPr>
          <a:xfrm rot="10800000" flipH="1">
            <a:off x="3188372" y="3401602"/>
            <a:ext cx="1745100" cy="3798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0" name="Google Shape;330;p32"/>
          <p:cNvCxnSpPr>
            <a:stCxn id="311" idx="6"/>
            <a:endCxn id="331" idx="0"/>
          </p:cNvCxnSpPr>
          <p:nvPr/>
        </p:nvCxnSpPr>
        <p:spPr>
          <a:xfrm>
            <a:off x="3188372" y="3781402"/>
            <a:ext cx="1757700" cy="6891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9" name="Google Shape;329;p32"/>
          <p:cNvSpPr/>
          <p:nvPr/>
        </p:nvSpPr>
        <p:spPr>
          <a:xfrm rot="-5400000">
            <a:off x="4902545" y="3253293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2"/>
          <p:cNvSpPr txBox="1"/>
          <p:nvPr/>
        </p:nvSpPr>
        <p:spPr>
          <a:xfrm>
            <a:off x="3211664" y="3336442"/>
            <a:ext cx="57419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333" name="Google Shape;333;p32"/>
          <p:cNvSpPr txBox="1"/>
          <p:nvPr/>
        </p:nvSpPr>
        <p:spPr>
          <a:xfrm>
            <a:off x="5330851" y="3407623"/>
            <a:ext cx="23695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15000*$70 - $500000 =$550,000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supplier B can all 15000</a:t>
            </a:r>
            <a:endParaRPr/>
          </a:p>
        </p:txBody>
      </p:sp>
      <p:sp>
        <p:nvSpPr>
          <p:cNvPr id="334" name="Google Shape;334;p32"/>
          <p:cNvSpPr txBox="1"/>
          <p:nvPr/>
        </p:nvSpPr>
        <p:spPr>
          <a:xfrm>
            <a:off x="3833755" y="3197942"/>
            <a:ext cx="101181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15000 units</a:t>
            </a:r>
            <a:endParaRPr/>
          </a:p>
        </p:txBody>
      </p:sp>
      <p:sp>
        <p:nvSpPr>
          <p:cNvPr id="335" name="Google Shape;335;p32"/>
          <p:cNvSpPr txBox="1"/>
          <p:nvPr/>
        </p:nvSpPr>
        <p:spPr>
          <a:xfrm>
            <a:off x="3207905" y="3908030"/>
            <a:ext cx="52770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336" name="Google Shape;336;p32"/>
          <p:cNvSpPr txBox="1"/>
          <p:nvPr/>
        </p:nvSpPr>
        <p:spPr>
          <a:xfrm>
            <a:off x="3930010" y="3911535"/>
            <a:ext cx="92365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6000 units</a:t>
            </a:r>
            <a:endParaRPr/>
          </a:p>
        </p:txBody>
      </p:sp>
      <p:sp>
        <p:nvSpPr>
          <p:cNvPr id="331" name="Google Shape;331;p32"/>
          <p:cNvSpPr/>
          <p:nvPr/>
        </p:nvSpPr>
        <p:spPr>
          <a:xfrm rot="-5400000">
            <a:off x="4915182" y="4322348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2"/>
          <p:cNvSpPr txBox="1"/>
          <p:nvPr/>
        </p:nvSpPr>
        <p:spPr>
          <a:xfrm>
            <a:off x="5356655" y="4456037"/>
            <a:ext cx="228940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6000*$70-$500,000 =$180,000</a:t>
            </a:r>
            <a:endParaRPr/>
          </a:p>
        </p:txBody>
      </p:sp>
      <p:sp>
        <p:nvSpPr>
          <p:cNvPr id="338" name="Google Shape;338;p32"/>
          <p:cNvSpPr txBox="1"/>
          <p:nvPr/>
        </p:nvSpPr>
        <p:spPr>
          <a:xfrm>
            <a:off x="5552604" y="1364884"/>
            <a:ext cx="9701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$300,000</a:t>
            </a:r>
            <a:endParaRPr/>
          </a:p>
        </p:txBody>
      </p:sp>
      <p:sp>
        <p:nvSpPr>
          <p:cNvPr id="339" name="Google Shape;339;p32"/>
          <p:cNvSpPr txBox="1"/>
          <p:nvPr/>
        </p:nvSpPr>
        <p:spPr>
          <a:xfrm>
            <a:off x="5552604" y="2453271"/>
            <a:ext cx="9701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$300,000</a:t>
            </a:r>
            <a:endParaRPr/>
          </a:p>
        </p:txBody>
      </p:sp>
      <p:sp>
        <p:nvSpPr>
          <p:cNvPr id="340" name="Google Shape;340;p32"/>
          <p:cNvSpPr txBox="1"/>
          <p:nvPr/>
        </p:nvSpPr>
        <p:spPr>
          <a:xfrm>
            <a:off x="5567463" y="3173916"/>
            <a:ext cx="9701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$550,000</a:t>
            </a:r>
            <a:endParaRPr/>
          </a:p>
        </p:txBody>
      </p:sp>
      <p:sp>
        <p:nvSpPr>
          <p:cNvPr id="341" name="Google Shape;341;p32"/>
          <p:cNvSpPr txBox="1"/>
          <p:nvPr/>
        </p:nvSpPr>
        <p:spPr>
          <a:xfrm>
            <a:off x="5563242" y="4202390"/>
            <a:ext cx="848309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$80,000</a:t>
            </a:r>
            <a:endParaRPr/>
          </a:p>
        </p:txBody>
      </p:sp>
      <p:sp>
        <p:nvSpPr>
          <p:cNvPr id="342" name="Google Shape;342;p32"/>
          <p:cNvSpPr txBox="1"/>
          <p:nvPr/>
        </p:nvSpPr>
        <p:spPr>
          <a:xfrm>
            <a:off x="3913023" y="1863091"/>
            <a:ext cx="49084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$ 0</a:t>
            </a:r>
            <a:endParaRPr/>
          </a:p>
        </p:txBody>
      </p:sp>
      <p:sp>
        <p:nvSpPr>
          <p:cNvPr id="343" name="Google Shape;343;p32"/>
          <p:cNvSpPr txBox="1"/>
          <p:nvPr/>
        </p:nvSpPr>
        <p:spPr>
          <a:xfrm>
            <a:off x="3991912" y="2508583"/>
            <a:ext cx="49084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$ 0</a:t>
            </a:r>
            <a:endParaRPr/>
          </a:p>
        </p:txBody>
      </p:sp>
      <p:sp>
        <p:nvSpPr>
          <p:cNvPr id="344" name="Google Shape;344;p32"/>
          <p:cNvSpPr txBox="1"/>
          <p:nvPr/>
        </p:nvSpPr>
        <p:spPr>
          <a:xfrm>
            <a:off x="3861131" y="3612989"/>
            <a:ext cx="97494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$ 500,000</a:t>
            </a:r>
            <a:endParaRPr/>
          </a:p>
        </p:txBody>
      </p:sp>
      <p:sp>
        <p:nvSpPr>
          <p:cNvPr id="345" name="Google Shape;345;p32"/>
          <p:cNvSpPr txBox="1"/>
          <p:nvPr/>
        </p:nvSpPr>
        <p:spPr>
          <a:xfrm>
            <a:off x="3789765" y="4305772"/>
            <a:ext cx="97494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$ 500,000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312544" y="2046068"/>
            <a:ext cx="84670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Supplier?</a:t>
            </a:r>
            <a:endParaRPr/>
          </a:p>
        </p:txBody>
      </p:sp>
      <p:sp>
        <p:nvSpPr>
          <p:cNvPr id="347" name="Google Shape;347;p32"/>
          <p:cNvSpPr txBox="1"/>
          <p:nvPr/>
        </p:nvSpPr>
        <p:spPr>
          <a:xfrm>
            <a:off x="2643721" y="398205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</a:t>
            </a:r>
            <a:endParaRPr/>
          </a:p>
        </p:txBody>
      </p:sp>
      <p:sp>
        <p:nvSpPr>
          <p:cNvPr id="311" name="Google Shape;311;p32"/>
          <p:cNvSpPr/>
          <p:nvPr/>
        </p:nvSpPr>
        <p:spPr>
          <a:xfrm>
            <a:off x="2830026" y="3602229"/>
            <a:ext cx="358346" cy="358346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2"/>
          <p:cNvSpPr/>
          <p:nvPr/>
        </p:nvSpPr>
        <p:spPr>
          <a:xfrm>
            <a:off x="5330850" y="3908031"/>
            <a:ext cx="2679577" cy="80772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2"/>
          <p:cNvSpPr txBox="1"/>
          <p:nvPr/>
        </p:nvSpPr>
        <p:spPr>
          <a:xfrm>
            <a:off x="3258016" y="3990234"/>
            <a:ext cx="228940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6000*$70-$500,000 =$180,000</a:t>
            </a:r>
            <a:endParaRPr/>
          </a:p>
        </p:txBody>
      </p:sp>
      <p:sp>
        <p:nvSpPr>
          <p:cNvPr id="350" name="Google Shape;350;p32"/>
          <p:cNvSpPr txBox="1"/>
          <p:nvPr/>
        </p:nvSpPr>
        <p:spPr>
          <a:xfrm>
            <a:off x="3464603" y="3736588"/>
            <a:ext cx="848309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$80,000</a:t>
            </a:r>
            <a:endParaRPr/>
          </a:p>
        </p:txBody>
      </p:sp>
      <p:sp>
        <p:nvSpPr>
          <p:cNvPr id="351" name="Google Shape;351;p32"/>
          <p:cNvSpPr/>
          <p:nvPr/>
        </p:nvSpPr>
        <p:spPr>
          <a:xfrm>
            <a:off x="3232212" y="3442228"/>
            <a:ext cx="2679577" cy="80772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2"/>
          <p:cNvSpPr txBox="1"/>
          <p:nvPr/>
        </p:nvSpPr>
        <p:spPr>
          <a:xfrm>
            <a:off x="3224421" y="2120279"/>
            <a:ext cx="18213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6000*$50 =$300,000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supplier A can only supply 6000</a:t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3420371" y="1874661"/>
            <a:ext cx="9701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$300,000</a:t>
            </a:r>
            <a:endParaRPr/>
          </a:p>
        </p:txBody>
      </p:sp>
      <p:sp>
        <p:nvSpPr>
          <p:cNvPr id="354" name="Google Shape;354;p32"/>
          <p:cNvSpPr txBox="1"/>
          <p:nvPr/>
        </p:nvSpPr>
        <p:spPr>
          <a:xfrm>
            <a:off x="6364182" y="1892139"/>
            <a:ext cx="2013408" cy="715581"/>
          </a:xfrm>
          <a:prstGeom prst="rect">
            <a:avLst/>
          </a:prstGeom>
          <a:noFill/>
          <a:ln w="381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will be awarded to Supplier 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USA</a:t>
            </a:r>
            <a:endParaRPr dirty="0"/>
          </a:p>
        </p:txBody>
      </p:sp>
      <p:sp>
        <p:nvSpPr>
          <p:cNvPr id="355" name="Google Shape;355;p32"/>
          <p:cNvSpPr/>
          <p:nvPr/>
        </p:nvSpPr>
        <p:spPr>
          <a:xfrm>
            <a:off x="3232211" y="1837745"/>
            <a:ext cx="2679577" cy="807728"/>
          </a:xfrm>
          <a:prstGeom prst="rect">
            <a:avLst/>
          </a:prstGeom>
          <a:noFill/>
          <a:ln w="25400" cap="flat" cmpd="sng">
            <a:solidFill>
              <a:srgbClr val="76923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/>
          <p:nvPr/>
        </p:nvSpPr>
        <p:spPr>
          <a:xfrm>
            <a:off x="1223318" y="2075933"/>
            <a:ext cx="308919" cy="24713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3"/>
          <p:cNvSpPr txBox="1">
            <a:spLocks noGrp="1"/>
          </p:cNvSpPr>
          <p:nvPr>
            <p:ph type="title"/>
          </p:nvPr>
        </p:nvSpPr>
        <p:spPr>
          <a:xfrm>
            <a:off x="191530" y="133351"/>
            <a:ext cx="6641756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Maxi-Maxi Strategy</a:t>
            </a:r>
            <a:endParaRPr/>
          </a:p>
        </p:txBody>
      </p:sp>
      <p:cxnSp>
        <p:nvCxnSpPr>
          <p:cNvPr id="362" name="Google Shape;362;p33"/>
          <p:cNvCxnSpPr>
            <a:stCxn id="360" idx="3"/>
          </p:cNvCxnSpPr>
          <p:nvPr/>
        </p:nvCxnSpPr>
        <p:spPr>
          <a:xfrm rot="10800000" flipH="1">
            <a:off x="1532237" y="1099701"/>
            <a:ext cx="1260300" cy="10998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3" name="Google Shape;363;p33"/>
          <p:cNvCxnSpPr>
            <a:stCxn id="360" idx="3"/>
            <a:endCxn id="364" idx="2"/>
          </p:cNvCxnSpPr>
          <p:nvPr/>
        </p:nvCxnSpPr>
        <p:spPr>
          <a:xfrm>
            <a:off x="1532237" y="2199501"/>
            <a:ext cx="1281900" cy="21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5" name="Google Shape;365;p33"/>
          <p:cNvCxnSpPr>
            <a:stCxn id="360" idx="3"/>
            <a:endCxn id="366" idx="2"/>
          </p:cNvCxnSpPr>
          <p:nvPr/>
        </p:nvCxnSpPr>
        <p:spPr>
          <a:xfrm>
            <a:off x="1532237" y="2199500"/>
            <a:ext cx="1297800" cy="15819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7" name="Google Shape;367;p33"/>
          <p:cNvSpPr txBox="1"/>
          <p:nvPr/>
        </p:nvSpPr>
        <p:spPr>
          <a:xfrm>
            <a:off x="1435904" y="1223246"/>
            <a:ext cx="10823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No one</a:t>
            </a:r>
            <a:endParaRPr/>
          </a:p>
        </p:txBody>
      </p:sp>
      <p:sp>
        <p:nvSpPr>
          <p:cNvPr id="368" name="Google Shape;368;p33"/>
          <p:cNvSpPr/>
          <p:nvPr/>
        </p:nvSpPr>
        <p:spPr>
          <a:xfrm rot="-5400000">
            <a:off x="2749379" y="977194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3"/>
          <p:cNvSpPr txBox="1"/>
          <p:nvPr/>
        </p:nvSpPr>
        <p:spPr>
          <a:xfrm>
            <a:off x="3231554" y="944224"/>
            <a:ext cx="399468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$ 0</a:t>
            </a:r>
            <a:endParaRPr/>
          </a:p>
        </p:txBody>
      </p:sp>
      <p:sp>
        <p:nvSpPr>
          <p:cNvPr id="370" name="Google Shape;370;p33"/>
          <p:cNvSpPr txBox="1"/>
          <p:nvPr/>
        </p:nvSpPr>
        <p:spPr>
          <a:xfrm>
            <a:off x="1827756" y="1952381"/>
            <a:ext cx="127424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USA(A)</a:t>
            </a:r>
            <a:endParaRPr/>
          </a:p>
        </p:txBody>
      </p:sp>
      <p:sp>
        <p:nvSpPr>
          <p:cNvPr id="371" name="Google Shape;371;p33"/>
          <p:cNvSpPr txBox="1"/>
          <p:nvPr/>
        </p:nvSpPr>
        <p:spPr>
          <a:xfrm>
            <a:off x="1293326" y="3158116"/>
            <a:ext cx="127424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China(C)</a:t>
            </a:r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2814251" y="2022576"/>
            <a:ext cx="358346" cy="358346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3"/>
          <p:cNvSpPr txBox="1"/>
          <p:nvPr/>
        </p:nvSpPr>
        <p:spPr>
          <a:xfrm>
            <a:off x="2755977" y="2384021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</a:t>
            </a:r>
            <a:endParaRPr/>
          </a:p>
        </p:txBody>
      </p:sp>
      <p:cxnSp>
        <p:nvCxnSpPr>
          <p:cNvPr id="373" name="Google Shape;373;p33"/>
          <p:cNvCxnSpPr>
            <a:stCxn id="364" idx="6"/>
            <a:endCxn id="374" idx="0"/>
          </p:cNvCxnSpPr>
          <p:nvPr/>
        </p:nvCxnSpPr>
        <p:spPr>
          <a:xfrm rot="10800000" flipH="1">
            <a:off x="3172597" y="1544449"/>
            <a:ext cx="1825800" cy="6573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5" name="Google Shape;375;p33"/>
          <p:cNvCxnSpPr>
            <a:stCxn id="364" idx="6"/>
          </p:cNvCxnSpPr>
          <p:nvPr/>
        </p:nvCxnSpPr>
        <p:spPr>
          <a:xfrm>
            <a:off x="3172597" y="2201749"/>
            <a:ext cx="1825800" cy="5025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4" name="Google Shape;374;p33"/>
          <p:cNvSpPr/>
          <p:nvPr/>
        </p:nvSpPr>
        <p:spPr>
          <a:xfrm rot="-5400000">
            <a:off x="4967417" y="1396181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3"/>
          <p:cNvSpPr txBox="1"/>
          <p:nvPr/>
        </p:nvSpPr>
        <p:spPr>
          <a:xfrm>
            <a:off x="3263899" y="1713366"/>
            <a:ext cx="57419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377" name="Google Shape;377;p33"/>
          <p:cNvSpPr txBox="1"/>
          <p:nvPr/>
        </p:nvSpPr>
        <p:spPr>
          <a:xfrm>
            <a:off x="5356655" y="1610503"/>
            <a:ext cx="18213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6000*$50 =$300,000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supplier A can only supply 6000</a:t>
            </a:r>
            <a:endParaRPr/>
          </a:p>
        </p:txBody>
      </p:sp>
      <p:sp>
        <p:nvSpPr>
          <p:cNvPr id="378" name="Google Shape;378;p33"/>
          <p:cNvSpPr txBox="1"/>
          <p:nvPr/>
        </p:nvSpPr>
        <p:spPr>
          <a:xfrm>
            <a:off x="3825064" y="1457607"/>
            <a:ext cx="101181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15000 units</a:t>
            </a:r>
            <a:endParaRPr/>
          </a:p>
        </p:txBody>
      </p:sp>
      <p:sp>
        <p:nvSpPr>
          <p:cNvPr id="379" name="Google Shape;379;p33"/>
          <p:cNvSpPr txBox="1"/>
          <p:nvPr/>
        </p:nvSpPr>
        <p:spPr>
          <a:xfrm>
            <a:off x="3260139" y="2284954"/>
            <a:ext cx="52770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380" name="Google Shape;380;p33"/>
          <p:cNvSpPr txBox="1"/>
          <p:nvPr/>
        </p:nvSpPr>
        <p:spPr>
          <a:xfrm>
            <a:off x="3982907" y="2205223"/>
            <a:ext cx="92365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6000 units</a:t>
            </a:r>
            <a:endParaRPr/>
          </a:p>
        </p:txBody>
      </p:sp>
      <p:sp>
        <p:nvSpPr>
          <p:cNvPr id="381" name="Google Shape;381;p33"/>
          <p:cNvSpPr/>
          <p:nvPr/>
        </p:nvSpPr>
        <p:spPr>
          <a:xfrm rot="-5400000">
            <a:off x="4967416" y="2544809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3"/>
          <p:cNvSpPr txBox="1"/>
          <p:nvPr/>
        </p:nvSpPr>
        <p:spPr>
          <a:xfrm>
            <a:off x="5307227" y="2681693"/>
            <a:ext cx="182133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6000*$50 =$300,000</a:t>
            </a:r>
            <a:endParaRPr/>
          </a:p>
        </p:txBody>
      </p:sp>
      <p:cxnSp>
        <p:nvCxnSpPr>
          <p:cNvPr id="383" name="Google Shape;383;p33"/>
          <p:cNvCxnSpPr>
            <a:stCxn id="366" idx="6"/>
            <a:endCxn id="384" idx="0"/>
          </p:cNvCxnSpPr>
          <p:nvPr/>
        </p:nvCxnSpPr>
        <p:spPr>
          <a:xfrm rot="10800000" flipH="1">
            <a:off x="3188372" y="3401602"/>
            <a:ext cx="1745100" cy="3798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5" name="Google Shape;385;p33"/>
          <p:cNvCxnSpPr>
            <a:stCxn id="366" idx="6"/>
            <a:endCxn id="386" idx="0"/>
          </p:cNvCxnSpPr>
          <p:nvPr/>
        </p:nvCxnSpPr>
        <p:spPr>
          <a:xfrm>
            <a:off x="3188372" y="3781402"/>
            <a:ext cx="1757700" cy="6891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4" name="Google Shape;384;p33"/>
          <p:cNvSpPr/>
          <p:nvPr/>
        </p:nvSpPr>
        <p:spPr>
          <a:xfrm rot="-5400000">
            <a:off x="4902545" y="3253293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3"/>
          <p:cNvSpPr txBox="1"/>
          <p:nvPr/>
        </p:nvSpPr>
        <p:spPr>
          <a:xfrm>
            <a:off x="3211664" y="3336442"/>
            <a:ext cx="57419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388" name="Google Shape;388;p33"/>
          <p:cNvSpPr txBox="1"/>
          <p:nvPr/>
        </p:nvSpPr>
        <p:spPr>
          <a:xfrm>
            <a:off x="5330851" y="3407623"/>
            <a:ext cx="23695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15000*$70 - $500000 =$550,000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supplier B can all 15000</a:t>
            </a:r>
            <a:endParaRPr/>
          </a:p>
        </p:txBody>
      </p:sp>
      <p:sp>
        <p:nvSpPr>
          <p:cNvPr id="389" name="Google Shape;389;p33"/>
          <p:cNvSpPr txBox="1"/>
          <p:nvPr/>
        </p:nvSpPr>
        <p:spPr>
          <a:xfrm>
            <a:off x="3833755" y="3197942"/>
            <a:ext cx="101181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15000 units</a:t>
            </a:r>
            <a:endParaRPr/>
          </a:p>
        </p:txBody>
      </p:sp>
      <p:sp>
        <p:nvSpPr>
          <p:cNvPr id="390" name="Google Shape;390;p33"/>
          <p:cNvSpPr txBox="1"/>
          <p:nvPr/>
        </p:nvSpPr>
        <p:spPr>
          <a:xfrm>
            <a:off x="3207905" y="3908030"/>
            <a:ext cx="52770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391" name="Google Shape;391;p33"/>
          <p:cNvSpPr txBox="1"/>
          <p:nvPr/>
        </p:nvSpPr>
        <p:spPr>
          <a:xfrm>
            <a:off x="3930010" y="3911535"/>
            <a:ext cx="92365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6000 units</a:t>
            </a:r>
            <a:endParaRPr/>
          </a:p>
        </p:txBody>
      </p:sp>
      <p:sp>
        <p:nvSpPr>
          <p:cNvPr id="386" name="Google Shape;386;p33"/>
          <p:cNvSpPr/>
          <p:nvPr/>
        </p:nvSpPr>
        <p:spPr>
          <a:xfrm rot="-5400000">
            <a:off x="4915182" y="4322348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3"/>
          <p:cNvSpPr txBox="1"/>
          <p:nvPr/>
        </p:nvSpPr>
        <p:spPr>
          <a:xfrm>
            <a:off x="5356655" y="4456037"/>
            <a:ext cx="228940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6000*$70-$500,000 =$180,000</a:t>
            </a:r>
            <a:endParaRPr/>
          </a:p>
        </p:txBody>
      </p:sp>
      <p:sp>
        <p:nvSpPr>
          <p:cNvPr id="393" name="Google Shape;393;p33"/>
          <p:cNvSpPr txBox="1"/>
          <p:nvPr/>
        </p:nvSpPr>
        <p:spPr>
          <a:xfrm>
            <a:off x="5552604" y="1364884"/>
            <a:ext cx="9701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$300,000</a:t>
            </a:r>
            <a:endParaRPr/>
          </a:p>
        </p:txBody>
      </p:sp>
      <p:sp>
        <p:nvSpPr>
          <p:cNvPr id="394" name="Google Shape;394;p33"/>
          <p:cNvSpPr txBox="1"/>
          <p:nvPr/>
        </p:nvSpPr>
        <p:spPr>
          <a:xfrm>
            <a:off x="5552604" y="2453271"/>
            <a:ext cx="9701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$300,000</a:t>
            </a:r>
            <a:endParaRPr/>
          </a:p>
        </p:txBody>
      </p:sp>
      <p:sp>
        <p:nvSpPr>
          <p:cNvPr id="395" name="Google Shape;395;p33"/>
          <p:cNvSpPr txBox="1"/>
          <p:nvPr/>
        </p:nvSpPr>
        <p:spPr>
          <a:xfrm>
            <a:off x="5567463" y="3173916"/>
            <a:ext cx="9701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$550,000</a:t>
            </a:r>
            <a:endParaRPr/>
          </a:p>
        </p:txBody>
      </p:sp>
      <p:sp>
        <p:nvSpPr>
          <p:cNvPr id="396" name="Google Shape;396;p33"/>
          <p:cNvSpPr txBox="1"/>
          <p:nvPr/>
        </p:nvSpPr>
        <p:spPr>
          <a:xfrm>
            <a:off x="5563242" y="4202390"/>
            <a:ext cx="848309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$80,000</a:t>
            </a:r>
            <a:endParaRPr/>
          </a:p>
        </p:txBody>
      </p:sp>
      <p:sp>
        <p:nvSpPr>
          <p:cNvPr id="397" name="Google Shape;397;p33"/>
          <p:cNvSpPr txBox="1"/>
          <p:nvPr/>
        </p:nvSpPr>
        <p:spPr>
          <a:xfrm>
            <a:off x="3913023" y="1863091"/>
            <a:ext cx="49084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$ 0</a:t>
            </a:r>
            <a:endParaRPr/>
          </a:p>
        </p:txBody>
      </p:sp>
      <p:sp>
        <p:nvSpPr>
          <p:cNvPr id="398" name="Google Shape;398;p33"/>
          <p:cNvSpPr txBox="1"/>
          <p:nvPr/>
        </p:nvSpPr>
        <p:spPr>
          <a:xfrm>
            <a:off x="3991912" y="2508583"/>
            <a:ext cx="49084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$ 0</a:t>
            </a:r>
            <a:endParaRPr/>
          </a:p>
        </p:txBody>
      </p:sp>
      <p:sp>
        <p:nvSpPr>
          <p:cNvPr id="399" name="Google Shape;399;p33"/>
          <p:cNvSpPr txBox="1"/>
          <p:nvPr/>
        </p:nvSpPr>
        <p:spPr>
          <a:xfrm>
            <a:off x="3861131" y="3612989"/>
            <a:ext cx="97494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$ 500,000</a:t>
            </a:r>
            <a:endParaRPr/>
          </a:p>
        </p:txBody>
      </p:sp>
      <p:sp>
        <p:nvSpPr>
          <p:cNvPr id="400" name="Google Shape;400;p33"/>
          <p:cNvSpPr txBox="1"/>
          <p:nvPr/>
        </p:nvSpPr>
        <p:spPr>
          <a:xfrm>
            <a:off x="3789765" y="4305772"/>
            <a:ext cx="97494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$ 500,000</a:t>
            </a:r>
            <a:endParaRPr/>
          </a:p>
        </p:txBody>
      </p:sp>
      <p:sp>
        <p:nvSpPr>
          <p:cNvPr id="401" name="Google Shape;401;p33"/>
          <p:cNvSpPr txBox="1"/>
          <p:nvPr/>
        </p:nvSpPr>
        <p:spPr>
          <a:xfrm>
            <a:off x="312544" y="2046068"/>
            <a:ext cx="84670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Supplier?</a:t>
            </a:r>
            <a:endParaRPr/>
          </a:p>
        </p:txBody>
      </p:sp>
      <p:sp>
        <p:nvSpPr>
          <p:cNvPr id="402" name="Google Shape;402;p33"/>
          <p:cNvSpPr txBox="1"/>
          <p:nvPr/>
        </p:nvSpPr>
        <p:spPr>
          <a:xfrm>
            <a:off x="2643721" y="398205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</a:t>
            </a:r>
            <a:endParaRPr/>
          </a:p>
        </p:txBody>
      </p:sp>
      <p:sp>
        <p:nvSpPr>
          <p:cNvPr id="366" name="Google Shape;366;p33"/>
          <p:cNvSpPr/>
          <p:nvPr/>
        </p:nvSpPr>
        <p:spPr>
          <a:xfrm>
            <a:off x="2830026" y="3602229"/>
            <a:ext cx="358346" cy="358346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3"/>
          <p:cNvSpPr/>
          <p:nvPr/>
        </p:nvSpPr>
        <p:spPr>
          <a:xfrm>
            <a:off x="5291784" y="3031419"/>
            <a:ext cx="2679577" cy="807728"/>
          </a:xfrm>
          <a:prstGeom prst="rect">
            <a:avLst/>
          </a:prstGeom>
          <a:noFill/>
          <a:ln w="25400" cap="flat" cmpd="sng">
            <a:solidFill>
              <a:srgbClr val="76923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3"/>
          <p:cNvSpPr txBox="1"/>
          <p:nvPr/>
        </p:nvSpPr>
        <p:spPr>
          <a:xfrm>
            <a:off x="6784188" y="3504727"/>
            <a:ext cx="2013408" cy="715581"/>
          </a:xfrm>
          <a:prstGeom prst="rect">
            <a:avLst/>
          </a:prstGeom>
          <a:noFill/>
          <a:ln w="381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will be awarded to Supplier B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China</a:t>
            </a:r>
            <a:endParaRPr/>
          </a:p>
        </p:txBody>
      </p:sp>
      <p:grpSp>
        <p:nvGrpSpPr>
          <p:cNvPr id="405" name="Google Shape;405;p33"/>
          <p:cNvGrpSpPr/>
          <p:nvPr/>
        </p:nvGrpSpPr>
        <p:grpSpPr>
          <a:xfrm>
            <a:off x="3241862" y="3423256"/>
            <a:ext cx="2679577" cy="807728"/>
            <a:chOff x="7208111" y="4194291"/>
            <a:chExt cx="3572769" cy="1076971"/>
          </a:xfrm>
        </p:grpSpPr>
        <p:sp>
          <p:nvSpPr>
            <p:cNvPr id="406" name="Google Shape;406;p33"/>
            <p:cNvSpPr txBox="1"/>
            <p:nvPr/>
          </p:nvSpPr>
          <p:spPr>
            <a:xfrm>
              <a:off x="7260200" y="4695896"/>
              <a:ext cx="3159412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Gross Profit = 15000*$70 - $500000 =$550,000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 supplier B can all 15000</a:t>
              </a:r>
              <a:endParaRPr/>
            </a:p>
          </p:txBody>
        </p:sp>
        <p:sp>
          <p:nvSpPr>
            <p:cNvPr id="407" name="Google Shape;407;p33"/>
            <p:cNvSpPr txBox="1"/>
            <p:nvPr/>
          </p:nvSpPr>
          <p:spPr>
            <a:xfrm>
              <a:off x="7575683" y="4384288"/>
              <a:ext cx="1293516" cy="400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 $550,000</a:t>
              </a:r>
              <a:endParaRPr/>
            </a:p>
          </p:txBody>
        </p:sp>
        <p:sp>
          <p:nvSpPr>
            <p:cNvPr id="408" name="Google Shape;408;p33"/>
            <p:cNvSpPr/>
            <p:nvPr/>
          </p:nvSpPr>
          <p:spPr>
            <a:xfrm>
              <a:off x="7208111" y="4194291"/>
              <a:ext cx="3572769" cy="1076971"/>
            </a:xfrm>
            <a:prstGeom prst="rect">
              <a:avLst/>
            </a:prstGeom>
            <a:noFill/>
            <a:ln w="25400" cap="flat" cmpd="sng">
              <a:solidFill>
                <a:srgbClr val="76923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9" name="Google Shape;409;p33"/>
          <p:cNvSpPr txBox="1"/>
          <p:nvPr/>
        </p:nvSpPr>
        <p:spPr>
          <a:xfrm>
            <a:off x="3461896" y="2162725"/>
            <a:ext cx="18213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6000*$50 =$300,000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supplier A can only supply 6000</a:t>
            </a:r>
            <a:endParaRPr/>
          </a:p>
        </p:txBody>
      </p:sp>
      <p:sp>
        <p:nvSpPr>
          <p:cNvPr id="410" name="Google Shape;410;p33"/>
          <p:cNvSpPr txBox="1"/>
          <p:nvPr/>
        </p:nvSpPr>
        <p:spPr>
          <a:xfrm>
            <a:off x="3657846" y="1917106"/>
            <a:ext cx="9701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$300,000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4"/>
          <p:cNvSpPr/>
          <p:nvPr/>
        </p:nvSpPr>
        <p:spPr>
          <a:xfrm>
            <a:off x="1223318" y="2075933"/>
            <a:ext cx="308919" cy="24713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4"/>
          <p:cNvSpPr txBox="1">
            <a:spLocks noGrp="1"/>
          </p:cNvSpPr>
          <p:nvPr>
            <p:ph type="title"/>
          </p:nvPr>
        </p:nvSpPr>
        <p:spPr>
          <a:xfrm>
            <a:off x="191530" y="133351"/>
            <a:ext cx="6641756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Maximize Expected Value Strategy</a:t>
            </a:r>
            <a:endParaRPr/>
          </a:p>
        </p:txBody>
      </p:sp>
      <p:cxnSp>
        <p:nvCxnSpPr>
          <p:cNvPr id="417" name="Google Shape;417;p34"/>
          <p:cNvCxnSpPr>
            <a:stCxn id="415" idx="3"/>
          </p:cNvCxnSpPr>
          <p:nvPr/>
        </p:nvCxnSpPr>
        <p:spPr>
          <a:xfrm rot="10800000" flipH="1">
            <a:off x="1532237" y="1099701"/>
            <a:ext cx="1260300" cy="10998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8" name="Google Shape;418;p34"/>
          <p:cNvCxnSpPr>
            <a:stCxn id="415" idx="3"/>
            <a:endCxn id="419" idx="2"/>
          </p:cNvCxnSpPr>
          <p:nvPr/>
        </p:nvCxnSpPr>
        <p:spPr>
          <a:xfrm>
            <a:off x="1532237" y="2199501"/>
            <a:ext cx="1281900" cy="21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0" name="Google Shape;420;p34"/>
          <p:cNvCxnSpPr>
            <a:stCxn id="415" idx="3"/>
            <a:endCxn id="421" idx="2"/>
          </p:cNvCxnSpPr>
          <p:nvPr/>
        </p:nvCxnSpPr>
        <p:spPr>
          <a:xfrm>
            <a:off x="1532237" y="2199500"/>
            <a:ext cx="1297800" cy="15819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2" name="Google Shape;422;p34"/>
          <p:cNvSpPr txBox="1"/>
          <p:nvPr/>
        </p:nvSpPr>
        <p:spPr>
          <a:xfrm>
            <a:off x="1435904" y="1223246"/>
            <a:ext cx="10823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No one</a:t>
            </a:r>
            <a:endParaRPr/>
          </a:p>
        </p:txBody>
      </p:sp>
      <p:sp>
        <p:nvSpPr>
          <p:cNvPr id="423" name="Google Shape;423;p34"/>
          <p:cNvSpPr/>
          <p:nvPr/>
        </p:nvSpPr>
        <p:spPr>
          <a:xfrm rot="-5400000">
            <a:off x="2749379" y="977194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4"/>
          <p:cNvSpPr txBox="1"/>
          <p:nvPr/>
        </p:nvSpPr>
        <p:spPr>
          <a:xfrm>
            <a:off x="3231554" y="944224"/>
            <a:ext cx="399468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$ 0</a:t>
            </a:r>
            <a:endParaRPr/>
          </a:p>
        </p:txBody>
      </p:sp>
      <p:sp>
        <p:nvSpPr>
          <p:cNvPr id="425" name="Google Shape;425;p34"/>
          <p:cNvSpPr txBox="1"/>
          <p:nvPr/>
        </p:nvSpPr>
        <p:spPr>
          <a:xfrm>
            <a:off x="1827756" y="1952381"/>
            <a:ext cx="127424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USA(A)</a:t>
            </a:r>
            <a:endParaRPr/>
          </a:p>
        </p:txBody>
      </p:sp>
      <p:sp>
        <p:nvSpPr>
          <p:cNvPr id="426" name="Google Shape;426;p34"/>
          <p:cNvSpPr txBox="1"/>
          <p:nvPr/>
        </p:nvSpPr>
        <p:spPr>
          <a:xfrm>
            <a:off x="1293326" y="3158116"/>
            <a:ext cx="127424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China(C)</a:t>
            </a:r>
            <a:endParaRPr/>
          </a:p>
        </p:txBody>
      </p:sp>
      <p:sp>
        <p:nvSpPr>
          <p:cNvPr id="419" name="Google Shape;419;p34"/>
          <p:cNvSpPr/>
          <p:nvPr/>
        </p:nvSpPr>
        <p:spPr>
          <a:xfrm>
            <a:off x="2814251" y="2022576"/>
            <a:ext cx="358346" cy="358346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4"/>
          <p:cNvSpPr txBox="1"/>
          <p:nvPr/>
        </p:nvSpPr>
        <p:spPr>
          <a:xfrm>
            <a:off x="2755977" y="2384021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</a:t>
            </a:r>
            <a:endParaRPr/>
          </a:p>
        </p:txBody>
      </p:sp>
      <p:cxnSp>
        <p:nvCxnSpPr>
          <p:cNvPr id="428" name="Google Shape;428;p34"/>
          <p:cNvCxnSpPr>
            <a:stCxn id="419" idx="6"/>
            <a:endCxn id="429" idx="0"/>
          </p:cNvCxnSpPr>
          <p:nvPr/>
        </p:nvCxnSpPr>
        <p:spPr>
          <a:xfrm rot="10800000" flipH="1">
            <a:off x="3172597" y="1544449"/>
            <a:ext cx="1825800" cy="6573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0" name="Google Shape;430;p34"/>
          <p:cNvCxnSpPr>
            <a:stCxn id="419" idx="6"/>
          </p:cNvCxnSpPr>
          <p:nvPr/>
        </p:nvCxnSpPr>
        <p:spPr>
          <a:xfrm>
            <a:off x="3172597" y="2201749"/>
            <a:ext cx="1825800" cy="5025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9" name="Google Shape;429;p34"/>
          <p:cNvSpPr/>
          <p:nvPr/>
        </p:nvSpPr>
        <p:spPr>
          <a:xfrm rot="-5400000">
            <a:off x="4967417" y="1396181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4"/>
          <p:cNvSpPr txBox="1"/>
          <p:nvPr/>
        </p:nvSpPr>
        <p:spPr>
          <a:xfrm>
            <a:off x="3263899" y="1713366"/>
            <a:ext cx="57419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432" name="Google Shape;432;p34"/>
          <p:cNvSpPr txBox="1"/>
          <p:nvPr/>
        </p:nvSpPr>
        <p:spPr>
          <a:xfrm>
            <a:off x="5356655" y="1610503"/>
            <a:ext cx="18213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6000*$50 =$300,000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supplier A can only supply 6000</a:t>
            </a:r>
            <a:endParaRPr/>
          </a:p>
        </p:txBody>
      </p:sp>
      <p:sp>
        <p:nvSpPr>
          <p:cNvPr id="433" name="Google Shape;433;p34"/>
          <p:cNvSpPr txBox="1"/>
          <p:nvPr/>
        </p:nvSpPr>
        <p:spPr>
          <a:xfrm>
            <a:off x="3825064" y="1457607"/>
            <a:ext cx="101181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15000 units</a:t>
            </a:r>
            <a:endParaRPr/>
          </a:p>
        </p:txBody>
      </p:sp>
      <p:sp>
        <p:nvSpPr>
          <p:cNvPr id="434" name="Google Shape;434;p34"/>
          <p:cNvSpPr txBox="1"/>
          <p:nvPr/>
        </p:nvSpPr>
        <p:spPr>
          <a:xfrm>
            <a:off x="3260139" y="2284954"/>
            <a:ext cx="52770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435" name="Google Shape;435;p34"/>
          <p:cNvSpPr txBox="1"/>
          <p:nvPr/>
        </p:nvSpPr>
        <p:spPr>
          <a:xfrm>
            <a:off x="3982907" y="2205223"/>
            <a:ext cx="92365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6000 units</a:t>
            </a:r>
            <a:endParaRPr/>
          </a:p>
        </p:txBody>
      </p:sp>
      <p:sp>
        <p:nvSpPr>
          <p:cNvPr id="436" name="Google Shape;436;p34"/>
          <p:cNvSpPr/>
          <p:nvPr/>
        </p:nvSpPr>
        <p:spPr>
          <a:xfrm rot="-5400000">
            <a:off x="4967416" y="2544809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4"/>
          <p:cNvSpPr txBox="1"/>
          <p:nvPr/>
        </p:nvSpPr>
        <p:spPr>
          <a:xfrm>
            <a:off x="5307227" y="2681693"/>
            <a:ext cx="182133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6000*$50 =$300,000</a:t>
            </a:r>
            <a:endParaRPr/>
          </a:p>
        </p:txBody>
      </p:sp>
      <p:cxnSp>
        <p:nvCxnSpPr>
          <p:cNvPr id="438" name="Google Shape;438;p34"/>
          <p:cNvCxnSpPr>
            <a:stCxn id="421" idx="6"/>
            <a:endCxn id="439" idx="0"/>
          </p:cNvCxnSpPr>
          <p:nvPr/>
        </p:nvCxnSpPr>
        <p:spPr>
          <a:xfrm rot="10800000" flipH="1">
            <a:off x="3188372" y="3401602"/>
            <a:ext cx="1745100" cy="3798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0" name="Google Shape;440;p34"/>
          <p:cNvCxnSpPr>
            <a:stCxn id="421" idx="6"/>
            <a:endCxn id="441" idx="0"/>
          </p:cNvCxnSpPr>
          <p:nvPr/>
        </p:nvCxnSpPr>
        <p:spPr>
          <a:xfrm>
            <a:off x="3188372" y="3781402"/>
            <a:ext cx="1757700" cy="6891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39" name="Google Shape;439;p34"/>
          <p:cNvSpPr/>
          <p:nvPr/>
        </p:nvSpPr>
        <p:spPr>
          <a:xfrm rot="-5400000">
            <a:off x="4902545" y="3253293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4"/>
          <p:cNvSpPr txBox="1"/>
          <p:nvPr/>
        </p:nvSpPr>
        <p:spPr>
          <a:xfrm>
            <a:off x="3211664" y="3336442"/>
            <a:ext cx="57419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443" name="Google Shape;443;p34"/>
          <p:cNvSpPr txBox="1"/>
          <p:nvPr/>
        </p:nvSpPr>
        <p:spPr>
          <a:xfrm>
            <a:off x="5330851" y="3407623"/>
            <a:ext cx="23695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15000*$70 - $500000 =$550,000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supplier B can all 15000</a:t>
            </a:r>
            <a:endParaRPr/>
          </a:p>
        </p:txBody>
      </p:sp>
      <p:sp>
        <p:nvSpPr>
          <p:cNvPr id="444" name="Google Shape;444;p34"/>
          <p:cNvSpPr txBox="1"/>
          <p:nvPr/>
        </p:nvSpPr>
        <p:spPr>
          <a:xfrm>
            <a:off x="3833755" y="3197942"/>
            <a:ext cx="101181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15000 units</a:t>
            </a:r>
            <a:endParaRPr/>
          </a:p>
        </p:txBody>
      </p:sp>
      <p:sp>
        <p:nvSpPr>
          <p:cNvPr id="445" name="Google Shape;445;p34"/>
          <p:cNvSpPr txBox="1"/>
          <p:nvPr/>
        </p:nvSpPr>
        <p:spPr>
          <a:xfrm>
            <a:off x="3207905" y="3908030"/>
            <a:ext cx="52770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446" name="Google Shape;446;p34"/>
          <p:cNvSpPr txBox="1"/>
          <p:nvPr/>
        </p:nvSpPr>
        <p:spPr>
          <a:xfrm>
            <a:off x="3930010" y="3911535"/>
            <a:ext cx="92365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6000 units</a:t>
            </a:r>
            <a:endParaRPr/>
          </a:p>
        </p:txBody>
      </p:sp>
      <p:sp>
        <p:nvSpPr>
          <p:cNvPr id="441" name="Google Shape;441;p34"/>
          <p:cNvSpPr/>
          <p:nvPr/>
        </p:nvSpPr>
        <p:spPr>
          <a:xfrm rot="-5400000">
            <a:off x="4915182" y="4322348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4"/>
          <p:cNvSpPr txBox="1"/>
          <p:nvPr/>
        </p:nvSpPr>
        <p:spPr>
          <a:xfrm>
            <a:off x="5356655" y="4456037"/>
            <a:ext cx="228940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Gross Profit = 6000*$70-$500,000 =$180,000</a:t>
            </a:r>
            <a:endParaRPr/>
          </a:p>
        </p:txBody>
      </p:sp>
      <p:sp>
        <p:nvSpPr>
          <p:cNvPr id="448" name="Google Shape;448;p34"/>
          <p:cNvSpPr txBox="1"/>
          <p:nvPr/>
        </p:nvSpPr>
        <p:spPr>
          <a:xfrm>
            <a:off x="5552604" y="1364884"/>
            <a:ext cx="9701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$300,000</a:t>
            </a:r>
            <a:endParaRPr/>
          </a:p>
        </p:txBody>
      </p:sp>
      <p:sp>
        <p:nvSpPr>
          <p:cNvPr id="449" name="Google Shape;449;p34"/>
          <p:cNvSpPr txBox="1"/>
          <p:nvPr/>
        </p:nvSpPr>
        <p:spPr>
          <a:xfrm>
            <a:off x="5552604" y="2453271"/>
            <a:ext cx="9701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$300,000</a:t>
            </a:r>
            <a:endParaRPr/>
          </a:p>
        </p:txBody>
      </p:sp>
      <p:sp>
        <p:nvSpPr>
          <p:cNvPr id="450" name="Google Shape;450;p34"/>
          <p:cNvSpPr txBox="1"/>
          <p:nvPr/>
        </p:nvSpPr>
        <p:spPr>
          <a:xfrm>
            <a:off x="5567463" y="3173916"/>
            <a:ext cx="9701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$550,000</a:t>
            </a:r>
            <a:endParaRPr/>
          </a:p>
        </p:txBody>
      </p:sp>
      <p:sp>
        <p:nvSpPr>
          <p:cNvPr id="451" name="Google Shape;451;p34"/>
          <p:cNvSpPr txBox="1"/>
          <p:nvPr/>
        </p:nvSpPr>
        <p:spPr>
          <a:xfrm>
            <a:off x="5563242" y="4202390"/>
            <a:ext cx="848309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$80,000</a:t>
            </a:r>
            <a:endParaRPr/>
          </a:p>
        </p:txBody>
      </p:sp>
      <p:sp>
        <p:nvSpPr>
          <p:cNvPr id="452" name="Google Shape;452;p34"/>
          <p:cNvSpPr txBox="1"/>
          <p:nvPr/>
        </p:nvSpPr>
        <p:spPr>
          <a:xfrm>
            <a:off x="3913023" y="1863091"/>
            <a:ext cx="49084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$ 0</a:t>
            </a:r>
            <a:endParaRPr/>
          </a:p>
        </p:txBody>
      </p:sp>
      <p:sp>
        <p:nvSpPr>
          <p:cNvPr id="453" name="Google Shape;453;p34"/>
          <p:cNvSpPr txBox="1"/>
          <p:nvPr/>
        </p:nvSpPr>
        <p:spPr>
          <a:xfrm>
            <a:off x="3991912" y="2508583"/>
            <a:ext cx="49084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$ 0</a:t>
            </a:r>
            <a:endParaRPr/>
          </a:p>
        </p:txBody>
      </p:sp>
      <p:sp>
        <p:nvSpPr>
          <p:cNvPr id="454" name="Google Shape;454;p34"/>
          <p:cNvSpPr txBox="1"/>
          <p:nvPr/>
        </p:nvSpPr>
        <p:spPr>
          <a:xfrm>
            <a:off x="3861131" y="3612989"/>
            <a:ext cx="97494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$ 500,000</a:t>
            </a:r>
            <a:endParaRPr/>
          </a:p>
        </p:txBody>
      </p:sp>
      <p:sp>
        <p:nvSpPr>
          <p:cNvPr id="455" name="Google Shape;455;p34"/>
          <p:cNvSpPr txBox="1"/>
          <p:nvPr/>
        </p:nvSpPr>
        <p:spPr>
          <a:xfrm>
            <a:off x="3789765" y="4305772"/>
            <a:ext cx="97494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$ 500,000</a:t>
            </a:r>
            <a:endParaRPr/>
          </a:p>
        </p:txBody>
      </p:sp>
      <p:sp>
        <p:nvSpPr>
          <p:cNvPr id="456" name="Google Shape;456;p34"/>
          <p:cNvSpPr txBox="1"/>
          <p:nvPr/>
        </p:nvSpPr>
        <p:spPr>
          <a:xfrm>
            <a:off x="312544" y="2046068"/>
            <a:ext cx="84670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Supplier?</a:t>
            </a:r>
            <a:endParaRPr/>
          </a:p>
        </p:txBody>
      </p:sp>
      <p:sp>
        <p:nvSpPr>
          <p:cNvPr id="457" name="Google Shape;457;p34"/>
          <p:cNvSpPr txBox="1"/>
          <p:nvPr/>
        </p:nvSpPr>
        <p:spPr>
          <a:xfrm>
            <a:off x="2643721" y="398205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</a:t>
            </a:r>
            <a:endParaRPr/>
          </a:p>
        </p:txBody>
      </p:sp>
      <p:sp>
        <p:nvSpPr>
          <p:cNvPr id="421" name="Google Shape;421;p34"/>
          <p:cNvSpPr/>
          <p:nvPr/>
        </p:nvSpPr>
        <p:spPr>
          <a:xfrm>
            <a:off x="2830026" y="3602229"/>
            <a:ext cx="358346" cy="358346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4"/>
          <p:cNvSpPr/>
          <p:nvPr/>
        </p:nvSpPr>
        <p:spPr>
          <a:xfrm>
            <a:off x="5304420" y="3072537"/>
            <a:ext cx="2568146" cy="1629788"/>
          </a:xfrm>
          <a:prstGeom prst="rect">
            <a:avLst/>
          </a:prstGeom>
          <a:noFill/>
          <a:ln w="38100" cap="flat" cmpd="sng">
            <a:solidFill>
              <a:srgbClr val="76923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4"/>
          <p:cNvSpPr/>
          <p:nvPr/>
        </p:nvSpPr>
        <p:spPr>
          <a:xfrm>
            <a:off x="3408405" y="3369969"/>
            <a:ext cx="2568146" cy="937631"/>
          </a:xfrm>
          <a:prstGeom prst="rect">
            <a:avLst/>
          </a:prstGeom>
          <a:noFill/>
          <a:ln w="38100" cap="flat" cmpd="sng">
            <a:solidFill>
              <a:srgbClr val="76923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 x 550,000 + 0.5 x (-80,000) =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275,000 – 40,000 =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$235,000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4"/>
          <p:cNvSpPr/>
          <p:nvPr/>
        </p:nvSpPr>
        <p:spPr>
          <a:xfrm>
            <a:off x="3322933" y="1702325"/>
            <a:ext cx="2568146" cy="906748"/>
          </a:xfrm>
          <a:prstGeom prst="rect">
            <a:avLst/>
          </a:prstGeom>
          <a:noFill/>
          <a:ln w="38100" cap="flat" cmpd="sng">
            <a:solidFill>
              <a:srgbClr val="76923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 x 300,000 + 0.5 x 300,000 =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$300,000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4"/>
          <p:cNvSpPr txBox="1"/>
          <p:nvPr/>
        </p:nvSpPr>
        <p:spPr>
          <a:xfrm>
            <a:off x="6364182" y="1892139"/>
            <a:ext cx="2013408" cy="715581"/>
          </a:xfrm>
          <a:prstGeom prst="rect">
            <a:avLst/>
          </a:prstGeom>
          <a:noFill/>
          <a:ln w="381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will be awarded to Supplier 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USA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5"/>
          <p:cNvSpPr txBox="1">
            <a:spLocks noGrp="1"/>
          </p:cNvSpPr>
          <p:nvPr>
            <p:ph type="ctrTitle"/>
          </p:nvPr>
        </p:nvSpPr>
        <p:spPr>
          <a:xfrm>
            <a:off x="685800" y="1597820"/>
            <a:ext cx="7772400" cy="151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What if the Demand when market in weak is not single value like 6000 units but a range like between 3000 to 8000 units?</a:t>
            </a:r>
            <a:br>
              <a:rPr lang="en-US" sz="2400"/>
            </a:br>
            <a:br>
              <a:rPr lang="en-US" sz="2400"/>
            </a:br>
            <a:r>
              <a:rPr lang="en-US" sz="2400"/>
              <a:t>This is the usual scenario in practice.</a:t>
            </a:r>
            <a:endParaRPr sz="105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6"/>
          <p:cNvSpPr/>
          <p:nvPr/>
        </p:nvSpPr>
        <p:spPr>
          <a:xfrm>
            <a:off x="1769420" y="1955741"/>
            <a:ext cx="308919" cy="24713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2" name="Google Shape;472;p36"/>
          <p:cNvCxnSpPr>
            <a:stCxn id="471" idx="3"/>
          </p:cNvCxnSpPr>
          <p:nvPr/>
        </p:nvCxnSpPr>
        <p:spPr>
          <a:xfrm rot="10800000" flipH="1">
            <a:off x="2078339" y="979509"/>
            <a:ext cx="1260300" cy="10998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3" name="Google Shape;473;p36"/>
          <p:cNvCxnSpPr>
            <a:stCxn id="471" idx="3"/>
            <a:endCxn id="474" idx="2"/>
          </p:cNvCxnSpPr>
          <p:nvPr/>
        </p:nvCxnSpPr>
        <p:spPr>
          <a:xfrm>
            <a:off x="2078339" y="2079309"/>
            <a:ext cx="1281900" cy="21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5" name="Google Shape;475;p36"/>
          <p:cNvSpPr txBox="1"/>
          <p:nvPr/>
        </p:nvSpPr>
        <p:spPr>
          <a:xfrm>
            <a:off x="1982005" y="1103054"/>
            <a:ext cx="10823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No one</a:t>
            </a:r>
            <a:endParaRPr/>
          </a:p>
        </p:txBody>
      </p:sp>
      <p:sp>
        <p:nvSpPr>
          <p:cNvPr id="476" name="Google Shape;476;p36"/>
          <p:cNvSpPr/>
          <p:nvPr/>
        </p:nvSpPr>
        <p:spPr>
          <a:xfrm rot="-5400000">
            <a:off x="3295480" y="857002"/>
            <a:ext cx="358346" cy="2965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6"/>
          <p:cNvSpPr txBox="1"/>
          <p:nvPr/>
        </p:nvSpPr>
        <p:spPr>
          <a:xfrm>
            <a:off x="3777655" y="824032"/>
            <a:ext cx="399468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$ 0</a:t>
            </a:r>
            <a:endParaRPr/>
          </a:p>
        </p:txBody>
      </p:sp>
      <p:sp>
        <p:nvSpPr>
          <p:cNvPr id="478" name="Google Shape;478;p36"/>
          <p:cNvSpPr txBox="1"/>
          <p:nvPr/>
        </p:nvSpPr>
        <p:spPr>
          <a:xfrm>
            <a:off x="2373857" y="1832189"/>
            <a:ext cx="127424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USA(A)</a:t>
            </a:r>
            <a:endParaRPr/>
          </a:p>
        </p:txBody>
      </p:sp>
      <p:sp>
        <p:nvSpPr>
          <p:cNvPr id="474" name="Google Shape;474;p36"/>
          <p:cNvSpPr/>
          <p:nvPr/>
        </p:nvSpPr>
        <p:spPr>
          <a:xfrm>
            <a:off x="3360352" y="1902384"/>
            <a:ext cx="358346" cy="358346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6"/>
          <p:cNvSpPr txBox="1"/>
          <p:nvPr/>
        </p:nvSpPr>
        <p:spPr>
          <a:xfrm>
            <a:off x="3302078" y="2263829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</a:t>
            </a:r>
            <a:endParaRPr/>
          </a:p>
        </p:txBody>
      </p:sp>
      <p:cxnSp>
        <p:nvCxnSpPr>
          <p:cNvPr id="480" name="Google Shape;480;p36"/>
          <p:cNvCxnSpPr>
            <a:stCxn id="474" idx="6"/>
          </p:cNvCxnSpPr>
          <p:nvPr/>
        </p:nvCxnSpPr>
        <p:spPr>
          <a:xfrm rot="10800000" flipH="1">
            <a:off x="3718698" y="1424257"/>
            <a:ext cx="1825800" cy="6573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1" name="Google Shape;481;p36"/>
          <p:cNvCxnSpPr>
            <a:stCxn id="474" idx="6"/>
          </p:cNvCxnSpPr>
          <p:nvPr/>
        </p:nvCxnSpPr>
        <p:spPr>
          <a:xfrm>
            <a:off x="3718698" y="2081557"/>
            <a:ext cx="1796100" cy="10578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2" name="Google Shape;482;p36"/>
          <p:cNvSpPr txBox="1"/>
          <p:nvPr/>
        </p:nvSpPr>
        <p:spPr>
          <a:xfrm>
            <a:off x="4525458" y="1360498"/>
            <a:ext cx="57419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483" name="Google Shape;483;p36"/>
          <p:cNvSpPr txBox="1"/>
          <p:nvPr/>
        </p:nvSpPr>
        <p:spPr>
          <a:xfrm>
            <a:off x="4392858" y="2672080"/>
            <a:ext cx="52770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484" name="Google Shape;484;p36"/>
          <p:cNvSpPr txBox="1"/>
          <p:nvPr/>
        </p:nvSpPr>
        <p:spPr>
          <a:xfrm>
            <a:off x="858645" y="1925876"/>
            <a:ext cx="84670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Supplier?</a:t>
            </a:r>
            <a:endParaRPr/>
          </a:p>
        </p:txBody>
      </p:sp>
      <p:sp>
        <p:nvSpPr>
          <p:cNvPr id="485" name="Google Shape;485;p36"/>
          <p:cNvSpPr/>
          <p:nvPr/>
        </p:nvSpPr>
        <p:spPr>
          <a:xfrm rot="1899053">
            <a:off x="5544410" y="1171087"/>
            <a:ext cx="358346" cy="358346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" name="Google Shape;486;p36"/>
          <p:cNvCxnSpPr>
            <a:stCxn id="485" idx="7"/>
          </p:cNvCxnSpPr>
          <p:nvPr/>
        </p:nvCxnSpPr>
        <p:spPr>
          <a:xfrm rot="10800000" flipH="1">
            <a:off x="5897915" y="530392"/>
            <a:ext cx="1008600" cy="7785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7" name="Google Shape;487;p36"/>
          <p:cNvCxnSpPr>
            <a:stCxn id="485" idx="7"/>
          </p:cNvCxnSpPr>
          <p:nvPr/>
        </p:nvCxnSpPr>
        <p:spPr>
          <a:xfrm rot="10800000" flipH="1">
            <a:off x="5897915" y="712192"/>
            <a:ext cx="973200" cy="5967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8" name="Google Shape;488;p36"/>
          <p:cNvCxnSpPr>
            <a:stCxn id="485" idx="7"/>
          </p:cNvCxnSpPr>
          <p:nvPr/>
        </p:nvCxnSpPr>
        <p:spPr>
          <a:xfrm rot="10800000" flipH="1">
            <a:off x="5897915" y="857692"/>
            <a:ext cx="951600" cy="451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9" name="Google Shape;489;p36"/>
          <p:cNvCxnSpPr>
            <a:stCxn id="485" idx="7"/>
          </p:cNvCxnSpPr>
          <p:nvPr/>
        </p:nvCxnSpPr>
        <p:spPr>
          <a:xfrm rot="10800000" flipH="1">
            <a:off x="5897915" y="1269892"/>
            <a:ext cx="947400" cy="390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90" name="Google Shape;490;p36"/>
          <p:cNvCxnSpPr>
            <a:stCxn id="485" idx="7"/>
          </p:cNvCxnSpPr>
          <p:nvPr/>
        </p:nvCxnSpPr>
        <p:spPr>
          <a:xfrm>
            <a:off x="5897915" y="1308892"/>
            <a:ext cx="937500" cy="600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91" name="Google Shape;491;p36"/>
          <p:cNvCxnSpPr>
            <a:stCxn id="485" idx="7"/>
          </p:cNvCxnSpPr>
          <p:nvPr/>
        </p:nvCxnSpPr>
        <p:spPr>
          <a:xfrm>
            <a:off x="5897915" y="1308892"/>
            <a:ext cx="973200" cy="2205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2" name="Google Shape;492;p36"/>
          <p:cNvSpPr txBox="1"/>
          <p:nvPr/>
        </p:nvSpPr>
        <p:spPr>
          <a:xfrm>
            <a:off x="7176931" y="829422"/>
            <a:ext cx="227948" cy="527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6"/>
          <p:cNvSpPr txBox="1"/>
          <p:nvPr/>
        </p:nvSpPr>
        <p:spPr>
          <a:xfrm>
            <a:off x="6900121" y="398881"/>
            <a:ext cx="105509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12,000 units</a:t>
            </a:r>
            <a:endParaRPr/>
          </a:p>
        </p:txBody>
      </p:sp>
      <p:sp>
        <p:nvSpPr>
          <p:cNvPr id="494" name="Google Shape;494;p36"/>
          <p:cNvSpPr txBox="1"/>
          <p:nvPr/>
        </p:nvSpPr>
        <p:spPr>
          <a:xfrm>
            <a:off x="6900121" y="1390933"/>
            <a:ext cx="105509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17,000 units</a:t>
            </a:r>
            <a:endParaRPr/>
          </a:p>
        </p:txBody>
      </p:sp>
      <p:cxnSp>
        <p:nvCxnSpPr>
          <p:cNvPr id="495" name="Google Shape;495;p36"/>
          <p:cNvCxnSpPr>
            <a:stCxn id="485" idx="7"/>
          </p:cNvCxnSpPr>
          <p:nvPr/>
        </p:nvCxnSpPr>
        <p:spPr>
          <a:xfrm rot="10800000" flipH="1">
            <a:off x="5897915" y="989392"/>
            <a:ext cx="973200" cy="3195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96" name="Google Shape;496;p36"/>
          <p:cNvCxnSpPr>
            <a:stCxn id="485" idx="7"/>
          </p:cNvCxnSpPr>
          <p:nvPr/>
        </p:nvCxnSpPr>
        <p:spPr>
          <a:xfrm rot="10800000" flipH="1">
            <a:off x="5897915" y="1117492"/>
            <a:ext cx="947400" cy="1914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7" name="Google Shape;497;p36"/>
          <p:cNvSpPr/>
          <p:nvPr/>
        </p:nvSpPr>
        <p:spPr>
          <a:xfrm rot="3698321">
            <a:off x="5523934" y="2960140"/>
            <a:ext cx="358346" cy="358346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36"/>
          <p:cNvCxnSpPr>
            <a:stCxn id="497" idx="7"/>
          </p:cNvCxnSpPr>
          <p:nvPr/>
        </p:nvCxnSpPr>
        <p:spPr>
          <a:xfrm rot="10800000" flipH="1">
            <a:off x="5874778" y="2319417"/>
            <a:ext cx="1011300" cy="871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99" name="Google Shape;499;p36"/>
          <p:cNvCxnSpPr>
            <a:stCxn id="497" idx="7"/>
          </p:cNvCxnSpPr>
          <p:nvPr/>
        </p:nvCxnSpPr>
        <p:spPr>
          <a:xfrm rot="10800000" flipH="1">
            <a:off x="5874778" y="2501217"/>
            <a:ext cx="975900" cy="6894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0" name="Google Shape;500;p36"/>
          <p:cNvCxnSpPr>
            <a:stCxn id="497" idx="7"/>
          </p:cNvCxnSpPr>
          <p:nvPr/>
        </p:nvCxnSpPr>
        <p:spPr>
          <a:xfrm rot="10800000" flipH="1">
            <a:off x="5874778" y="2646717"/>
            <a:ext cx="954300" cy="5439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1" name="Google Shape;501;p36"/>
          <p:cNvCxnSpPr>
            <a:stCxn id="497" idx="7"/>
          </p:cNvCxnSpPr>
          <p:nvPr/>
        </p:nvCxnSpPr>
        <p:spPr>
          <a:xfrm rot="10800000" flipH="1">
            <a:off x="5874778" y="3058917"/>
            <a:ext cx="950100" cy="1317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2" name="Google Shape;502;p36"/>
          <p:cNvCxnSpPr>
            <a:stCxn id="497" idx="7"/>
          </p:cNvCxnSpPr>
          <p:nvPr/>
        </p:nvCxnSpPr>
        <p:spPr>
          <a:xfrm rot="10800000" flipH="1">
            <a:off x="5874778" y="3157917"/>
            <a:ext cx="940200" cy="327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3" name="Google Shape;503;p36"/>
          <p:cNvCxnSpPr>
            <a:stCxn id="497" idx="7"/>
          </p:cNvCxnSpPr>
          <p:nvPr/>
        </p:nvCxnSpPr>
        <p:spPr>
          <a:xfrm>
            <a:off x="5874778" y="3190617"/>
            <a:ext cx="975900" cy="1278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04" name="Google Shape;504;p36"/>
          <p:cNvSpPr txBox="1"/>
          <p:nvPr/>
        </p:nvSpPr>
        <p:spPr>
          <a:xfrm>
            <a:off x="7183399" y="2596460"/>
            <a:ext cx="227948" cy="527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6"/>
          <p:cNvSpPr txBox="1"/>
          <p:nvPr/>
        </p:nvSpPr>
        <p:spPr>
          <a:xfrm>
            <a:off x="6906589" y="2165919"/>
            <a:ext cx="96693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3,000 units</a:t>
            </a:r>
            <a:endParaRPr/>
          </a:p>
        </p:txBody>
      </p:sp>
      <p:sp>
        <p:nvSpPr>
          <p:cNvPr id="506" name="Google Shape;506;p36"/>
          <p:cNvSpPr txBox="1"/>
          <p:nvPr/>
        </p:nvSpPr>
        <p:spPr>
          <a:xfrm>
            <a:off x="6906589" y="3157971"/>
            <a:ext cx="96693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8,000 units</a:t>
            </a:r>
            <a:endParaRPr/>
          </a:p>
        </p:txBody>
      </p:sp>
      <p:cxnSp>
        <p:nvCxnSpPr>
          <p:cNvPr id="507" name="Google Shape;507;p36"/>
          <p:cNvCxnSpPr>
            <a:stCxn id="497" idx="7"/>
          </p:cNvCxnSpPr>
          <p:nvPr/>
        </p:nvCxnSpPr>
        <p:spPr>
          <a:xfrm rot="10800000" flipH="1">
            <a:off x="5874778" y="2778417"/>
            <a:ext cx="975900" cy="412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8" name="Google Shape;508;p36"/>
          <p:cNvCxnSpPr>
            <a:stCxn id="497" idx="7"/>
          </p:cNvCxnSpPr>
          <p:nvPr/>
        </p:nvCxnSpPr>
        <p:spPr>
          <a:xfrm rot="10800000" flipH="1">
            <a:off x="5874778" y="2906517"/>
            <a:ext cx="950100" cy="2841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09" name="Google Shape;509;p36"/>
          <p:cNvSpPr txBox="1"/>
          <p:nvPr/>
        </p:nvSpPr>
        <p:spPr>
          <a:xfrm>
            <a:off x="1620100" y="4058575"/>
            <a:ext cx="565418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difficult to model with decision tree branching; we use Monte Carlo simulation for this kind of decision process</a:t>
            </a:r>
            <a:endParaRPr/>
          </a:p>
        </p:txBody>
      </p:sp>
      <p:sp>
        <p:nvSpPr>
          <p:cNvPr id="510" name="Google Shape;510;p36"/>
          <p:cNvSpPr txBox="1"/>
          <p:nvPr/>
        </p:nvSpPr>
        <p:spPr>
          <a:xfrm>
            <a:off x="2708533" y="3510142"/>
            <a:ext cx="4500527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supplier A can only supply 6000 units and unit profit is $50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Profit  =  $50 * min { 6000, Demand}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7"/>
          <p:cNvSpPr/>
          <p:nvPr/>
        </p:nvSpPr>
        <p:spPr>
          <a:xfrm>
            <a:off x="941240" y="1650629"/>
            <a:ext cx="237195" cy="18794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6" name="Google Shape;516;p37"/>
          <p:cNvCxnSpPr>
            <a:stCxn id="515" idx="3"/>
          </p:cNvCxnSpPr>
          <p:nvPr/>
        </p:nvCxnSpPr>
        <p:spPr>
          <a:xfrm rot="10800000" flipH="1">
            <a:off x="1178435" y="908203"/>
            <a:ext cx="967800" cy="8364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7" name="Google Shape;517;p37"/>
          <p:cNvCxnSpPr>
            <a:stCxn id="515" idx="3"/>
            <a:endCxn id="518" idx="2"/>
          </p:cNvCxnSpPr>
          <p:nvPr/>
        </p:nvCxnSpPr>
        <p:spPr>
          <a:xfrm>
            <a:off x="1178435" y="1744603"/>
            <a:ext cx="984300" cy="18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9" name="Google Shape;519;p37"/>
          <p:cNvSpPr txBox="1"/>
          <p:nvPr/>
        </p:nvSpPr>
        <p:spPr>
          <a:xfrm>
            <a:off x="1104468" y="1002154"/>
            <a:ext cx="894797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No one</a:t>
            </a:r>
            <a:endParaRPr/>
          </a:p>
        </p:txBody>
      </p:sp>
      <p:sp>
        <p:nvSpPr>
          <p:cNvPr id="520" name="Google Shape;520;p37"/>
          <p:cNvSpPr/>
          <p:nvPr/>
        </p:nvSpPr>
        <p:spPr>
          <a:xfrm rot="-5400000">
            <a:off x="2114294" y="813945"/>
            <a:ext cx="272525" cy="22770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7"/>
          <p:cNvSpPr txBox="1"/>
          <p:nvPr/>
        </p:nvSpPr>
        <p:spPr>
          <a:xfrm>
            <a:off x="2483207" y="789956"/>
            <a:ext cx="35298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$ 0</a:t>
            </a:r>
            <a:endParaRPr/>
          </a:p>
        </p:txBody>
      </p:sp>
      <p:sp>
        <p:nvSpPr>
          <p:cNvPr id="522" name="Google Shape;522;p37"/>
          <p:cNvSpPr txBox="1"/>
          <p:nvPr/>
        </p:nvSpPr>
        <p:spPr>
          <a:xfrm>
            <a:off x="1405340" y="1556666"/>
            <a:ext cx="978392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USA(A)</a:t>
            </a:r>
            <a:endParaRPr/>
          </a:p>
        </p:txBody>
      </p:sp>
      <p:sp>
        <p:nvSpPr>
          <p:cNvPr id="518" name="Google Shape;518;p37"/>
          <p:cNvSpPr/>
          <p:nvPr/>
        </p:nvSpPr>
        <p:spPr>
          <a:xfrm>
            <a:off x="2162793" y="1610050"/>
            <a:ext cx="275147" cy="272525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7"/>
          <p:cNvSpPr txBox="1"/>
          <p:nvPr/>
        </p:nvSpPr>
        <p:spPr>
          <a:xfrm>
            <a:off x="2118049" y="1884933"/>
            <a:ext cx="530915" cy="334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</a:t>
            </a:r>
            <a:endParaRPr/>
          </a:p>
        </p:txBody>
      </p:sp>
      <p:cxnSp>
        <p:nvCxnSpPr>
          <p:cNvPr id="524" name="Google Shape;524;p37"/>
          <p:cNvCxnSpPr>
            <a:stCxn id="518" idx="6"/>
            <a:endCxn id="525" idx="3"/>
          </p:cNvCxnSpPr>
          <p:nvPr/>
        </p:nvCxnSpPr>
        <p:spPr>
          <a:xfrm rot="10800000" flipH="1">
            <a:off x="2437940" y="1090813"/>
            <a:ext cx="1402500" cy="6555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6" name="Google Shape;526;p37"/>
          <p:cNvCxnSpPr>
            <a:stCxn id="518" idx="6"/>
            <a:endCxn id="527" idx="4"/>
          </p:cNvCxnSpPr>
          <p:nvPr/>
        </p:nvCxnSpPr>
        <p:spPr>
          <a:xfrm>
            <a:off x="2437940" y="1746313"/>
            <a:ext cx="1399800" cy="4989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8" name="Google Shape;528;p37"/>
          <p:cNvSpPr txBox="1"/>
          <p:nvPr/>
        </p:nvSpPr>
        <p:spPr>
          <a:xfrm>
            <a:off x="2875721" y="1155725"/>
            <a:ext cx="647934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 0.5</a:t>
            </a:r>
            <a:endParaRPr/>
          </a:p>
        </p:txBody>
      </p:sp>
      <p:sp>
        <p:nvSpPr>
          <p:cNvPr id="529" name="Google Shape;529;p37"/>
          <p:cNvSpPr txBox="1"/>
          <p:nvPr/>
        </p:nvSpPr>
        <p:spPr>
          <a:xfrm>
            <a:off x="3069021" y="1790673"/>
            <a:ext cx="612668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 0.5</a:t>
            </a:r>
            <a:endParaRPr/>
          </a:p>
        </p:txBody>
      </p:sp>
      <p:sp>
        <p:nvSpPr>
          <p:cNvPr id="530" name="Google Shape;530;p37"/>
          <p:cNvSpPr txBox="1"/>
          <p:nvPr/>
        </p:nvSpPr>
        <p:spPr>
          <a:xfrm>
            <a:off x="241926" y="1627916"/>
            <a:ext cx="69602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Supplier?</a:t>
            </a:r>
            <a:endParaRPr/>
          </a:p>
        </p:txBody>
      </p:sp>
      <p:sp>
        <p:nvSpPr>
          <p:cNvPr id="531" name="Google Shape;531;p37"/>
          <p:cNvSpPr txBox="1"/>
          <p:nvPr/>
        </p:nvSpPr>
        <p:spPr>
          <a:xfrm>
            <a:off x="6051142" y="1743061"/>
            <a:ext cx="10534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$257,873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simulation</a:t>
            </a:r>
            <a:endParaRPr/>
          </a:p>
        </p:txBody>
      </p:sp>
      <p:grpSp>
        <p:nvGrpSpPr>
          <p:cNvPr id="532" name="Google Shape;532;p37"/>
          <p:cNvGrpSpPr/>
          <p:nvPr/>
        </p:nvGrpSpPr>
        <p:grpSpPr>
          <a:xfrm>
            <a:off x="3784145" y="466625"/>
            <a:ext cx="2028275" cy="1990104"/>
            <a:chOff x="5856722" y="531841"/>
            <a:chExt cx="3268424" cy="3206914"/>
          </a:xfrm>
        </p:grpSpPr>
        <p:sp>
          <p:nvSpPr>
            <p:cNvPr id="525" name="Google Shape;525;p37"/>
            <p:cNvSpPr/>
            <p:nvPr/>
          </p:nvSpPr>
          <p:spPr>
            <a:xfrm rot="1899053">
              <a:off x="5941973" y="1314865"/>
              <a:ext cx="366862" cy="363367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3" name="Google Shape;533;p37"/>
            <p:cNvCxnSpPr>
              <a:stCxn id="525" idx="7"/>
            </p:cNvCxnSpPr>
            <p:nvPr/>
          </p:nvCxnSpPr>
          <p:spPr>
            <a:xfrm rot="10800000" flipH="1">
              <a:off x="6303231" y="665649"/>
              <a:ext cx="1032600" cy="7896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34" name="Google Shape;534;p37"/>
            <p:cNvCxnSpPr>
              <a:stCxn id="525" idx="7"/>
            </p:cNvCxnSpPr>
            <p:nvPr/>
          </p:nvCxnSpPr>
          <p:spPr>
            <a:xfrm rot="10800000" flipH="1">
              <a:off x="6303231" y="850149"/>
              <a:ext cx="996300" cy="6051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35" name="Google Shape;535;p37"/>
            <p:cNvCxnSpPr>
              <a:stCxn id="525" idx="7"/>
            </p:cNvCxnSpPr>
            <p:nvPr/>
          </p:nvCxnSpPr>
          <p:spPr>
            <a:xfrm rot="10800000" flipH="1">
              <a:off x="6303231" y="997449"/>
              <a:ext cx="974100" cy="4578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36" name="Google Shape;536;p37"/>
            <p:cNvCxnSpPr>
              <a:stCxn id="525" idx="7"/>
            </p:cNvCxnSpPr>
            <p:nvPr/>
          </p:nvCxnSpPr>
          <p:spPr>
            <a:xfrm rot="10800000" flipH="1">
              <a:off x="6303231" y="1415949"/>
              <a:ext cx="969900" cy="393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37" name="Google Shape;537;p37"/>
            <p:cNvCxnSpPr>
              <a:stCxn id="525" idx="7"/>
            </p:cNvCxnSpPr>
            <p:nvPr/>
          </p:nvCxnSpPr>
          <p:spPr>
            <a:xfrm>
              <a:off x="6303231" y="1455249"/>
              <a:ext cx="960000" cy="609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38" name="Google Shape;538;p37"/>
            <p:cNvCxnSpPr>
              <a:stCxn id="525" idx="7"/>
            </p:cNvCxnSpPr>
            <p:nvPr/>
          </p:nvCxnSpPr>
          <p:spPr>
            <a:xfrm>
              <a:off x="6303231" y="1455249"/>
              <a:ext cx="996300" cy="2235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39" name="Google Shape;539;p37"/>
            <p:cNvSpPr txBox="1"/>
            <p:nvPr/>
          </p:nvSpPr>
          <p:spPr>
            <a:xfrm>
              <a:off x="7613289" y="968415"/>
              <a:ext cx="351824" cy="694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  <a:p>
              <a:pPr marL="0" marR="0" lvl="0" indent="0" algn="l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  <a:p>
              <a:pPr marL="0" marR="0" lvl="0" indent="0" algn="l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  <a:p>
              <a:pPr marL="0" marR="0" lvl="0" indent="0" algn="l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37"/>
            <p:cNvSpPr txBox="1"/>
            <p:nvPr/>
          </p:nvSpPr>
          <p:spPr>
            <a:xfrm>
              <a:off x="7329900" y="531841"/>
              <a:ext cx="1390241" cy="409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12,000 units</a:t>
              </a:r>
              <a:endParaRPr/>
            </a:p>
          </p:txBody>
        </p:sp>
        <p:sp>
          <p:nvSpPr>
            <p:cNvPr id="541" name="Google Shape;541;p37"/>
            <p:cNvSpPr txBox="1"/>
            <p:nvPr/>
          </p:nvSpPr>
          <p:spPr>
            <a:xfrm>
              <a:off x="7329900" y="1537793"/>
              <a:ext cx="1390241" cy="409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17,000 units</a:t>
              </a:r>
              <a:endParaRPr/>
            </a:p>
          </p:txBody>
        </p:sp>
        <p:cxnSp>
          <p:nvCxnSpPr>
            <p:cNvPr id="542" name="Google Shape;542;p37"/>
            <p:cNvCxnSpPr>
              <a:stCxn id="525" idx="7"/>
            </p:cNvCxnSpPr>
            <p:nvPr/>
          </p:nvCxnSpPr>
          <p:spPr>
            <a:xfrm rot="10800000" flipH="1">
              <a:off x="6303231" y="1131249"/>
              <a:ext cx="996300" cy="3240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43" name="Google Shape;543;p37"/>
            <p:cNvCxnSpPr>
              <a:stCxn id="525" idx="7"/>
            </p:cNvCxnSpPr>
            <p:nvPr/>
          </p:nvCxnSpPr>
          <p:spPr>
            <a:xfrm rot="10800000" flipH="1">
              <a:off x="6303231" y="1261149"/>
              <a:ext cx="969900" cy="1941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27" name="Google Shape;527;p37"/>
            <p:cNvSpPr/>
            <p:nvPr/>
          </p:nvSpPr>
          <p:spPr>
            <a:xfrm rot="3698321">
              <a:off x="5922757" y="3127235"/>
              <a:ext cx="363367" cy="366862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4" name="Google Shape;544;p37"/>
            <p:cNvCxnSpPr>
              <a:stCxn id="527" idx="7"/>
            </p:cNvCxnSpPr>
            <p:nvPr/>
          </p:nvCxnSpPr>
          <p:spPr>
            <a:xfrm rot="10800000" flipH="1">
              <a:off x="6279604" y="2478601"/>
              <a:ext cx="1035300" cy="8835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45" name="Google Shape;545;p37"/>
            <p:cNvCxnSpPr>
              <a:stCxn id="527" idx="7"/>
            </p:cNvCxnSpPr>
            <p:nvPr/>
          </p:nvCxnSpPr>
          <p:spPr>
            <a:xfrm rot="10800000" flipH="1">
              <a:off x="6279604" y="2663101"/>
              <a:ext cx="999000" cy="6990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46" name="Google Shape;546;p37"/>
            <p:cNvCxnSpPr>
              <a:stCxn id="527" idx="7"/>
            </p:cNvCxnSpPr>
            <p:nvPr/>
          </p:nvCxnSpPr>
          <p:spPr>
            <a:xfrm rot="10800000" flipH="1">
              <a:off x="6279604" y="2810401"/>
              <a:ext cx="976800" cy="5517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47" name="Google Shape;547;p37"/>
            <p:cNvCxnSpPr>
              <a:stCxn id="527" idx="7"/>
            </p:cNvCxnSpPr>
            <p:nvPr/>
          </p:nvCxnSpPr>
          <p:spPr>
            <a:xfrm rot="10800000" flipH="1">
              <a:off x="6279604" y="3228601"/>
              <a:ext cx="972600" cy="1335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48" name="Google Shape;548;p37"/>
            <p:cNvCxnSpPr>
              <a:stCxn id="527" idx="7"/>
            </p:cNvCxnSpPr>
            <p:nvPr/>
          </p:nvCxnSpPr>
          <p:spPr>
            <a:xfrm rot="10800000" flipH="1">
              <a:off x="6279604" y="3329101"/>
              <a:ext cx="962700" cy="330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49" name="Google Shape;549;p37"/>
            <p:cNvCxnSpPr>
              <a:stCxn id="527" idx="7"/>
            </p:cNvCxnSpPr>
            <p:nvPr/>
          </p:nvCxnSpPr>
          <p:spPr>
            <a:xfrm>
              <a:off x="6279604" y="3362101"/>
              <a:ext cx="999000" cy="1296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50" name="Google Shape;550;p37"/>
            <p:cNvSpPr txBox="1"/>
            <p:nvPr/>
          </p:nvSpPr>
          <p:spPr>
            <a:xfrm>
              <a:off x="7619909" y="2760209"/>
              <a:ext cx="351824" cy="694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  <a:p>
              <a:pPr marL="0" marR="0" lvl="0" indent="0" algn="l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  <a:p>
              <a:pPr marL="0" marR="0" lvl="0" indent="0" algn="l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  <a:p>
              <a:pPr marL="0" marR="0" lvl="0" indent="0" algn="l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37"/>
            <p:cNvSpPr txBox="1"/>
            <p:nvPr/>
          </p:nvSpPr>
          <p:spPr>
            <a:xfrm>
              <a:off x="7336521" y="2323637"/>
              <a:ext cx="1279165" cy="409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3,000 units</a:t>
              </a:r>
              <a:endParaRPr/>
            </a:p>
          </p:txBody>
        </p:sp>
        <p:sp>
          <p:nvSpPr>
            <p:cNvPr id="552" name="Google Shape;552;p37"/>
            <p:cNvSpPr txBox="1"/>
            <p:nvPr/>
          </p:nvSpPr>
          <p:spPr>
            <a:xfrm>
              <a:off x="7336521" y="3329587"/>
              <a:ext cx="1279165" cy="409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8,000 units</a:t>
              </a:r>
              <a:endParaRPr/>
            </a:p>
          </p:txBody>
        </p:sp>
        <p:cxnSp>
          <p:nvCxnSpPr>
            <p:cNvPr id="553" name="Google Shape;553;p37"/>
            <p:cNvCxnSpPr>
              <a:stCxn id="527" idx="7"/>
            </p:cNvCxnSpPr>
            <p:nvPr/>
          </p:nvCxnSpPr>
          <p:spPr>
            <a:xfrm rot="10800000" flipH="1">
              <a:off x="6279604" y="2944201"/>
              <a:ext cx="999000" cy="4179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54" name="Google Shape;554;p37"/>
            <p:cNvCxnSpPr>
              <a:stCxn id="527" idx="7"/>
            </p:cNvCxnSpPr>
            <p:nvPr/>
          </p:nvCxnSpPr>
          <p:spPr>
            <a:xfrm rot="10800000" flipH="1">
              <a:off x="6279604" y="3074101"/>
              <a:ext cx="972600" cy="2880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55" name="Google Shape;555;p37"/>
            <p:cNvSpPr/>
            <p:nvPr/>
          </p:nvSpPr>
          <p:spPr>
            <a:xfrm>
              <a:off x="8664648" y="2246839"/>
              <a:ext cx="460498" cy="1390525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37"/>
            <p:cNvSpPr/>
            <p:nvPr/>
          </p:nvSpPr>
          <p:spPr>
            <a:xfrm>
              <a:off x="8602815" y="575463"/>
              <a:ext cx="460498" cy="1390525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7" name="Google Shape;557;p37"/>
          <p:cNvSpPr txBox="1"/>
          <p:nvPr/>
        </p:nvSpPr>
        <p:spPr>
          <a:xfrm>
            <a:off x="5993637" y="678950"/>
            <a:ext cx="1220857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$300,000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Supplier A can only deliver 6000</a:t>
            </a:r>
            <a:endParaRPr/>
          </a:p>
        </p:txBody>
      </p:sp>
      <p:cxnSp>
        <p:nvCxnSpPr>
          <p:cNvPr id="558" name="Google Shape;558;p37"/>
          <p:cNvCxnSpPr>
            <a:stCxn id="515" idx="3"/>
            <a:endCxn id="559" idx="2"/>
          </p:cNvCxnSpPr>
          <p:nvPr/>
        </p:nvCxnSpPr>
        <p:spPr>
          <a:xfrm>
            <a:off x="1178435" y="1744603"/>
            <a:ext cx="1030500" cy="14940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0" name="Google Shape;560;p37"/>
          <p:cNvCxnSpPr>
            <a:stCxn id="559" idx="6"/>
            <a:endCxn id="561" idx="3"/>
          </p:cNvCxnSpPr>
          <p:nvPr/>
        </p:nvCxnSpPr>
        <p:spPr>
          <a:xfrm rot="10800000" flipH="1">
            <a:off x="2467660" y="3220881"/>
            <a:ext cx="1428900" cy="177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2" name="Google Shape;562;p37"/>
          <p:cNvCxnSpPr>
            <a:stCxn id="559" idx="6"/>
            <a:endCxn id="563" idx="3"/>
          </p:cNvCxnSpPr>
          <p:nvPr/>
        </p:nvCxnSpPr>
        <p:spPr>
          <a:xfrm>
            <a:off x="2467660" y="3238581"/>
            <a:ext cx="1417500" cy="10506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64" name="Google Shape;564;p37"/>
          <p:cNvSpPr txBox="1"/>
          <p:nvPr/>
        </p:nvSpPr>
        <p:spPr>
          <a:xfrm>
            <a:off x="2057012" y="3509047"/>
            <a:ext cx="562617" cy="334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</a:t>
            </a:r>
            <a:endParaRPr/>
          </a:p>
        </p:txBody>
      </p:sp>
      <p:sp>
        <p:nvSpPr>
          <p:cNvPr id="559" name="Google Shape;559;p37"/>
          <p:cNvSpPr/>
          <p:nvPr/>
        </p:nvSpPr>
        <p:spPr>
          <a:xfrm>
            <a:off x="2208980" y="3109241"/>
            <a:ext cx="258680" cy="25868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5" name="Google Shape;565;p37"/>
          <p:cNvGrpSpPr/>
          <p:nvPr/>
        </p:nvGrpSpPr>
        <p:grpSpPr>
          <a:xfrm>
            <a:off x="3840126" y="2596558"/>
            <a:ext cx="2028275" cy="1990104"/>
            <a:chOff x="5856722" y="531841"/>
            <a:chExt cx="3268424" cy="3206914"/>
          </a:xfrm>
        </p:grpSpPr>
        <p:sp>
          <p:nvSpPr>
            <p:cNvPr id="561" name="Google Shape;561;p37"/>
            <p:cNvSpPr/>
            <p:nvPr/>
          </p:nvSpPr>
          <p:spPr>
            <a:xfrm rot="1899053">
              <a:off x="5941973" y="1314865"/>
              <a:ext cx="366862" cy="363367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66" name="Google Shape;566;p37"/>
            <p:cNvCxnSpPr>
              <a:stCxn id="561" idx="7"/>
            </p:cNvCxnSpPr>
            <p:nvPr/>
          </p:nvCxnSpPr>
          <p:spPr>
            <a:xfrm rot="10800000" flipH="1">
              <a:off x="6303231" y="665649"/>
              <a:ext cx="1032600" cy="7896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67" name="Google Shape;567;p37"/>
            <p:cNvCxnSpPr>
              <a:stCxn id="561" idx="7"/>
            </p:cNvCxnSpPr>
            <p:nvPr/>
          </p:nvCxnSpPr>
          <p:spPr>
            <a:xfrm rot="10800000" flipH="1">
              <a:off x="6303231" y="850149"/>
              <a:ext cx="996300" cy="6051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68" name="Google Shape;568;p37"/>
            <p:cNvCxnSpPr>
              <a:stCxn id="561" idx="7"/>
            </p:cNvCxnSpPr>
            <p:nvPr/>
          </p:nvCxnSpPr>
          <p:spPr>
            <a:xfrm rot="10800000" flipH="1">
              <a:off x="6303231" y="997449"/>
              <a:ext cx="974100" cy="4578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69" name="Google Shape;569;p37"/>
            <p:cNvCxnSpPr>
              <a:stCxn id="561" idx="7"/>
            </p:cNvCxnSpPr>
            <p:nvPr/>
          </p:nvCxnSpPr>
          <p:spPr>
            <a:xfrm rot="10800000" flipH="1">
              <a:off x="6303231" y="1415949"/>
              <a:ext cx="969900" cy="393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70" name="Google Shape;570;p37"/>
            <p:cNvCxnSpPr>
              <a:stCxn id="561" idx="7"/>
            </p:cNvCxnSpPr>
            <p:nvPr/>
          </p:nvCxnSpPr>
          <p:spPr>
            <a:xfrm>
              <a:off x="6303231" y="1455249"/>
              <a:ext cx="960000" cy="609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71" name="Google Shape;571;p37"/>
            <p:cNvCxnSpPr>
              <a:stCxn id="561" idx="7"/>
            </p:cNvCxnSpPr>
            <p:nvPr/>
          </p:nvCxnSpPr>
          <p:spPr>
            <a:xfrm>
              <a:off x="6303231" y="1455249"/>
              <a:ext cx="996300" cy="2235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72" name="Google Shape;572;p37"/>
            <p:cNvSpPr txBox="1"/>
            <p:nvPr/>
          </p:nvSpPr>
          <p:spPr>
            <a:xfrm>
              <a:off x="7613289" y="968415"/>
              <a:ext cx="351824" cy="694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  <a:p>
              <a:pPr marL="0" marR="0" lvl="0" indent="0" algn="l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  <a:p>
              <a:pPr marL="0" marR="0" lvl="0" indent="0" algn="l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  <a:p>
              <a:pPr marL="0" marR="0" lvl="0" indent="0" algn="l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37"/>
            <p:cNvSpPr txBox="1"/>
            <p:nvPr/>
          </p:nvSpPr>
          <p:spPr>
            <a:xfrm>
              <a:off x="7329900" y="531841"/>
              <a:ext cx="1390241" cy="409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12,000 units</a:t>
              </a:r>
              <a:endParaRPr/>
            </a:p>
          </p:txBody>
        </p:sp>
        <p:sp>
          <p:nvSpPr>
            <p:cNvPr id="574" name="Google Shape;574;p37"/>
            <p:cNvSpPr txBox="1"/>
            <p:nvPr/>
          </p:nvSpPr>
          <p:spPr>
            <a:xfrm>
              <a:off x="7329900" y="1537793"/>
              <a:ext cx="1390241" cy="409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17,000 units</a:t>
              </a:r>
              <a:endParaRPr/>
            </a:p>
          </p:txBody>
        </p:sp>
        <p:cxnSp>
          <p:nvCxnSpPr>
            <p:cNvPr id="575" name="Google Shape;575;p37"/>
            <p:cNvCxnSpPr>
              <a:stCxn id="561" idx="7"/>
            </p:cNvCxnSpPr>
            <p:nvPr/>
          </p:nvCxnSpPr>
          <p:spPr>
            <a:xfrm rot="10800000" flipH="1">
              <a:off x="6303231" y="1131249"/>
              <a:ext cx="996300" cy="3240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76" name="Google Shape;576;p37"/>
            <p:cNvCxnSpPr>
              <a:stCxn id="561" idx="7"/>
            </p:cNvCxnSpPr>
            <p:nvPr/>
          </p:nvCxnSpPr>
          <p:spPr>
            <a:xfrm rot="10800000" flipH="1">
              <a:off x="6303231" y="1261149"/>
              <a:ext cx="969900" cy="1941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63" name="Google Shape;563;p37"/>
            <p:cNvSpPr/>
            <p:nvPr/>
          </p:nvSpPr>
          <p:spPr>
            <a:xfrm rot="3698321">
              <a:off x="5922757" y="3127235"/>
              <a:ext cx="363367" cy="366862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7" name="Google Shape;577;p37"/>
            <p:cNvCxnSpPr>
              <a:stCxn id="563" idx="7"/>
            </p:cNvCxnSpPr>
            <p:nvPr/>
          </p:nvCxnSpPr>
          <p:spPr>
            <a:xfrm rot="10800000" flipH="1">
              <a:off x="6279604" y="2478601"/>
              <a:ext cx="1035300" cy="8835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78" name="Google Shape;578;p37"/>
            <p:cNvCxnSpPr>
              <a:stCxn id="563" idx="7"/>
            </p:cNvCxnSpPr>
            <p:nvPr/>
          </p:nvCxnSpPr>
          <p:spPr>
            <a:xfrm rot="10800000" flipH="1">
              <a:off x="6279604" y="2663101"/>
              <a:ext cx="999000" cy="6990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79" name="Google Shape;579;p37"/>
            <p:cNvCxnSpPr>
              <a:stCxn id="563" idx="7"/>
            </p:cNvCxnSpPr>
            <p:nvPr/>
          </p:nvCxnSpPr>
          <p:spPr>
            <a:xfrm rot="10800000" flipH="1">
              <a:off x="6279604" y="2810401"/>
              <a:ext cx="976800" cy="5517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0" name="Google Shape;580;p37"/>
            <p:cNvCxnSpPr>
              <a:stCxn id="563" idx="7"/>
            </p:cNvCxnSpPr>
            <p:nvPr/>
          </p:nvCxnSpPr>
          <p:spPr>
            <a:xfrm rot="10800000" flipH="1">
              <a:off x="6279604" y="3228601"/>
              <a:ext cx="972600" cy="1335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1" name="Google Shape;581;p37"/>
            <p:cNvCxnSpPr>
              <a:stCxn id="563" idx="7"/>
            </p:cNvCxnSpPr>
            <p:nvPr/>
          </p:nvCxnSpPr>
          <p:spPr>
            <a:xfrm rot="10800000" flipH="1">
              <a:off x="6279604" y="3329101"/>
              <a:ext cx="962700" cy="330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2" name="Google Shape;582;p37"/>
            <p:cNvCxnSpPr>
              <a:stCxn id="563" idx="7"/>
            </p:cNvCxnSpPr>
            <p:nvPr/>
          </p:nvCxnSpPr>
          <p:spPr>
            <a:xfrm>
              <a:off x="6279604" y="3362101"/>
              <a:ext cx="999000" cy="1296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83" name="Google Shape;583;p37"/>
            <p:cNvSpPr txBox="1"/>
            <p:nvPr/>
          </p:nvSpPr>
          <p:spPr>
            <a:xfrm>
              <a:off x="7619909" y="2760209"/>
              <a:ext cx="351824" cy="694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  <a:p>
              <a:pPr marL="0" marR="0" lvl="0" indent="0" algn="l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  <a:p>
              <a:pPr marL="0" marR="0" lvl="0" indent="0" algn="l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  <a:p>
              <a:pPr marL="0" marR="0" lvl="0" indent="0" algn="l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37"/>
            <p:cNvSpPr txBox="1"/>
            <p:nvPr/>
          </p:nvSpPr>
          <p:spPr>
            <a:xfrm>
              <a:off x="7336521" y="2323637"/>
              <a:ext cx="1279165" cy="409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3,000 units</a:t>
              </a:r>
              <a:endParaRPr/>
            </a:p>
          </p:txBody>
        </p:sp>
        <p:sp>
          <p:nvSpPr>
            <p:cNvPr id="585" name="Google Shape;585;p37"/>
            <p:cNvSpPr txBox="1"/>
            <p:nvPr/>
          </p:nvSpPr>
          <p:spPr>
            <a:xfrm>
              <a:off x="7336521" y="3329587"/>
              <a:ext cx="1279165" cy="409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8,000 units</a:t>
              </a:r>
              <a:endParaRPr/>
            </a:p>
          </p:txBody>
        </p:sp>
        <p:cxnSp>
          <p:nvCxnSpPr>
            <p:cNvPr id="586" name="Google Shape;586;p37"/>
            <p:cNvCxnSpPr>
              <a:stCxn id="563" idx="7"/>
            </p:cNvCxnSpPr>
            <p:nvPr/>
          </p:nvCxnSpPr>
          <p:spPr>
            <a:xfrm rot="10800000" flipH="1">
              <a:off x="6279604" y="2944201"/>
              <a:ext cx="999000" cy="4179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7" name="Google Shape;587;p37"/>
            <p:cNvCxnSpPr>
              <a:stCxn id="563" idx="7"/>
            </p:cNvCxnSpPr>
            <p:nvPr/>
          </p:nvCxnSpPr>
          <p:spPr>
            <a:xfrm rot="10800000" flipH="1">
              <a:off x="6279604" y="3074101"/>
              <a:ext cx="972600" cy="2880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88" name="Google Shape;588;p37"/>
            <p:cNvSpPr/>
            <p:nvPr/>
          </p:nvSpPr>
          <p:spPr>
            <a:xfrm>
              <a:off x="8664648" y="2246839"/>
              <a:ext cx="460498" cy="1390525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37"/>
            <p:cNvSpPr/>
            <p:nvPr/>
          </p:nvSpPr>
          <p:spPr>
            <a:xfrm>
              <a:off x="8602815" y="575463"/>
              <a:ext cx="460498" cy="1390525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0" name="Google Shape;590;p37"/>
          <p:cNvSpPr txBox="1"/>
          <p:nvPr/>
        </p:nvSpPr>
        <p:spPr>
          <a:xfrm>
            <a:off x="2870605" y="2892148"/>
            <a:ext cx="647934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 0.5</a:t>
            </a:r>
            <a:endParaRPr/>
          </a:p>
        </p:txBody>
      </p:sp>
      <p:sp>
        <p:nvSpPr>
          <p:cNvPr id="591" name="Google Shape;591;p37"/>
          <p:cNvSpPr txBox="1"/>
          <p:nvPr/>
        </p:nvSpPr>
        <p:spPr>
          <a:xfrm>
            <a:off x="3172542" y="3653947"/>
            <a:ext cx="636713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 0.5 </a:t>
            </a:r>
            <a:endParaRPr/>
          </a:p>
        </p:txBody>
      </p:sp>
      <p:sp>
        <p:nvSpPr>
          <p:cNvPr id="592" name="Google Shape;592;p37"/>
          <p:cNvSpPr txBox="1"/>
          <p:nvPr/>
        </p:nvSpPr>
        <p:spPr>
          <a:xfrm>
            <a:off x="3141054" y="1414756"/>
            <a:ext cx="360996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-$ 0</a:t>
            </a:r>
            <a:endParaRPr/>
          </a:p>
        </p:txBody>
      </p:sp>
      <p:sp>
        <p:nvSpPr>
          <p:cNvPr id="593" name="Google Shape;593;p37"/>
          <p:cNvSpPr txBox="1"/>
          <p:nvPr/>
        </p:nvSpPr>
        <p:spPr>
          <a:xfrm>
            <a:off x="3119447" y="2098492"/>
            <a:ext cx="360996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-$ 0</a:t>
            </a:r>
            <a:endParaRPr/>
          </a:p>
        </p:txBody>
      </p:sp>
      <p:sp>
        <p:nvSpPr>
          <p:cNvPr id="594" name="Google Shape;594;p37"/>
          <p:cNvSpPr txBox="1"/>
          <p:nvPr/>
        </p:nvSpPr>
        <p:spPr>
          <a:xfrm>
            <a:off x="2958414" y="3264046"/>
            <a:ext cx="71526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-$ -500,000</a:t>
            </a:r>
            <a:endParaRPr/>
          </a:p>
        </p:txBody>
      </p:sp>
      <p:sp>
        <p:nvSpPr>
          <p:cNvPr id="595" name="Google Shape;595;p37"/>
          <p:cNvSpPr txBox="1"/>
          <p:nvPr/>
        </p:nvSpPr>
        <p:spPr>
          <a:xfrm>
            <a:off x="2799266" y="3928424"/>
            <a:ext cx="71526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-$ -500,000</a:t>
            </a:r>
            <a:endParaRPr/>
          </a:p>
        </p:txBody>
      </p:sp>
      <p:sp>
        <p:nvSpPr>
          <p:cNvPr id="596" name="Google Shape;596;p37"/>
          <p:cNvSpPr txBox="1"/>
          <p:nvPr/>
        </p:nvSpPr>
        <p:spPr>
          <a:xfrm>
            <a:off x="6051143" y="3793355"/>
            <a:ext cx="188696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-$109,693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simulation</a:t>
            </a:r>
            <a:endParaRPr/>
          </a:p>
        </p:txBody>
      </p:sp>
      <p:sp>
        <p:nvSpPr>
          <p:cNvPr id="597" name="Google Shape;597;p37"/>
          <p:cNvSpPr txBox="1"/>
          <p:nvPr/>
        </p:nvSpPr>
        <p:spPr>
          <a:xfrm>
            <a:off x="6051142" y="2796236"/>
            <a:ext cx="10534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$520,307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simulation</a:t>
            </a:r>
            <a:endParaRPr/>
          </a:p>
        </p:txBody>
      </p:sp>
      <p:sp>
        <p:nvSpPr>
          <p:cNvPr id="598" name="Google Shape;598;p37"/>
          <p:cNvSpPr/>
          <p:nvPr/>
        </p:nvSpPr>
        <p:spPr>
          <a:xfrm>
            <a:off x="6705601" y="2571751"/>
            <a:ext cx="688289" cy="1960544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7"/>
          <p:cNvSpPr txBox="1"/>
          <p:nvPr/>
        </p:nvSpPr>
        <p:spPr>
          <a:xfrm>
            <a:off x="7448746" y="3250429"/>
            <a:ext cx="1571264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Value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0.5*520307 + 0.5x(-109693) =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$205,306</a:t>
            </a:r>
            <a:endParaRPr/>
          </a:p>
        </p:txBody>
      </p:sp>
      <p:sp>
        <p:nvSpPr>
          <p:cNvPr id="600" name="Google Shape;600;p37"/>
          <p:cNvSpPr txBox="1"/>
          <p:nvPr/>
        </p:nvSpPr>
        <p:spPr>
          <a:xfrm>
            <a:off x="7458909" y="1198361"/>
            <a:ext cx="1497526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Value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0.5*300,000 + 0.5x257,873=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$278,936</a:t>
            </a:r>
            <a:endParaRPr/>
          </a:p>
        </p:txBody>
      </p:sp>
      <p:sp>
        <p:nvSpPr>
          <p:cNvPr id="601" name="Google Shape;601;p37"/>
          <p:cNvSpPr/>
          <p:nvPr/>
        </p:nvSpPr>
        <p:spPr>
          <a:xfrm>
            <a:off x="6830004" y="493696"/>
            <a:ext cx="439480" cy="1960544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7"/>
          <p:cNvSpPr txBox="1"/>
          <p:nvPr/>
        </p:nvSpPr>
        <p:spPr>
          <a:xfrm>
            <a:off x="7196942" y="1776168"/>
            <a:ext cx="1702806" cy="923330"/>
          </a:xfrm>
          <a:prstGeom prst="rect">
            <a:avLst/>
          </a:prstGeom>
          <a:noFill/>
          <a:ln w="381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will be awarded to Supplier 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USA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2"/>
          <p:cNvSpPr txBox="1">
            <a:spLocks noGrp="1"/>
          </p:cNvSpPr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What-If Analysis</a:t>
            </a:r>
            <a:endParaRPr/>
          </a:p>
        </p:txBody>
      </p:sp>
      <p:sp>
        <p:nvSpPr>
          <p:cNvPr id="608" name="Google Shape;608;p42"/>
          <p:cNvSpPr txBox="1">
            <a:spLocks noGrp="1"/>
          </p:cNvSpPr>
          <p:nvPr>
            <p:ph type="body" idx="1"/>
          </p:nvPr>
        </p:nvSpPr>
        <p:spPr>
          <a:xfrm>
            <a:off x="609600" y="1075551"/>
            <a:ext cx="7045198" cy="2784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What-If Analysis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decision-making tool that helps you understand the 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of changing input values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the </a:t>
            </a: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 model or formula.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simple terms: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"What will happen to the result </a:t>
            </a: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 change this input?"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3"/>
          <p:cNvSpPr txBox="1">
            <a:spLocks noGrp="1"/>
          </p:cNvSpPr>
          <p:nvPr>
            <p:ph type="title"/>
          </p:nvPr>
        </p:nvSpPr>
        <p:spPr>
          <a:xfrm>
            <a:off x="533400" y="438150"/>
            <a:ext cx="5029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br>
              <a:rPr lang="en-US"/>
            </a:br>
            <a:r>
              <a:rPr lang="en-US"/>
              <a:t>Types of What-If Analysis </a:t>
            </a:r>
            <a:br>
              <a:rPr lang="en-US"/>
            </a:br>
            <a:endParaRPr/>
          </a:p>
        </p:txBody>
      </p:sp>
      <p:sp>
        <p:nvSpPr>
          <p:cNvPr id="614" name="Google Shape;614;p43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rPr lang="en-US" sz="2040" b="1"/>
              <a:t>1. Scenario Manager</a:t>
            </a:r>
            <a:endParaRPr sz="2040"/>
          </a:p>
          <a:p>
            <a:pPr marL="457200" lvl="1" indent="0" algn="l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</a:pPr>
            <a:r>
              <a:rPr lang="en-US" sz="1760"/>
              <a:t>     Allows you to create and compare multiple input scenarios.</a:t>
            </a:r>
            <a:endParaRPr sz="1760"/>
          </a:p>
          <a:p>
            <a:pPr marL="457200" lvl="1" indent="0" algn="l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</a:pPr>
            <a:r>
              <a:rPr lang="en-US" sz="1760"/>
              <a:t>     Example: Best Case, Worst Case, Most Likely Case.</a:t>
            </a:r>
            <a:endParaRPr sz="1760"/>
          </a:p>
          <a:p>
            <a:pPr marL="0" lvl="0" indent="0" algn="l" rtl="0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rPr lang="en-US" sz="2040" b="1"/>
              <a:t>2. Goal Seek</a:t>
            </a:r>
            <a:endParaRPr sz="2040"/>
          </a:p>
          <a:p>
            <a:pPr marL="457200" lvl="1" indent="0" algn="l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</a:pPr>
            <a:r>
              <a:rPr lang="en-US" sz="1760"/>
              <a:t>    Works </a:t>
            </a:r>
            <a:r>
              <a:rPr lang="en-US" sz="1760" b="1"/>
              <a:t>backward</a:t>
            </a:r>
            <a:r>
              <a:rPr lang="en-US" sz="1760"/>
              <a:t>: You know the result you want and want to find the input needed.</a:t>
            </a:r>
            <a:endParaRPr sz="1760"/>
          </a:p>
          <a:p>
            <a:pPr marL="457200" lvl="1" indent="0" algn="l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</a:pPr>
            <a:r>
              <a:rPr lang="en-US" sz="1760"/>
              <a:t>     Example: What interest rate is needed to achieve ₹10,000 return?</a:t>
            </a:r>
            <a:endParaRPr sz="1760"/>
          </a:p>
          <a:p>
            <a:pPr marL="0" lvl="0" indent="0" algn="l" rtl="0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rPr lang="en-US" sz="2040" b="1"/>
              <a:t>3. Data Table</a:t>
            </a:r>
            <a:endParaRPr sz="2040"/>
          </a:p>
          <a:p>
            <a:pPr marL="457200" lvl="1" indent="0" algn="l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</a:pPr>
            <a:r>
              <a:rPr lang="en-US" sz="1760"/>
              <a:t>     Shows how changing one or two inputs affects the result.</a:t>
            </a:r>
            <a:endParaRPr sz="1760"/>
          </a:p>
          <a:p>
            <a:pPr marL="457200" lvl="1" indent="0" algn="l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</a:pPr>
            <a:r>
              <a:rPr lang="en-US" sz="1760"/>
              <a:t>     Types: One-Variable and Two-Variable Data Tables.</a:t>
            </a:r>
            <a:endParaRPr sz="176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4"/>
          <p:cNvSpPr txBox="1">
            <a:spLocks noGrp="1"/>
          </p:cNvSpPr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 Trees</a:t>
            </a:r>
            <a:endParaRPr/>
          </a:p>
        </p:txBody>
      </p:sp>
      <p:sp>
        <p:nvSpPr>
          <p:cNvPr id="620" name="Google Shape;620;p44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 Trees are widely used in practice.</a:t>
            </a:r>
            <a:endParaRPr sz="1800"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2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 Tree can be built to more complexity with numerous decision points.</a:t>
            </a:r>
            <a:endParaRPr sz="1800"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2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Probabilities can be calculated from past data, expert judgement or Delphi method</a:t>
            </a:r>
            <a:endParaRPr sz="1800"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2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5"/>
          <p:cNvSpPr txBox="1">
            <a:spLocks noGrp="1"/>
          </p:cNvSpPr>
          <p:nvPr>
            <p:ph type="title"/>
          </p:nvPr>
        </p:nvSpPr>
        <p:spPr>
          <a:xfrm>
            <a:off x="685800" y="361950"/>
            <a:ext cx="5029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3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BI for Data Analyst?</a:t>
            </a:r>
            <a:endParaRPr sz="3000"/>
          </a:p>
        </p:txBody>
      </p:sp>
      <p:sp>
        <p:nvSpPr>
          <p:cNvPr id="626" name="Google Shape;626;p4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6482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342900" lvl="0" indent="-3492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5900" b="0" i="0" u="none" strike="noStrike">
                <a:solidFill>
                  <a:srgbClr val="000000"/>
                </a:solidFill>
              </a:rPr>
              <a:t>Wide range of data visualization options to communicate insights effectively to non-technical stakeholders</a:t>
            </a:r>
            <a:endParaRPr sz="3600"/>
          </a:p>
          <a:p>
            <a:pPr marL="342900" lvl="0" indent="-34925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5900" b="0" i="0" u="none" strike="noStrike">
                <a:solidFill>
                  <a:srgbClr val="000000"/>
                </a:solidFill>
              </a:rPr>
              <a:t>Making complex data more accessible and understandable.</a:t>
            </a:r>
            <a:endParaRPr sz="3600"/>
          </a:p>
          <a:p>
            <a:pPr marL="342900" lvl="0" indent="-34925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5900" b="0" i="0" u="none" strike="noStrike">
                <a:solidFill>
                  <a:srgbClr val="000000"/>
                </a:solidFill>
              </a:rPr>
              <a:t>To create interactive dashboards that provide real-time insights into key performance indicators (KPIs)</a:t>
            </a:r>
            <a:endParaRPr sz="3600"/>
          </a:p>
          <a:p>
            <a:pPr marL="342900" lvl="0" indent="-34925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5900" b="0" i="0" u="none" strike="noStrike">
                <a:solidFill>
                  <a:srgbClr val="000000"/>
                </a:solidFill>
              </a:rPr>
              <a:t>To explore and interact with the data, drill down into details, and customize their views, which enhances decision-making.</a:t>
            </a:r>
            <a:endParaRPr sz="3600"/>
          </a:p>
          <a:p>
            <a:pPr marL="342900" lvl="0" indent="-34925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5900" b="0" i="0" u="none" strike="noStrike">
                <a:solidFill>
                  <a:srgbClr val="000000"/>
                </a:solidFill>
              </a:rPr>
              <a:t>Reduces manual reporting efforts.</a:t>
            </a:r>
            <a:endParaRPr sz="3600"/>
          </a:p>
          <a:p>
            <a:pPr marL="342900" lvl="0" indent="-3429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88888"/>
              <a:buNone/>
            </a:pPr>
            <a:br>
              <a:rPr lang="en-US" sz="3600" b="0"/>
            </a:br>
            <a:br>
              <a:rPr lang="en-US" sz="3600" b="0"/>
            </a:br>
            <a:endParaRPr sz="3600"/>
          </a:p>
        </p:txBody>
      </p:sp>
      <p:pic>
        <p:nvPicPr>
          <p:cNvPr id="627" name="Google Shape;627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7800" y="1047750"/>
            <a:ext cx="3619500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6"/>
          <p:cNvSpPr txBox="1">
            <a:spLocks noGrp="1"/>
          </p:cNvSpPr>
          <p:nvPr>
            <p:ph type="title"/>
          </p:nvPr>
        </p:nvSpPr>
        <p:spPr>
          <a:xfrm>
            <a:off x="609600" y="361950"/>
            <a:ext cx="5029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3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r>
              <a:rPr lang="en-US" sz="3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Data Analyst?</a:t>
            </a:r>
            <a:endParaRPr sz="3000"/>
          </a:p>
        </p:txBody>
      </p:sp>
      <p:sp>
        <p:nvSpPr>
          <p:cNvPr id="633" name="Google Shape;633;p46"/>
          <p:cNvSpPr txBox="1">
            <a:spLocks noGrp="1"/>
          </p:cNvSpPr>
          <p:nvPr>
            <p:ph type="body" idx="1"/>
          </p:nvPr>
        </p:nvSpPr>
        <p:spPr>
          <a:xfrm>
            <a:off x="381000" y="1352551"/>
            <a:ext cx="46482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SQL is a fundamental skill for data analysts as it provides the means to retrieve data from relational databases.</a:t>
            </a:r>
            <a:endParaRPr sz="1800"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Also to explore, analyze, clean, transform, summarize, and merge data stored in the databases.</a:t>
            </a:r>
            <a:endParaRPr sz="1800"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br>
              <a:rPr lang="en-US" b="0"/>
            </a:br>
            <a:br>
              <a:rPr lang="en-US" b="0"/>
            </a:br>
            <a:endParaRPr/>
          </a:p>
        </p:txBody>
      </p:sp>
      <p:pic>
        <p:nvPicPr>
          <p:cNvPr id="634" name="Google Shape;634;p46" descr="SQL Database for Beginners - YouTube"/>
          <p:cNvPicPr preferRelativeResize="0"/>
          <p:nvPr/>
        </p:nvPicPr>
        <p:blipFill rotWithShape="1">
          <a:blip r:embed="rId3">
            <a:alphaModFix/>
          </a:blip>
          <a:srcRect l="1887" r="3773"/>
          <a:stretch/>
        </p:blipFill>
        <p:spPr>
          <a:xfrm>
            <a:off x="5029200" y="1428750"/>
            <a:ext cx="3810000" cy="2271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7"/>
          <p:cNvSpPr txBox="1">
            <a:spLocks noGrp="1"/>
          </p:cNvSpPr>
          <p:nvPr>
            <p:ph type="ctrTitle"/>
          </p:nvPr>
        </p:nvSpPr>
        <p:spPr>
          <a:xfrm>
            <a:off x="228600" y="18264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End of Module</a:t>
            </a:r>
            <a:endParaRPr/>
          </a:p>
        </p:txBody>
      </p:sp>
      <p:grpSp>
        <p:nvGrpSpPr>
          <p:cNvPr id="641" name="Google Shape;641;p47"/>
          <p:cNvGrpSpPr/>
          <p:nvPr/>
        </p:nvGrpSpPr>
        <p:grpSpPr>
          <a:xfrm>
            <a:off x="6530140" y="2878800"/>
            <a:ext cx="2061216" cy="2024812"/>
            <a:chOff x="13944600" y="3619500"/>
            <a:chExt cx="4294200" cy="4218359"/>
          </a:xfrm>
        </p:grpSpPr>
        <p:sp>
          <p:nvSpPr>
            <p:cNvPr id="642" name="Google Shape;642;p47"/>
            <p:cNvSpPr/>
            <p:nvPr/>
          </p:nvSpPr>
          <p:spPr>
            <a:xfrm>
              <a:off x="14731458" y="5067300"/>
              <a:ext cx="2720338" cy="2770559"/>
            </a:xfrm>
            <a:custGeom>
              <a:avLst/>
              <a:gdLst/>
              <a:ahLst/>
              <a:cxnLst/>
              <a:rect l="l" t="t" r="r" b="b"/>
              <a:pathLst>
                <a:path w="3348108" h="3348108" extrusionOk="0">
                  <a:moveTo>
                    <a:pt x="0" y="0"/>
                  </a:moveTo>
                  <a:lnTo>
                    <a:pt x="3348108" y="0"/>
                  </a:lnTo>
                  <a:lnTo>
                    <a:pt x="3348108" y="3348108"/>
                  </a:lnTo>
                  <a:lnTo>
                    <a:pt x="0" y="334810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47"/>
            <p:cNvSpPr txBox="1"/>
            <p:nvPr/>
          </p:nvSpPr>
          <p:spPr>
            <a:xfrm>
              <a:off x="13944600" y="3619500"/>
              <a:ext cx="42942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92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Refer &amp; Earn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44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 to ₹ 5,000/- per referral </a:t>
              </a:r>
              <a:endParaRPr/>
            </a:p>
          </p:txBody>
        </p:sp>
      </p:grpSp>
      <p:pic>
        <p:nvPicPr>
          <p:cNvPr id="644" name="Google Shape;644;p47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02601" y="302425"/>
            <a:ext cx="2817873" cy="72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3012</Words>
  <Application>Microsoft Office PowerPoint</Application>
  <PresentationFormat>On-screen Show (16:9)</PresentationFormat>
  <Paragraphs>647</Paragraphs>
  <Slides>47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Noto Sans Symbols</vt:lpstr>
      <vt:lpstr>Arial</vt:lpstr>
      <vt:lpstr>Calibri</vt:lpstr>
      <vt:lpstr>Office Theme</vt:lpstr>
      <vt:lpstr>Advanced Data Analytics</vt:lpstr>
      <vt:lpstr>Data Analytics</vt:lpstr>
      <vt:lpstr>Different Stages in Data Analytics</vt:lpstr>
      <vt:lpstr>Application of Business Analytics</vt:lpstr>
      <vt:lpstr>Data Sources</vt:lpstr>
      <vt:lpstr>Data Sources</vt:lpstr>
      <vt:lpstr>Challenges</vt:lpstr>
      <vt:lpstr>Building and Optimizing Models</vt:lpstr>
      <vt:lpstr>Decision Modeling</vt:lpstr>
      <vt:lpstr>Example: Inventory Planning</vt:lpstr>
      <vt:lpstr>PowerPoint Presentation</vt:lpstr>
      <vt:lpstr>PowerPoint Presentation</vt:lpstr>
      <vt:lpstr>Prescriptive Model Pricing</vt:lpstr>
      <vt:lpstr>Prescriptive Model Pricing</vt:lpstr>
      <vt:lpstr>Sales Promotion Decision</vt:lpstr>
      <vt:lpstr>Sales Promotion Decision</vt:lpstr>
      <vt:lpstr>Sales Prediction with Multiple Regression Analysis</vt:lpstr>
      <vt:lpstr> Predictive Analytics with less uncertainty </vt:lpstr>
      <vt:lpstr>PowerPoint Presentation</vt:lpstr>
      <vt:lpstr>KERC Inc – Car Manufacturer Optimization Model -1 </vt:lpstr>
      <vt:lpstr>KERC Inc – Car Manufacturer</vt:lpstr>
      <vt:lpstr>KERC Inc – Car Manufacturer…</vt:lpstr>
      <vt:lpstr>Optimize KERC production</vt:lpstr>
      <vt:lpstr>WonderZon  Retailer Optimization Model of Logistics to minimize cost</vt:lpstr>
      <vt:lpstr>PowerPoint Presentation</vt:lpstr>
      <vt:lpstr>Predictive Analytics  with High Uncertainty</vt:lpstr>
      <vt:lpstr>Internet Usage - Plan Decision Monte Carlo Simulation</vt:lpstr>
      <vt:lpstr>SMART IT Inc. Internet Plan</vt:lpstr>
      <vt:lpstr>Monte Carlo Simulation</vt:lpstr>
      <vt:lpstr>Kickathlon Sport Retailer Decision Tree &amp; Monte Carlo Simulation</vt:lpstr>
      <vt:lpstr>Kickathlon – Supplier Decision Making</vt:lpstr>
      <vt:lpstr>Decision Trees</vt:lpstr>
      <vt:lpstr>Decision Tree – Key Components</vt:lpstr>
      <vt:lpstr>Kickathlon – Supplier Decision Tree</vt:lpstr>
      <vt:lpstr>Common Decision Strategies</vt:lpstr>
      <vt:lpstr>Maxi-Min Strategy</vt:lpstr>
      <vt:lpstr>Maxi-Maxi Strategy</vt:lpstr>
      <vt:lpstr>Maximize Expected Value Strategy</vt:lpstr>
      <vt:lpstr>What if the Demand when market in weak is not single value like 6000 units but a range like between 3000 to 8000 units?  This is the usual scenario in practice.</vt:lpstr>
      <vt:lpstr>PowerPoint Presentation</vt:lpstr>
      <vt:lpstr>PowerPoint Presentation</vt:lpstr>
      <vt:lpstr>What-If Analysis</vt:lpstr>
      <vt:lpstr> Types of What-If Analysis  </vt:lpstr>
      <vt:lpstr>Decision Trees</vt:lpstr>
      <vt:lpstr>Why BI for Data Analyst?</vt:lpstr>
      <vt:lpstr>Why SQL for Data Analyst?</vt:lpstr>
      <vt:lpstr>End of Module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Ashok Kumar A</dc:creator>
  <cp:lastModifiedBy>Gangula Vijayalakshmi</cp:lastModifiedBy>
  <cp:revision>2</cp:revision>
  <dcterms:created xsi:type="dcterms:W3CDTF">2020-03-21T11:38:11Z</dcterms:created>
  <dcterms:modified xsi:type="dcterms:W3CDTF">2026-05-31T12:50:10Z</dcterms:modified>
</cp:coreProperties>
</file>