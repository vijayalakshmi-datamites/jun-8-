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82" r:id="rId3"/>
    <p:sldId id="271" r:id="rId4"/>
    <p:sldId id="283" r:id="rId5"/>
    <p:sldId id="284" r:id="rId6"/>
    <p:sldId id="272" r:id="rId7"/>
    <p:sldId id="273" r:id="rId8"/>
    <p:sldId id="274" r:id="rId9"/>
    <p:sldId id="275" r:id="rId10"/>
    <p:sldId id="276" r:id="rId11"/>
    <p:sldId id="277" r:id="rId12"/>
    <p:sldId id="278" r:id="rId13"/>
    <p:sldId id="279" r:id="rId14"/>
    <p:sldId id="268" r:id="rId15"/>
    <p:sldId id="285" r:id="rId16"/>
    <p:sldId id="269" r:id="rId17"/>
    <p:sldId id="270" r:id="rId18"/>
    <p:sldId id="286" r:id="rId19"/>
    <p:sldId id="287" r:id="rId20"/>
    <p:sldId id="290" r:id="rId21"/>
    <p:sldId id="291" r:id="rId22"/>
    <p:sldId id="280"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hMVItVc9/SI2kLm/i2mgIiopD2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customschemas.google.com/relationships/presentationmetadata" Target="meta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ngula Vijayalakshmi" userId="d18b6a86b3badea5" providerId="LiveId" clId="{38C9C441-9006-4956-B570-86329C55A408}"/>
    <pc:docChg chg="undo custSel addSld delSld modSld sldOrd">
      <pc:chgData name="Gangula Vijayalakshmi" userId="d18b6a86b3badea5" providerId="LiveId" clId="{38C9C441-9006-4956-B570-86329C55A408}" dt="2026-04-13T09:32:14.684" v="61" actId="14100"/>
      <pc:docMkLst>
        <pc:docMk/>
      </pc:docMkLst>
      <pc:sldChg chg="ord">
        <pc:chgData name="Gangula Vijayalakshmi" userId="d18b6a86b3badea5" providerId="LiveId" clId="{38C9C441-9006-4956-B570-86329C55A408}" dt="2026-04-10T07:51:52.504" v="21"/>
        <pc:sldMkLst>
          <pc:docMk/>
          <pc:sldMk cId="0" sldId="268"/>
        </pc:sldMkLst>
      </pc:sldChg>
      <pc:sldChg chg="ord">
        <pc:chgData name="Gangula Vijayalakshmi" userId="d18b6a86b3badea5" providerId="LiveId" clId="{38C9C441-9006-4956-B570-86329C55A408}" dt="2026-04-10T08:03:15.518" v="30"/>
        <pc:sldMkLst>
          <pc:docMk/>
          <pc:sldMk cId="0" sldId="269"/>
        </pc:sldMkLst>
      </pc:sldChg>
      <pc:sldChg chg="ord">
        <pc:chgData name="Gangula Vijayalakshmi" userId="d18b6a86b3badea5" providerId="LiveId" clId="{38C9C441-9006-4956-B570-86329C55A408}" dt="2026-04-10T08:04:14.805" v="32"/>
        <pc:sldMkLst>
          <pc:docMk/>
          <pc:sldMk cId="0" sldId="270"/>
        </pc:sldMkLst>
      </pc:sldChg>
      <pc:sldChg chg="modSp mod">
        <pc:chgData name="Gangula Vijayalakshmi" userId="d18b6a86b3badea5" providerId="LiveId" clId="{38C9C441-9006-4956-B570-86329C55A408}" dt="2026-04-13T08:28:05.289" v="59" actId="20577"/>
        <pc:sldMkLst>
          <pc:docMk/>
          <pc:sldMk cId="0" sldId="271"/>
        </pc:sldMkLst>
        <pc:spChg chg="mod">
          <ac:chgData name="Gangula Vijayalakshmi" userId="d18b6a86b3badea5" providerId="LiveId" clId="{38C9C441-9006-4956-B570-86329C55A408}" dt="2026-04-13T08:28:05.289" v="59" actId="20577"/>
          <ac:spMkLst>
            <pc:docMk/>
            <pc:sldMk cId="0" sldId="271"/>
            <ac:spMk id="178" creationId="{00000000-0000-0000-0000-000000000000}"/>
          </ac:spMkLst>
        </pc:spChg>
      </pc:sldChg>
      <pc:sldChg chg="modSp mod">
        <pc:chgData name="Gangula Vijayalakshmi" userId="d18b6a86b3badea5" providerId="LiveId" clId="{38C9C441-9006-4956-B570-86329C55A408}" dt="2026-04-10T11:48:27.917" v="34" actId="27636"/>
        <pc:sldMkLst>
          <pc:docMk/>
          <pc:sldMk cId="0" sldId="272"/>
        </pc:sldMkLst>
        <pc:spChg chg="mod">
          <ac:chgData name="Gangula Vijayalakshmi" userId="d18b6a86b3badea5" providerId="LiveId" clId="{38C9C441-9006-4956-B570-86329C55A408}" dt="2026-04-10T11:48:27.917" v="34" actId="27636"/>
          <ac:spMkLst>
            <pc:docMk/>
            <pc:sldMk cId="0" sldId="272"/>
            <ac:spMk id="188" creationId="{00000000-0000-0000-0000-000000000000}"/>
          </ac:spMkLst>
        </pc:spChg>
      </pc:sldChg>
      <pc:sldChg chg="ord">
        <pc:chgData name="Gangula Vijayalakshmi" userId="d18b6a86b3badea5" providerId="LiveId" clId="{38C9C441-9006-4956-B570-86329C55A408}" dt="2026-04-08T16:40:20.582" v="1"/>
        <pc:sldMkLst>
          <pc:docMk/>
          <pc:sldMk cId="0" sldId="273"/>
        </pc:sldMkLst>
      </pc:sldChg>
      <pc:sldChg chg="modSp mod ord">
        <pc:chgData name="Gangula Vijayalakshmi" userId="d18b6a86b3badea5" providerId="LiveId" clId="{38C9C441-9006-4956-B570-86329C55A408}" dt="2026-04-11T07:25:29.887" v="52" actId="1036"/>
        <pc:sldMkLst>
          <pc:docMk/>
          <pc:sldMk cId="0" sldId="274"/>
        </pc:sldMkLst>
        <pc:spChg chg="mod">
          <ac:chgData name="Gangula Vijayalakshmi" userId="d18b6a86b3badea5" providerId="LiveId" clId="{38C9C441-9006-4956-B570-86329C55A408}" dt="2026-04-11T07:25:29.887" v="52" actId="1036"/>
          <ac:spMkLst>
            <pc:docMk/>
            <pc:sldMk cId="0" sldId="274"/>
            <ac:spMk id="205" creationId="{00000000-0000-0000-0000-000000000000}"/>
          </ac:spMkLst>
        </pc:spChg>
        <pc:picChg chg="mod">
          <ac:chgData name="Gangula Vijayalakshmi" userId="d18b6a86b3badea5" providerId="LiveId" clId="{38C9C441-9006-4956-B570-86329C55A408}" dt="2026-04-09T10:15:57.325" v="8" actId="1076"/>
          <ac:picMkLst>
            <pc:docMk/>
            <pc:sldMk cId="0" sldId="274"/>
            <ac:picMk id="211" creationId="{00000000-0000-0000-0000-000000000000}"/>
          </ac:picMkLst>
        </pc:picChg>
      </pc:sldChg>
      <pc:sldChg chg="modSp mod ord">
        <pc:chgData name="Gangula Vijayalakshmi" userId="d18b6a86b3badea5" providerId="LiveId" clId="{38C9C441-9006-4956-B570-86329C55A408}" dt="2026-04-09T10:15:50.760" v="7"/>
        <pc:sldMkLst>
          <pc:docMk/>
          <pc:sldMk cId="0" sldId="275"/>
        </pc:sldMkLst>
        <pc:spChg chg="mod">
          <ac:chgData name="Gangula Vijayalakshmi" userId="d18b6a86b3badea5" providerId="LiveId" clId="{38C9C441-9006-4956-B570-86329C55A408}" dt="2026-04-09T10:15:43.172" v="5" actId="27636"/>
          <ac:spMkLst>
            <pc:docMk/>
            <pc:sldMk cId="0" sldId="275"/>
            <ac:spMk id="217" creationId="{00000000-0000-0000-0000-000000000000}"/>
          </ac:spMkLst>
        </pc:spChg>
      </pc:sldChg>
      <pc:sldChg chg="modSp mod ord">
        <pc:chgData name="Gangula Vijayalakshmi" userId="d18b6a86b3badea5" providerId="LiveId" clId="{38C9C441-9006-4956-B570-86329C55A408}" dt="2026-04-11T07:26:38.696" v="53" actId="1076"/>
        <pc:sldMkLst>
          <pc:docMk/>
          <pc:sldMk cId="0" sldId="276"/>
        </pc:sldMkLst>
        <pc:picChg chg="mod">
          <ac:chgData name="Gangula Vijayalakshmi" userId="d18b6a86b3badea5" providerId="LiveId" clId="{38C9C441-9006-4956-B570-86329C55A408}" dt="2026-04-11T07:26:38.696" v="53" actId="1076"/>
          <ac:picMkLst>
            <pc:docMk/>
            <pc:sldMk cId="0" sldId="276"/>
            <ac:picMk id="225" creationId="{00000000-0000-0000-0000-000000000000}"/>
          </ac:picMkLst>
        </pc:picChg>
      </pc:sldChg>
      <pc:sldChg chg="modSp mod ord">
        <pc:chgData name="Gangula Vijayalakshmi" userId="d18b6a86b3badea5" providerId="LiveId" clId="{38C9C441-9006-4956-B570-86329C55A408}" dt="2026-04-09T10:24:34.952" v="13" actId="1076"/>
        <pc:sldMkLst>
          <pc:docMk/>
          <pc:sldMk cId="0" sldId="277"/>
        </pc:sldMkLst>
        <pc:picChg chg="mod">
          <ac:chgData name="Gangula Vijayalakshmi" userId="d18b6a86b3badea5" providerId="LiveId" clId="{38C9C441-9006-4956-B570-86329C55A408}" dt="2026-04-09T10:24:34.952" v="13" actId="1076"/>
          <ac:picMkLst>
            <pc:docMk/>
            <pc:sldMk cId="0" sldId="277"/>
            <ac:picMk id="232" creationId="{00000000-0000-0000-0000-000000000000}"/>
          </ac:picMkLst>
        </pc:picChg>
      </pc:sldChg>
      <pc:sldChg chg="ord">
        <pc:chgData name="Gangula Vijayalakshmi" userId="d18b6a86b3badea5" providerId="LiveId" clId="{38C9C441-9006-4956-B570-86329C55A408}" dt="2026-04-09T10:25:53.569" v="15"/>
        <pc:sldMkLst>
          <pc:docMk/>
          <pc:sldMk cId="0" sldId="278"/>
        </pc:sldMkLst>
      </pc:sldChg>
      <pc:sldChg chg="ord">
        <pc:chgData name="Gangula Vijayalakshmi" userId="d18b6a86b3badea5" providerId="LiveId" clId="{38C9C441-9006-4956-B570-86329C55A408}" dt="2026-04-09T11:13:37.954" v="19"/>
        <pc:sldMkLst>
          <pc:docMk/>
          <pc:sldMk cId="0" sldId="279"/>
        </pc:sldMkLst>
      </pc:sldChg>
      <pc:sldChg chg="modSp mod">
        <pc:chgData name="Gangula Vijayalakshmi" userId="d18b6a86b3badea5" providerId="LiveId" clId="{38C9C441-9006-4956-B570-86329C55A408}" dt="2026-04-13T09:32:14.684" v="61" actId="14100"/>
        <pc:sldMkLst>
          <pc:docMk/>
          <pc:sldMk cId="457955759" sldId="284"/>
        </pc:sldMkLst>
        <pc:picChg chg="mod">
          <ac:chgData name="Gangula Vijayalakshmi" userId="d18b6a86b3badea5" providerId="LiveId" clId="{38C9C441-9006-4956-B570-86329C55A408}" dt="2026-04-13T09:32:14.684" v="61" actId="14100"/>
          <ac:picMkLst>
            <pc:docMk/>
            <pc:sldMk cId="457955759" sldId="284"/>
            <ac:picMk id="6" creationId="{0DEC8041-5CD3-3F53-BD63-0F517F3ADB9B}"/>
          </ac:picMkLst>
        </pc:picChg>
      </pc:sldChg>
      <pc:sldChg chg="addSp modSp new mod">
        <pc:chgData name="Gangula Vijayalakshmi" userId="d18b6a86b3badea5" providerId="LiveId" clId="{38C9C441-9006-4956-B570-86329C55A408}" dt="2026-04-10T07:58:20.176" v="28" actId="14100"/>
        <pc:sldMkLst>
          <pc:docMk/>
          <pc:sldMk cId="1728948927" sldId="285"/>
        </pc:sldMkLst>
        <pc:picChg chg="add mod">
          <ac:chgData name="Gangula Vijayalakshmi" userId="d18b6a86b3badea5" providerId="LiveId" clId="{38C9C441-9006-4956-B570-86329C55A408}" dt="2026-04-10T07:58:20.176" v="28" actId="14100"/>
          <ac:picMkLst>
            <pc:docMk/>
            <pc:sldMk cId="1728948927" sldId="285"/>
            <ac:picMk id="6" creationId="{E575EC53-01B1-F772-2A2A-EBED8111EE15}"/>
          </ac:picMkLst>
        </pc:picChg>
      </pc:sldChg>
      <pc:sldChg chg="add ord">
        <pc:chgData name="Gangula Vijayalakshmi" userId="d18b6a86b3badea5" providerId="LiveId" clId="{38C9C441-9006-4956-B570-86329C55A408}" dt="2026-04-10T11:48:31.841" v="36"/>
        <pc:sldMkLst>
          <pc:docMk/>
          <pc:sldMk cId="0" sldId="286"/>
        </pc:sldMkLst>
      </pc:sldChg>
      <pc:sldChg chg="add">
        <pc:chgData name="Gangula Vijayalakshmi" userId="d18b6a86b3badea5" providerId="LiveId" clId="{38C9C441-9006-4956-B570-86329C55A408}" dt="2026-04-10T11:57:43.304" v="37"/>
        <pc:sldMkLst>
          <pc:docMk/>
          <pc:sldMk cId="0" sldId="287"/>
        </pc:sldMkLst>
      </pc:sldChg>
      <pc:sldChg chg="add">
        <pc:chgData name="Gangula Vijayalakshmi" userId="d18b6a86b3badea5" providerId="LiveId" clId="{38C9C441-9006-4956-B570-86329C55A408}" dt="2026-04-10T12:12:22.581" v="40"/>
        <pc:sldMkLst>
          <pc:docMk/>
          <pc:sldMk cId="0" sldId="290"/>
        </pc:sldMkLst>
      </pc:sldChg>
      <pc:sldChg chg="add">
        <pc:chgData name="Gangula Vijayalakshmi" userId="d18b6a86b3badea5" providerId="LiveId" clId="{38C9C441-9006-4956-B570-86329C55A408}" dt="2026-04-10T12:12:38.013" v="41"/>
        <pc:sldMkLst>
          <pc:docMk/>
          <pc:sldMk cId="0" sldId="291"/>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D:\All%20course%20material\CDA\DAA\orders_data.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[orders_data.xlsx]Comparison!PivotTable5</c:name>
    <c:fmtId val="3"/>
  </c:pivotSource>
  <c:chart>
    <c:autoTitleDeleted val="0"/>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Comparison!$B$3</c:f>
              <c:strCache>
                <c:ptCount val="1"/>
                <c:pt idx="0">
                  <c:v>Total Profit</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Comparison!$A$4:$A$8</c:f>
              <c:strCache>
                <c:ptCount val="4"/>
                <c:pt idx="0">
                  <c:v>Central</c:v>
                </c:pt>
                <c:pt idx="1">
                  <c:v>East</c:v>
                </c:pt>
                <c:pt idx="2">
                  <c:v>South</c:v>
                </c:pt>
                <c:pt idx="3">
                  <c:v>West</c:v>
                </c:pt>
              </c:strCache>
            </c:strRef>
          </c:cat>
          <c:val>
            <c:numRef>
              <c:f>Comparison!$B$4:$B$8</c:f>
              <c:numCache>
                <c:formatCode>0</c:formatCode>
                <c:ptCount val="4"/>
                <c:pt idx="0">
                  <c:v>39706.362499999981</c:v>
                </c:pt>
                <c:pt idx="1">
                  <c:v>91522.780000000261</c:v>
                </c:pt>
                <c:pt idx="2">
                  <c:v>46749.430300000065</c:v>
                </c:pt>
                <c:pt idx="3">
                  <c:v>108418.44890000018</c:v>
                </c:pt>
              </c:numCache>
            </c:numRef>
          </c:val>
          <c:extLst>
            <c:ext xmlns:c16="http://schemas.microsoft.com/office/drawing/2014/chart" uri="{C3380CC4-5D6E-409C-BE32-E72D297353CC}">
              <c16:uniqueId val="{00000000-1E02-4310-9B84-46B460287FC1}"/>
            </c:ext>
          </c:extLst>
        </c:ser>
        <c:ser>
          <c:idx val="1"/>
          <c:order val="1"/>
          <c:tx>
            <c:strRef>
              <c:f>Comparison!$C$3</c:f>
              <c:strCache>
                <c:ptCount val="1"/>
                <c:pt idx="0">
                  <c:v>Total Sales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Comparison!$A$4:$A$8</c:f>
              <c:strCache>
                <c:ptCount val="4"/>
                <c:pt idx="0">
                  <c:v>Central</c:v>
                </c:pt>
                <c:pt idx="1">
                  <c:v>East</c:v>
                </c:pt>
                <c:pt idx="2">
                  <c:v>South</c:v>
                </c:pt>
                <c:pt idx="3">
                  <c:v>West</c:v>
                </c:pt>
              </c:strCache>
            </c:strRef>
          </c:cat>
          <c:val>
            <c:numRef>
              <c:f>Comparison!$C$4:$C$8</c:f>
              <c:numCache>
                <c:formatCode>0</c:formatCode>
                <c:ptCount val="4"/>
                <c:pt idx="0">
                  <c:v>501239.89080000052</c:v>
                </c:pt>
                <c:pt idx="1">
                  <c:v>678781.2399999979</c:v>
                </c:pt>
                <c:pt idx="2">
                  <c:v>391721.90500000032</c:v>
                </c:pt>
                <c:pt idx="3">
                  <c:v>725457.82450000057</c:v>
                </c:pt>
              </c:numCache>
            </c:numRef>
          </c:val>
          <c:extLst>
            <c:ext xmlns:c16="http://schemas.microsoft.com/office/drawing/2014/chart" uri="{C3380CC4-5D6E-409C-BE32-E72D297353CC}">
              <c16:uniqueId val="{00000001-1E02-4310-9B84-46B460287FC1}"/>
            </c:ext>
          </c:extLst>
        </c:ser>
        <c:dLbls>
          <c:dLblPos val="outEnd"/>
          <c:showLegendKey val="0"/>
          <c:showVal val="1"/>
          <c:showCatName val="0"/>
          <c:showSerName val="0"/>
          <c:showPercent val="0"/>
          <c:showBubbleSize val="0"/>
        </c:dLbls>
        <c:gapWidth val="219"/>
        <c:overlap val="-27"/>
        <c:axId val="329750991"/>
        <c:axId val="1310562095"/>
      </c:barChart>
      <c:catAx>
        <c:axId val="329750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0562095"/>
        <c:crosses val="autoZero"/>
        <c:auto val="1"/>
        <c:lblAlgn val="ctr"/>
        <c:lblOffset val="100"/>
        <c:noMultiLvlLbl val="0"/>
      </c:catAx>
      <c:valAx>
        <c:axId val="131056209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2975099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 name="Google Shape;3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 name="Google Shape;4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 name="Google Shape;6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3"/>
        <p:cNvGrpSpPr/>
        <p:nvPr/>
      </p:nvGrpSpPr>
      <p:grpSpPr>
        <a:xfrm>
          <a:off x="0" y="0"/>
          <a:ext cx="0" cy="0"/>
          <a:chOff x="0" y="0"/>
          <a:chExt cx="0" cy="0"/>
        </a:xfrm>
      </p:grpSpPr>
      <p:sp>
        <p:nvSpPr>
          <p:cNvPr id="14" name="Google Shape;14;p2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 name="Google Shape;16;p28"/>
          <p:cNvSpPr txBox="1"/>
          <p:nvPr/>
        </p:nvSpPr>
        <p:spPr>
          <a:xfrm>
            <a:off x="3352800" y="6469856"/>
            <a:ext cx="4572000" cy="273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900" b="0" i="0" u="none" strike="noStrike" cap="none">
                <a:solidFill>
                  <a:srgbClr val="7F7F7F"/>
                </a:solidFill>
                <a:latin typeface="Calibri"/>
                <a:ea typeface="Calibri"/>
                <a:cs typeface="Calibri"/>
                <a:sym typeface="Calibri"/>
              </a:rPr>
              <a:t>© DataMites™. All Rights Reserved | www.datamites.com | IABAC® Accredited</a:t>
            </a:r>
            <a:endParaRPr sz="900" b="0" i="0" u="none" strike="noStrike" cap="none">
              <a:solidFill>
                <a:srgbClr val="7F7F7F"/>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2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pic>
        <p:nvPicPr>
          <p:cNvPr id="20" name="Google Shape;20;p29" descr="Logo&#10;&#10;Description automatically generated"/>
          <p:cNvPicPr preferRelativeResize="0"/>
          <p:nvPr/>
        </p:nvPicPr>
        <p:blipFill rotWithShape="1">
          <a:blip r:embed="rId2">
            <a:alphaModFix/>
          </a:blip>
          <a:srcRect/>
          <a:stretch/>
        </p:blipFill>
        <p:spPr>
          <a:xfrm>
            <a:off x="9507682" y="6213764"/>
            <a:ext cx="2035301" cy="52656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0"/>
          <p:cNvSpPr txBox="1">
            <a:spLocks noGrp="1"/>
          </p:cNvSpPr>
          <p:nvPr>
            <p:ph type="title"/>
          </p:nvPr>
        </p:nvSpPr>
        <p:spPr>
          <a:xfrm>
            <a:off x="838200" y="365126"/>
            <a:ext cx="10515600" cy="76540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0"/>
          <p:cNvSpPr txBox="1">
            <a:spLocks noGrp="1"/>
          </p:cNvSpPr>
          <p:nvPr>
            <p:ph type="body" idx="1"/>
          </p:nvPr>
        </p:nvSpPr>
        <p:spPr>
          <a:xfrm>
            <a:off x="838200" y="1271847"/>
            <a:ext cx="10515600" cy="490511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0"/>
          <p:cNvSpPr txBox="1">
            <a:spLocks noGrp="1"/>
          </p:cNvSpPr>
          <p:nvPr>
            <p:ph type="sldNum" idx="12"/>
          </p:nvPr>
        </p:nvSpPr>
        <p:spPr>
          <a:xfrm>
            <a:off x="10968644" y="6419778"/>
            <a:ext cx="573578" cy="365125"/>
          </a:xfrm>
          <a:prstGeom prst="rect">
            <a:avLst/>
          </a:prstGeom>
          <a:noFill/>
          <a:ln>
            <a:noFill/>
          </a:ln>
        </p:spPr>
        <p:txBody>
          <a:bodyPr spcFirstLastPara="1" wrap="square" lIns="91425" tIns="45700" rIns="91425" bIns="45700" anchor="t" anchorCtr="0">
            <a:noAutofit/>
          </a:bodyPr>
          <a:lstStyle>
            <a:lvl1pPr marL="0" marR="0" lvl="0" indent="0" algn="ctr" rtl="0">
              <a:spcBef>
                <a:spcPts val="0"/>
              </a:spcBef>
              <a:buNone/>
              <a:defRPr sz="1800">
                <a:solidFill>
                  <a:schemeClr val="dk1"/>
                </a:solidFill>
                <a:latin typeface="Calibri"/>
                <a:ea typeface="Calibri"/>
                <a:cs typeface="Calibri"/>
                <a:sym typeface="Calibri"/>
              </a:defRPr>
            </a:lvl1pPr>
            <a:lvl2pPr marL="0" marR="0" lvl="1" indent="0" algn="ctr" rtl="0">
              <a:spcBef>
                <a:spcPts val="0"/>
              </a:spcBef>
              <a:buNone/>
              <a:defRPr sz="1800">
                <a:solidFill>
                  <a:schemeClr val="dk1"/>
                </a:solidFill>
                <a:latin typeface="Calibri"/>
                <a:ea typeface="Calibri"/>
                <a:cs typeface="Calibri"/>
                <a:sym typeface="Calibri"/>
              </a:defRPr>
            </a:lvl2pPr>
            <a:lvl3pPr marL="0" marR="0" lvl="2" indent="0" algn="ctr" rtl="0">
              <a:spcBef>
                <a:spcPts val="0"/>
              </a:spcBef>
              <a:buNone/>
              <a:defRPr sz="1800">
                <a:solidFill>
                  <a:schemeClr val="dk1"/>
                </a:solidFill>
                <a:latin typeface="Calibri"/>
                <a:ea typeface="Calibri"/>
                <a:cs typeface="Calibri"/>
                <a:sym typeface="Calibri"/>
              </a:defRPr>
            </a:lvl3pPr>
            <a:lvl4pPr marL="0" marR="0" lvl="3" indent="0" algn="ctr" rtl="0">
              <a:spcBef>
                <a:spcPts val="0"/>
              </a:spcBef>
              <a:buNone/>
              <a:defRPr sz="1800">
                <a:solidFill>
                  <a:schemeClr val="dk1"/>
                </a:solidFill>
                <a:latin typeface="Calibri"/>
                <a:ea typeface="Calibri"/>
                <a:cs typeface="Calibri"/>
                <a:sym typeface="Calibri"/>
              </a:defRPr>
            </a:lvl4pPr>
            <a:lvl5pPr marL="0" marR="0" lvl="4" indent="0" algn="ctr" rtl="0">
              <a:spcBef>
                <a:spcPts val="0"/>
              </a:spcBef>
              <a:buNone/>
              <a:defRPr sz="1800">
                <a:solidFill>
                  <a:schemeClr val="dk1"/>
                </a:solidFill>
                <a:latin typeface="Calibri"/>
                <a:ea typeface="Calibri"/>
                <a:cs typeface="Calibri"/>
                <a:sym typeface="Calibri"/>
              </a:defRPr>
            </a:lvl5pPr>
            <a:lvl6pPr marL="0" marR="0" lvl="5" indent="0" algn="ctr" rtl="0">
              <a:spcBef>
                <a:spcPts val="0"/>
              </a:spcBef>
              <a:buNone/>
              <a:defRPr sz="1800">
                <a:solidFill>
                  <a:schemeClr val="dk1"/>
                </a:solidFill>
                <a:latin typeface="Calibri"/>
                <a:ea typeface="Calibri"/>
                <a:cs typeface="Calibri"/>
                <a:sym typeface="Calibri"/>
              </a:defRPr>
            </a:lvl6pPr>
            <a:lvl7pPr marL="0" marR="0" lvl="6" indent="0" algn="ctr" rtl="0">
              <a:spcBef>
                <a:spcPts val="0"/>
              </a:spcBef>
              <a:buNone/>
              <a:defRPr sz="1800">
                <a:solidFill>
                  <a:schemeClr val="dk1"/>
                </a:solidFill>
                <a:latin typeface="Calibri"/>
                <a:ea typeface="Calibri"/>
                <a:cs typeface="Calibri"/>
                <a:sym typeface="Calibri"/>
              </a:defRPr>
            </a:lvl7pPr>
            <a:lvl8pPr marL="0" marR="0" lvl="7" indent="0" algn="ctr" rtl="0">
              <a:spcBef>
                <a:spcPts val="0"/>
              </a:spcBef>
              <a:buNone/>
              <a:defRPr sz="1800">
                <a:solidFill>
                  <a:schemeClr val="dk1"/>
                </a:solidFill>
                <a:latin typeface="Calibri"/>
                <a:ea typeface="Calibri"/>
                <a:cs typeface="Calibri"/>
                <a:sym typeface="Calibri"/>
              </a:defRPr>
            </a:lvl8pPr>
            <a:lvl9pPr marL="0" marR="0" lvl="8" indent="0" algn="ctr" rtl="0">
              <a:spcBef>
                <a:spcPts val="0"/>
              </a:spcBef>
              <a:buNone/>
              <a:defRPr sz="1800">
                <a:solidFill>
                  <a:schemeClr val="dk1"/>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pic>
        <p:nvPicPr>
          <p:cNvPr id="25" name="Google Shape;25;p30" descr="Logo&#10;&#10;Description automatically generated"/>
          <p:cNvPicPr preferRelativeResize="0"/>
          <p:nvPr/>
        </p:nvPicPr>
        <p:blipFill rotWithShape="1">
          <a:blip r:embed="rId2">
            <a:alphaModFix/>
          </a:blip>
          <a:srcRect/>
          <a:stretch/>
        </p:blipFill>
        <p:spPr>
          <a:xfrm>
            <a:off x="9559636" y="6492874"/>
            <a:ext cx="1246909" cy="32259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31"/>
          <p:cNvSpPr txBox="1">
            <a:spLocks noGrp="1"/>
          </p:cNvSpPr>
          <p:nvPr>
            <p:ph type="ftr" idx="11"/>
          </p:nvPr>
        </p:nvSpPr>
        <p:spPr>
          <a:xfrm>
            <a:off x="4038600" y="6567054"/>
            <a:ext cx="4114800" cy="13779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9" name="Google Shape;29;p31"/>
          <p:cNvSpPr txBox="1">
            <a:spLocks noGrp="1"/>
          </p:cNvSpPr>
          <p:nvPr>
            <p:ph type="sldNum" idx="12"/>
          </p:nvPr>
        </p:nvSpPr>
        <p:spPr>
          <a:xfrm>
            <a:off x="10947862" y="6356350"/>
            <a:ext cx="573578"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0"/>
        <p:cNvGrpSpPr/>
        <p:nvPr/>
      </p:nvGrpSpPr>
      <p:grpSpPr>
        <a:xfrm>
          <a:off x="0" y="0"/>
          <a:ext cx="0" cy="0"/>
          <a:chOff x="0" y="0"/>
          <a:chExt cx="0" cy="0"/>
        </a:xfrm>
      </p:grpSpPr>
      <p:sp>
        <p:nvSpPr>
          <p:cNvPr id="31" name="Google Shape;31;p32"/>
          <p:cNvSpPr txBox="1">
            <a:spLocks noGrp="1"/>
          </p:cNvSpPr>
          <p:nvPr>
            <p:ph type="ftr" idx="11"/>
          </p:nvPr>
        </p:nvSpPr>
        <p:spPr>
          <a:xfrm>
            <a:off x="4038600" y="6567054"/>
            <a:ext cx="4114800" cy="13779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32"/>
          <p:cNvSpPr txBox="1">
            <a:spLocks noGrp="1"/>
          </p:cNvSpPr>
          <p:nvPr>
            <p:ph type="sldNum" idx="12"/>
          </p:nvPr>
        </p:nvSpPr>
        <p:spPr>
          <a:xfrm>
            <a:off x="10947862" y="6356350"/>
            <a:ext cx="573578"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p:nvPr/>
        </p:nvSpPr>
        <p:spPr>
          <a:xfrm>
            <a:off x="3581400" y="6469856"/>
            <a:ext cx="4572000" cy="2739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900" b="0" i="0" u="none" strike="noStrike" cap="none">
                <a:solidFill>
                  <a:srgbClr val="7F7F7F"/>
                </a:solidFill>
                <a:latin typeface="Calibri"/>
                <a:ea typeface="Calibri"/>
                <a:cs typeface="Calibri"/>
                <a:sym typeface="Calibri"/>
              </a:rPr>
              <a:t>© DataMites™. All Rights Reserved | www.datamites.com | IABAC® Accredited</a:t>
            </a:r>
            <a:endParaRPr sz="900" b="0" i="0" u="none" strike="noStrike" cap="none">
              <a:solidFill>
                <a:srgbClr val="7F7F7F"/>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hyperlink" Target="mailto:care@datamites.com"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sz="6400"/>
              <a:t>Data Analysis Associate</a:t>
            </a:r>
            <a:endParaRPr sz="6400"/>
          </a:p>
        </p:txBody>
      </p:sp>
      <p:pic>
        <p:nvPicPr>
          <p:cNvPr id="38" name="Google Shape;38;p1" descr="Logo&#10;&#10;Description automatically generated"/>
          <p:cNvPicPr preferRelativeResize="0"/>
          <p:nvPr/>
        </p:nvPicPr>
        <p:blipFill rotWithShape="1">
          <a:blip r:embed="rId3">
            <a:alphaModFix/>
          </a:blip>
          <a:srcRect/>
          <a:stretch/>
        </p:blipFill>
        <p:spPr>
          <a:xfrm>
            <a:off x="6096000" y="4783017"/>
            <a:ext cx="1376143" cy="1381647"/>
          </a:xfrm>
          <a:prstGeom prst="rect">
            <a:avLst/>
          </a:prstGeom>
          <a:noFill/>
          <a:ln>
            <a:noFill/>
          </a:ln>
        </p:spPr>
      </p:pic>
      <p:sp>
        <p:nvSpPr>
          <p:cNvPr id="39" name="Google Shape;39;p1"/>
          <p:cNvSpPr txBox="1"/>
          <p:nvPr/>
        </p:nvSpPr>
        <p:spPr>
          <a:xfrm>
            <a:off x="4481565" y="5316118"/>
            <a:ext cx="15229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alibri"/>
                <a:ea typeface="Calibri"/>
                <a:cs typeface="Calibri"/>
                <a:sym typeface="Calibri"/>
              </a:rPr>
              <a:t>Accredited by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C052F-38C6-763B-13FD-C39FDE844750}"/>
              </a:ext>
            </a:extLst>
          </p:cNvPr>
          <p:cNvSpPr>
            <a:spLocks noGrp="1"/>
          </p:cNvSpPr>
          <p:nvPr>
            <p:ph type="title"/>
          </p:nvPr>
        </p:nvSpPr>
        <p:spPr>
          <a:xfrm>
            <a:off x="719051" y="2479060"/>
            <a:ext cx="10515600" cy="1325563"/>
          </a:xfrm>
        </p:spPr>
        <p:txBody>
          <a:bodyPr>
            <a:normAutofit/>
          </a:bodyPr>
          <a:lstStyle/>
          <a:p>
            <a:pPr algn="ctr"/>
            <a:r>
              <a:rPr lang="en-US" sz="5400" dirty="0"/>
              <a:t>Comparison Analysis</a:t>
            </a:r>
          </a:p>
        </p:txBody>
      </p:sp>
      <p:sp>
        <p:nvSpPr>
          <p:cNvPr id="3" name="Slide Number Placeholder 2">
            <a:extLst>
              <a:ext uri="{FF2B5EF4-FFF2-40B4-BE49-F238E27FC236}">
                <a16:creationId xmlns:a16="http://schemas.microsoft.com/office/drawing/2014/main" id="{87EE6BB4-1467-9F02-4461-8FB66CC22EF0}"/>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1010983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4"/>
        <p:cNvGrpSpPr/>
        <p:nvPr/>
      </p:nvGrpSpPr>
      <p:grpSpPr>
        <a:xfrm>
          <a:off x="0" y="0"/>
          <a:ext cx="0" cy="0"/>
          <a:chOff x="0" y="0"/>
          <a:chExt cx="0" cy="0"/>
        </a:xfrm>
      </p:grpSpPr>
      <p:sp>
        <p:nvSpPr>
          <p:cNvPr id="175" name="Google Shape;175;p1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 name="Google Shape;176;p17"/>
          <p:cNvSpPr txBox="1">
            <a:spLocks noGrp="1"/>
          </p:cNvSpPr>
          <p:nvPr>
            <p:ph type="title"/>
          </p:nvPr>
        </p:nvSpPr>
        <p:spPr>
          <a:xfrm>
            <a:off x="630936" y="502920"/>
            <a:ext cx="3419856" cy="14630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a:t>Comparison Analysis</a:t>
            </a:r>
            <a:endParaRPr/>
          </a:p>
        </p:txBody>
      </p:sp>
      <p:sp>
        <p:nvSpPr>
          <p:cNvPr id="177" name="Google Shape;177;p17"/>
          <p:cNvSpPr/>
          <p:nvPr/>
        </p:nvSpPr>
        <p:spPr>
          <a:xfrm rot="5400000">
            <a:off x="3566159" y="1225296"/>
            <a:ext cx="1554480" cy="18288"/>
          </a:xfrm>
          <a:custGeom>
            <a:avLst/>
            <a:gdLst/>
            <a:ahLst/>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 name="Google Shape;178;p17"/>
          <p:cNvSpPr txBox="1">
            <a:spLocks noGrp="1"/>
          </p:cNvSpPr>
          <p:nvPr>
            <p:ph type="body" idx="1"/>
          </p:nvPr>
        </p:nvSpPr>
        <p:spPr>
          <a:xfrm>
            <a:off x="4654295" y="502920"/>
            <a:ext cx="6894576" cy="1463040"/>
          </a:xfrm>
          <a:prstGeom prst="rect">
            <a:avLst/>
          </a:prstGeom>
          <a:noFill/>
          <a:ln>
            <a:noFill/>
          </a:ln>
        </p:spPr>
        <p:txBody>
          <a:bodyPr spcFirstLastPara="1" wrap="square" lIns="91425" tIns="45700" rIns="91425" bIns="45700" anchor="ctr" anchorCtr="0">
            <a:normAutofit fontScale="55000" lnSpcReduction="20000"/>
          </a:bodyPr>
          <a:lstStyle/>
          <a:p>
            <a:pPr marL="0" lvl="0" indent="0" algn="l" rtl="0">
              <a:lnSpc>
                <a:spcPct val="90000"/>
              </a:lnSpc>
              <a:spcBef>
                <a:spcPts val="0"/>
              </a:spcBef>
              <a:spcAft>
                <a:spcPts val="0"/>
              </a:spcAft>
              <a:buClr>
                <a:schemeClr val="dk1"/>
              </a:buClr>
              <a:buSzPct val="100000"/>
              <a:buNone/>
            </a:pPr>
            <a:endParaRPr lang="en-US" sz="2000" dirty="0">
              <a:solidFill>
                <a:srgbClr val="374151"/>
              </a:solidFill>
            </a:endParaRPr>
          </a:p>
          <a:p>
            <a:pPr marL="0" lvl="0" indent="0" algn="l" rtl="0">
              <a:lnSpc>
                <a:spcPct val="90000"/>
              </a:lnSpc>
              <a:spcBef>
                <a:spcPts val="1000"/>
              </a:spcBef>
              <a:spcAft>
                <a:spcPts val="0"/>
              </a:spcAft>
              <a:buClr>
                <a:srgbClr val="374151"/>
              </a:buClr>
              <a:buSzPct val="100000"/>
              <a:buNone/>
            </a:pPr>
            <a:r>
              <a:rPr lang="en-US" sz="3800" dirty="0">
                <a:solidFill>
                  <a:srgbClr val="374151"/>
                </a:solidFill>
              </a:rPr>
              <a:t>Comparison analysis involves comparing different variables, groups, or scenarios to identify similarities, differences, patterns, and trends.</a:t>
            </a:r>
            <a:endParaRPr dirty="0"/>
          </a:p>
          <a:p>
            <a:pPr marL="0" lvl="0" indent="0" algn="l" rtl="0">
              <a:lnSpc>
                <a:spcPct val="90000"/>
              </a:lnSpc>
              <a:spcBef>
                <a:spcPts val="1000"/>
              </a:spcBef>
              <a:spcAft>
                <a:spcPts val="0"/>
              </a:spcAft>
              <a:buClr>
                <a:srgbClr val="374151"/>
              </a:buClr>
              <a:buSzPct val="100000"/>
              <a:buNone/>
            </a:pPr>
            <a:r>
              <a:rPr lang="en-US" sz="3800" dirty="0" err="1">
                <a:solidFill>
                  <a:srgbClr val="374151"/>
                </a:solidFill>
              </a:rPr>
              <a:t>Eg.</a:t>
            </a:r>
            <a:r>
              <a:rPr lang="en-US" sz="3800" dirty="0">
                <a:solidFill>
                  <a:srgbClr val="374151"/>
                </a:solidFill>
              </a:rPr>
              <a:t> Compare sales and profit across all the regions.</a:t>
            </a:r>
            <a:endParaRPr sz="3800" dirty="0"/>
          </a:p>
        </p:txBody>
      </p:sp>
      <p:sp>
        <p:nvSpPr>
          <p:cNvPr id="179" name="Google Shape;1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fld id="{00000000-1234-1234-1234-123412341234}" type="slidenum">
              <a:rPr lang="en-US"/>
              <a:t>3</a:t>
            </a:fld>
            <a:endParaRPr/>
          </a:p>
        </p:txBody>
      </p:sp>
      <p:graphicFrame>
        <p:nvGraphicFramePr>
          <p:cNvPr id="180" name="Google Shape;180;p17"/>
          <p:cNvGraphicFramePr/>
          <p:nvPr/>
        </p:nvGraphicFramePr>
        <p:xfrm>
          <a:off x="1654317" y="2465704"/>
          <a:ext cx="8683746" cy="384492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FEDE8-1817-9EDE-14AE-73E38AAD81E2}"/>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EA3FBCC-B62F-E23A-4972-99E14A5794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47D73AC-D2C0-A6F2-C056-4A851570608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pic>
        <p:nvPicPr>
          <p:cNvPr id="6" name="Picture 5">
            <a:extLst>
              <a:ext uri="{FF2B5EF4-FFF2-40B4-BE49-F238E27FC236}">
                <a16:creationId xmlns:a16="http://schemas.microsoft.com/office/drawing/2014/main" id="{CB0685AB-F7FE-E0E1-0452-F02D5E3B0B07}"/>
              </a:ext>
            </a:extLst>
          </p:cNvPr>
          <p:cNvPicPr>
            <a:picLocks noChangeAspect="1"/>
          </p:cNvPicPr>
          <p:nvPr/>
        </p:nvPicPr>
        <p:blipFill>
          <a:blip r:embed="rId2"/>
          <a:stretch>
            <a:fillRect/>
          </a:stretch>
        </p:blipFill>
        <p:spPr>
          <a:xfrm>
            <a:off x="128472" y="147450"/>
            <a:ext cx="11745800" cy="6563100"/>
          </a:xfrm>
          <a:prstGeom prst="rect">
            <a:avLst/>
          </a:prstGeom>
        </p:spPr>
      </p:pic>
    </p:spTree>
    <p:extLst>
      <p:ext uri="{BB962C8B-B14F-4D97-AF65-F5344CB8AC3E}">
        <p14:creationId xmlns:p14="http://schemas.microsoft.com/office/powerpoint/2010/main" val="1718312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AA56E-0BDD-72B0-8A4F-A22E9A186FD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3CE8FA5F-BDD8-87CD-025E-DCC33ECE6DC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27C42C-CAB9-F76A-44F9-27D00313729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pic>
        <p:nvPicPr>
          <p:cNvPr id="6" name="Picture 5">
            <a:extLst>
              <a:ext uri="{FF2B5EF4-FFF2-40B4-BE49-F238E27FC236}">
                <a16:creationId xmlns:a16="http://schemas.microsoft.com/office/drawing/2014/main" id="{0DEC8041-5CD3-3F53-BD63-0F517F3ADB9B}"/>
              </a:ext>
            </a:extLst>
          </p:cNvPr>
          <p:cNvPicPr>
            <a:picLocks noChangeAspect="1"/>
          </p:cNvPicPr>
          <p:nvPr/>
        </p:nvPicPr>
        <p:blipFill>
          <a:blip r:embed="rId2"/>
          <a:stretch>
            <a:fillRect/>
          </a:stretch>
        </p:blipFill>
        <p:spPr>
          <a:xfrm>
            <a:off x="314633" y="170933"/>
            <a:ext cx="11455295" cy="6613970"/>
          </a:xfrm>
          <a:prstGeom prst="rect">
            <a:avLst/>
          </a:prstGeom>
        </p:spPr>
      </p:pic>
    </p:spTree>
    <p:extLst>
      <p:ext uri="{BB962C8B-B14F-4D97-AF65-F5344CB8AC3E}">
        <p14:creationId xmlns:p14="http://schemas.microsoft.com/office/powerpoint/2010/main" val="457955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4"/>
        <p:cNvGrpSpPr/>
        <p:nvPr/>
      </p:nvGrpSpPr>
      <p:grpSpPr>
        <a:xfrm>
          <a:off x="0" y="0"/>
          <a:ext cx="0" cy="0"/>
          <a:chOff x="0" y="0"/>
          <a:chExt cx="0" cy="0"/>
        </a:xfrm>
      </p:grpSpPr>
      <p:sp>
        <p:nvSpPr>
          <p:cNvPr id="185" name="Google Shape;185;p1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18"/>
          <p:cNvSpPr txBox="1">
            <a:spLocks noGrp="1"/>
          </p:cNvSpPr>
          <p:nvPr>
            <p:ph type="title"/>
          </p:nvPr>
        </p:nvSpPr>
        <p:spPr>
          <a:xfrm>
            <a:off x="630936" y="502920"/>
            <a:ext cx="3419856" cy="14630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a:t>Ranking Analysis</a:t>
            </a:r>
            <a:endParaRPr/>
          </a:p>
        </p:txBody>
      </p:sp>
      <p:sp>
        <p:nvSpPr>
          <p:cNvPr id="187" name="Google Shape;187;p18"/>
          <p:cNvSpPr/>
          <p:nvPr/>
        </p:nvSpPr>
        <p:spPr>
          <a:xfrm rot="5400000">
            <a:off x="3566159" y="1225296"/>
            <a:ext cx="1554480" cy="18288"/>
          </a:xfrm>
          <a:custGeom>
            <a:avLst/>
            <a:gdLst/>
            <a:ahLst/>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8" name="Google Shape;188;p18"/>
          <p:cNvSpPr txBox="1">
            <a:spLocks noGrp="1"/>
          </p:cNvSpPr>
          <p:nvPr>
            <p:ph type="body" idx="1"/>
          </p:nvPr>
        </p:nvSpPr>
        <p:spPr>
          <a:xfrm>
            <a:off x="4654295" y="502919"/>
            <a:ext cx="6894576" cy="1653139"/>
          </a:xfrm>
          <a:prstGeom prst="rect">
            <a:avLst/>
          </a:prstGeom>
          <a:noFill/>
          <a:ln>
            <a:noFill/>
          </a:ln>
        </p:spPr>
        <p:txBody>
          <a:bodyPr spcFirstLastPara="1" wrap="square" lIns="91425" tIns="45700" rIns="91425" bIns="45700" anchor="ctr" anchorCtr="0">
            <a:normAutofit fontScale="70000" lnSpcReduction="20000"/>
          </a:bodyPr>
          <a:lstStyle/>
          <a:p>
            <a:pPr marL="0" lvl="0" indent="0" algn="l" rtl="0">
              <a:lnSpc>
                <a:spcPct val="90000"/>
              </a:lnSpc>
              <a:spcBef>
                <a:spcPts val="0"/>
              </a:spcBef>
              <a:spcAft>
                <a:spcPts val="0"/>
              </a:spcAft>
              <a:buClr>
                <a:schemeClr val="dk1"/>
              </a:buClr>
              <a:buSzPct val="100000"/>
              <a:buNone/>
            </a:pPr>
            <a:endParaRPr sz="2000">
              <a:solidFill>
                <a:srgbClr val="374151"/>
              </a:solidFill>
            </a:endParaRPr>
          </a:p>
          <a:p>
            <a:pPr marL="0" lvl="0" indent="0" algn="l" rtl="0">
              <a:lnSpc>
                <a:spcPct val="90000"/>
              </a:lnSpc>
              <a:spcBef>
                <a:spcPts val="1000"/>
              </a:spcBef>
              <a:spcAft>
                <a:spcPts val="0"/>
              </a:spcAft>
              <a:buClr>
                <a:srgbClr val="374151"/>
              </a:buClr>
              <a:buSzPct val="100000"/>
              <a:buNone/>
            </a:pPr>
            <a:r>
              <a:rPr lang="en-US" sz="3800">
                <a:solidFill>
                  <a:srgbClr val="374151"/>
                </a:solidFill>
              </a:rPr>
              <a:t>Process of evaluating and analyzing the rankings of items, entities or data, based on certain criteria or attributes.</a:t>
            </a:r>
            <a:endParaRPr/>
          </a:p>
          <a:p>
            <a:pPr marL="0" lvl="0" indent="0" algn="l" rtl="0">
              <a:lnSpc>
                <a:spcPct val="90000"/>
              </a:lnSpc>
              <a:spcBef>
                <a:spcPts val="1000"/>
              </a:spcBef>
              <a:spcAft>
                <a:spcPts val="0"/>
              </a:spcAft>
              <a:buClr>
                <a:srgbClr val="374151"/>
              </a:buClr>
              <a:buSzPct val="100000"/>
              <a:buNone/>
            </a:pPr>
            <a:r>
              <a:rPr lang="en-US" sz="3800">
                <a:solidFill>
                  <a:srgbClr val="374151"/>
                </a:solidFill>
              </a:rPr>
              <a:t>Eg. Find the top 5 products in terms of Sales.</a:t>
            </a:r>
            <a:endParaRPr sz="3800"/>
          </a:p>
        </p:txBody>
      </p:sp>
      <p:sp>
        <p:nvSpPr>
          <p:cNvPr id="189" name="Google Shape;18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fld id="{00000000-1234-1234-1234-123412341234}" type="slidenum">
              <a:rPr lang="en-US"/>
              <a:t>6</a:t>
            </a:fld>
            <a:endParaRPr/>
          </a:p>
        </p:txBody>
      </p:sp>
      <p:pic>
        <p:nvPicPr>
          <p:cNvPr id="190" name="Google Shape;190;p18" descr="Tesla Model Y Leads Italy's BEV Market In November - TrendRadars"/>
          <p:cNvPicPr preferRelativeResize="0"/>
          <p:nvPr/>
        </p:nvPicPr>
        <p:blipFill rotWithShape="1">
          <a:blip r:embed="rId3">
            <a:alphaModFix/>
          </a:blip>
          <a:srcRect/>
          <a:stretch/>
        </p:blipFill>
        <p:spPr>
          <a:xfrm>
            <a:off x="2097344" y="2360635"/>
            <a:ext cx="7066374" cy="400403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4"/>
        <p:cNvGrpSpPr/>
        <p:nvPr/>
      </p:nvGrpSpPr>
      <p:grpSpPr>
        <a:xfrm>
          <a:off x="0" y="0"/>
          <a:ext cx="0" cy="0"/>
          <a:chOff x="0" y="0"/>
          <a:chExt cx="0" cy="0"/>
        </a:xfrm>
      </p:grpSpPr>
      <p:sp>
        <p:nvSpPr>
          <p:cNvPr id="195" name="Google Shape;195;p19"/>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6" name="Google Shape;196;p19"/>
          <p:cNvSpPr txBox="1">
            <a:spLocks noGrp="1"/>
          </p:cNvSpPr>
          <p:nvPr>
            <p:ph type="title"/>
          </p:nvPr>
        </p:nvSpPr>
        <p:spPr>
          <a:xfrm>
            <a:off x="630936" y="502920"/>
            <a:ext cx="3419856" cy="14630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a:t>Contribution Analysis</a:t>
            </a:r>
            <a:endParaRPr/>
          </a:p>
        </p:txBody>
      </p:sp>
      <p:sp>
        <p:nvSpPr>
          <p:cNvPr id="197" name="Google Shape;197;p19"/>
          <p:cNvSpPr/>
          <p:nvPr/>
        </p:nvSpPr>
        <p:spPr>
          <a:xfrm rot="5400000">
            <a:off x="3566159" y="1225296"/>
            <a:ext cx="1554480" cy="18288"/>
          </a:xfrm>
          <a:custGeom>
            <a:avLst/>
            <a:gdLst/>
            <a:ahLst/>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8" name="Google Shape;198;p19"/>
          <p:cNvSpPr txBox="1">
            <a:spLocks noGrp="1"/>
          </p:cNvSpPr>
          <p:nvPr>
            <p:ph type="body" idx="1"/>
          </p:nvPr>
        </p:nvSpPr>
        <p:spPr>
          <a:xfrm>
            <a:off x="4654295" y="502920"/>
            <a:ext cx="6894576" cy="1463040"/>
          </a:xfrm>
          <a:prstGeom prst="rect">
            <a:avLst/>
          </a:prstGeom>
          <a:noFill/>
          <a:ln>
            <a:noFill/>
          </a:ln>
        </p:spPr>
        <p:txBody>
          <a:bodyPr spcFirstLastPara="1" wrap="square" lIns="91425" tIns="45700" rIns="91425" bIns="45700" anchor="ctr" anchorCtr="0">
            <a:normAutofit lnSpcReduction="10000"/>
          </a:bodyPr>
          <a:lstStyle/>
          <a:p>
            <a:pPr marL="0" lvl="0" indent="0" algn="l" rtl="0">
              <a:lnSpc>
                <a:spcPct val="90000"/>
              </a:lnSpc>
              <a:spcBef>
                <a:spcPts val="0"/>
              </a:spcBef>
              <a:spcAft>
                <a:spcPts val="0"/>
              </a:spcAft>
              <a:buClr>
                <a:srgbClr val="374151"/>
              </a:buClr>
              <a:buSzPts val="2000"/>
              <a:buNone/>
            </a:pPr>
            <a:r>
              <a:rPr lang="en-US" sz="2000" b="0" i="0" dirty="0">
                <a:solidFill>
                  <a:srgbClr val="374151"/>
                </a:solidFill>
              </a:rPr>
              <a:t>Contribution analysis is a powerful tool that helps businesses and organizations to analyze the contribution of various factors towards a particular outcome.</a:t>
            </a:r>
            <a:endParaRPr dirty="0"/>
          </a:p>
          <a:p>
            <a:pPr marL="0" lvl="0" indent="0" algn="l" rtl="0">
              <a:lnSpc>
                <a:spcPct val="90000"/>
              </a:lnSpc>
              <a:spcBef>
                <a:spcPts val="1000"/>
              </a:spcBef>
              <a:spcAft>
                <a:spcPts val="0"/>
              </a:spcAft>
              <a:buClr>
                <a:srgbClr val="374151"/>
              </a:buClr>
              <a:buSzPts val="2000"/>
              <a:buNone/>
            </a:pPr>
            <a:r>
              <a:rPr lang="en-US" sz="2000" dirty="0" err="1">
                <a:solidFill>
                  <a:srgbClr val="374151"/>
                </a:solidFill>
              </a:rPr>
              <a:t>Eg.</a:t>
            </a:r>
            <a:r>
              <a:rPr lang="en-US" sz="2000" dirty="0">
                <a:solidFill>
                  <a:srgbClr val="374151"/>
                </a:solidFill>
              </a:rPr>
              <a:t> Analyze the contribution of categories towards Sales, Revenue, </a:t>
            </a:r>
            <a:r>
              <a:rPr lang="en-US" sz="2000" dirty="0" err="1">
                <a:solidFill>
                  <a:srgbClr val="374151"/>
                </a:solidFill>
              </a:rPr>
              <a:t>etc</a:t>
            </a:r>
            <a:endParaRPr sz="2000" dirty="0"/>
          </a:p>
        </p:txBody>
      </p:sp>
      <p:sp>
        <p:nvSpPr>
          <p:cNvPr id="199" name="Google Shape;19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fld id="{00000000-1234-1234-1234-123412341234}" type="slidenum">
              <a:rPr lang="en-US"/>
              <a:t>7</a:t>
            </a:fld>
            <a:endParaRPr/>
          </a:p>
        </p:txBody>
      </p:sp>
      <p:pic>
        <p:nvPicPr>
          <p:cNvPr id="200" name="Google Shape;200;p19"/>
          <p:cNvPicPr preferRelativeResize="0"/>
          <p:nvPr/>
        </p:nvPicPr>
        <p:blipFill rotWithShape="1">
          <a:blip r:embed="rId3">
            <a:alphaModFix/>
          </a:blip>
          <a:srcRect/>
          <a:stretch/>
        </p:blipFill>
        <p:spPr>
          <a:xfrm>
            <a:off x="2544846" y="2342871"/>
            <a:ext cx="6710836" cy="405792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4"/>
        <p:cNvGrpSpPr/>
        <p:nvPr/>
      </p:nvGrpSpPr>
      <p:grpSpPr>
        <a:xfrm>
          <a:off x="0" y="0"/>
          <a:ext cx="0" cy="0"/>
          <a:chOff x="0" y="0"/>
          <a:chExt cx="0" cy="0"/>
        </a:xfrm>
      </p:grpSpPr>
      <p:sp>
        <p:nvSpPr>
          <p:cNvPr id="205" name="Google Shape;205;p20"/>
          <p:cNvSpPr/>
          <p:nvPr/>
        </p:nvSpPr>
        <p:spPr>
          <a:xfrm>
            <a:off x="0" y="9832"/>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6" name="Google Shape;206;p20"/>
          <p:cNvSpPr txBox="1">
            <a:spLocks noGrp="1"/>
          </p:cNvSpPr>
          <p:nvPr>
            <p:ph type="title"/>
          </p:nvPr>
        </p:nvSpPr>
        <p:spPr>
          <a:xfrm>
            <a:off x="630936" y="502920"/>
            <a:ext cx="3419856" cy="14630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a:t>Pareto Analysis</a:t>
            </a:r>
            <a:endParaRPr/>
          </a:p>
        </p:txBody>
      </p:sp>
      <p:sp>
        <p:nvSpPr>
          <p:cNvPr id="207" name="Google Shape;207;p20"/>
          <p:cNvSpPr/>
          <p:nvPr/>
        </p:nvSpPr>
        <p:spPr>
          <a:xfrm rot="5400000">
            <a:off x="3566159" y="1225296"/>
            <a:ext cx="1554480" cy="18288"/>
          </a:xfrm>
          <a:custGeom>
            <a:avLst/>
            <a:gdLst/>
            <a:ahLst/>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 name="Google Shape;208;p20"/>
          <p:cNvSpPr txBox="1">
            <a:spLocks noGrp="1"/>
          </p:cNvSpPr>
          <p:nvPr>
            <p:ph type="body" idx="1"/>
          </p:nvPr>
        </p:nvSpPr>
        <p:spPr>
          <a:xfrm>
            <a:off x="4654295" y="502919"/>
            <a:ext cx="6894576" cy="16219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374151"/>
              </a:buClr>
              <a:buSzPts val="2000"/>
              <a:buNone/>
            </a:pPr>
            <a:r>
              <a:rPr lang="en-US" sz="2000" b="0" i="0">
                <a:solidFill>
                  <a:srgbClr val="374151"/>
                </a:solidFill>
              </a:rPr>
              <a:t>Pareto analysis, also known as the 80/20 rule, is a management tool used to identify the most significant factors or causes that contribute to a particular outcome. In Pareto analysis, it is assumed that 80% of the effects are caused by 20% of the factors.</a:t>
            </a:r>
            <a:endParaRPr sz="2000"/>
          </a:p>
        </p:txBody>
      </p:sp>
      <p:sp>
        <p:nvSpPr>
          <p:cNvPr id="209" name="Google Shape;20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US"/>
              <a:t>© DataMites®. All rights reserved</a:t>
            </a:r>
            <a:endParaRPr/>
          </a:p>
        </p:txBody>
      </p:sp>
      <p:sp>
        <p:nvSpPr>
          <p:cNvPr id="210" name="Google Shape;21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fld id="{00000000-1234-1234-1234-123412341234}" type="slidenum">
              <a:rPr lang="en-US"/>
              <a:t>8</a:t>
            </a:fld>
            <a:endParaRPr/>
          </a:p>
        </p:txBody>
      </p:sp>
      <p:pic>
        <p:nvPicPr>
          <p:cNvPr id="211" name="Google Shape;211;p20" descr="Top 12 Process Improvement Tools to Enhance Workflows - frevvo Blog"/>
          <p:cNvPicPr preferRelativeResize="0"/>
          <p:nvPr/>
        </p:nvPicPr>
        <p:blipFill rotWithShape="1">
          <a:blip r:embed="rId3">
            <a:alphaModFix/>
          </a:blip>
          <a:srcRect/>
          <a:stretch/>
        </p:blipFill>
        <p:spPr>
          <a:xfrm>
            <a:off x="797270" y="2244466"/>
            <a:ext cx="6025460" cy="4151237"/>
          </a:xfrm>
          <a:prstGeom prst="rect">
            <a:avLst/>
          </a:prstGeom>
          <a:noFill/>
          <a:ln>
            <a:noFill/>
          </a:ln>
        </p:spPr>
      </p:pic>
      <p:sp>
        <p:nvSpPr>
          <p:cNvPr id="212" name="Google Shape;212;p20"/>
          <p:cNvSpPr txBox="1"/>
          <p:nvPr/>
        </p:nvSpPr>
        <p:spPr>
          <a:xfrm>
            <a:off x="7559040" y="3579223"/>
            <a:ext cx="360709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a:solidFill>
                  <a:srgbClr val="C55A11"/>
                </a:solidFill>
                <a:latin typeface="Calibri"/>
                <a:ea typeface="Calibri"/>
                <a:cs typeface="Calibri"/>
                <a:sym typeface="Calibri"/>
              </a:rPr>
              <a:t>Restaurant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1"/>
          <p:cNvSpPr txBox="1">
            <a:spLocks noGrp="1"/>
          </p:cNvSpPr>
          <p:nvPr>
            <p:ph type="body" idx="1"/>
          </p:nvPr>
        </p:nvSpPr>
        <p:spPr>
          <a:xfrm>
            <a:off x="739833" y="642583"/>
            <a:ext cx="10515600" cy="4905116"/>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200000"/>
              </a:lnSpc>
              <a:spcBef>
                <a:spcPts val="0"/>
              </a:spcBef>
              <a:spcAft>
                <a:spcPts val="0"/>
              </a:spcAft>
              <a:buClr>
                <a:schemeClr val="dk1"/>
              </a:buClr>
              <a:buSzPct val="100000"/>
              <a:buChar char="•"/>
            </a:pPr>
            <a:r>
              <a:rPr lang="en-US" dirty="0"/>
              <a:t>Also called an 80-20 rule, </a:t>
            </a:r>
            <a:r>
              <a:rPr lang="en-US" b="0" i="0" dirty="0">
                <a:solidFill>
                  <a:srgbClr val="111111"/>
                </a:solidFill>
                <a:latin typeface="Arial"/>
                <a:ea typeface="Arial"/>
                <a:cs typeface="Arial"/>
                <a:sym typeface="Arial"/>
              </a:rPr>
              <a:t>80% of the problems are caused by 20% of facts whether if you look into profits, customer complaints, technical issues, product defects, etc.</a:t>
            </a:r>
            <a:endParaRPr dirty="0"/>
          </a:p>
          <a:p>
            <a:pPr marL="228600" lvl="0" indent="-228600" algn="l" rtl="0">
              <a:lnSpc>
                <a:spcPct val="200000"/>
              </a:lnSpc>
              <a:spcBef>
                <a:spcPts val="1000"/>
              </a:spcBef>
              <a:spcAft>
                <a:spcPts val="0"/>
              </a:spcAft>
              <a:buClr>
                <a:schemeClr val="dk1"/>
              </a:buClr>
              <a:buSzPct val="100000"/>
              <a:buChar char="•"/>
            </a:pPr>
            <a:r>
              <a:rPr lang="en-US" sz="2800" dirty="0"/>
              <a:t>It statistically separates a limited number of input factors that have a greater impact on an outcome</a:t>
            </a:r>
            <a:endParaRPr dirty="0"/>
          </a:p>
          <a:p>
            <a:pPr marL="228600" lvl="0" indent="-228600" algn="l" rtl="0">
              <a:lnSpc>
                <a:spcPct val="200000"/>
              </a:lnSpc>
              <a:spcBef>
                <a:spcPts val="1000"/>
              </a:spcBef>
              <a:spcAft>
                <a:spcPts val="0"/>
              </a:spcAft>
              <a:buClr>
                <a:schemeClr val="dk1"/>
              </a:buClr>
              <a:buSzPct val="100000"/>
              <a:buChar char="•"/>
            </a:pPr>
            <a:r>
              <a:rPr lang="en-US" dirty="0"/>
              <a:t>It is a powerful quality and decision-making tool.</a:t>
            </a:r>
            <a:endParaRPr dirty="0"/>
          </a:p>
          <a:p>
            <a:pPr marL="228600" lvl="0" indent="-228600" algn="l" rtl="0">
              <a:lnSpc>
                <a:spcPct val="200000"/>
              </a:lnSpc>
              <a:spcBef>
                <a:spcPts val="1000"/>
              </a:spcBef>
              <a:spcAft>
                <a:spcPts val="0"/>
              </a:spcAft>
              <a:buClr>
                <a:schemeClr val="dk1"/>
              </a:buClr>
              <a:buSzPct val="100000"/>
              <a:buChar char="•"/>
            </a:pPr>
            <a:r>
              <a:rPr lang="en-US" dirty="0"/>
              <a:t>It organizes and displays information to show the relative importance of various problems or causes of problems.</a:t>
            </a:r>
            <a:endParaRPr dirty="0"/>
          </a:p>
        </p:txBody>
      </p:sp>
      <p:sp>
        <p:nvSpPr>
          <p:cNvPr id="218" name="Google Shape;218;p21"/>
          <p:cNvSpPr txBox="1">
            <a:spLocks noGrp="1"/>
          </p:cNvSpPr>
          <p:nvPr>
            <p:ph type="sldNum" idx="12"/>
          </p:nvPr>
        </p:nvSpPr>
        <p:spPr>
          <a:xfrm>
            <a:off x="10968644" y="6419778"/>
            <a:ext cx="573578"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2"/>
          <p:cNvSpPr txBox="1">
            <a:spLocks noGrp="1"/>
          </p:cNvSpPr>
          <p:nvPr>
            <p:ph type="title"/>
          </p:nvPr>
        </p:nvSpPr>
        <p:spPr>
          <a:xfrm>
            <a:off x="838200" y="365126"/>
            <a:ext cx="10515600" cy="7654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Returns &amp; Refunds</a:t>
            </a:r>
            <a:endParaRPr/>
          </a:p>
        </p:txBody>
      </p:sp>
      <p:sp>
        <p:nvSpPr>
          <p:cNvPr id="224" name="Google Shape;224;p22"/>
          <p:cNvSpPr txBox="1">
            <a:spLocks noGrp="1"/>
          </p:cNvSpPr>
          <p:nvPr>
            <p:ph type="sldNum" idx="12"/>
          </p:nvPr>
        </p:nvSpPr>
        <p:spPr>
          <a:xfrm>
            <a:off x="10968644" y="6419778"/>
            <a:ext cx="573578"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n-US"/>
              <a:t>10</a:t>
            </a:fld>
            <a:endParaRPr/>
          </a:p>
        </p:txBody>
      </p:sp>
      <p:pic>
        <p:nvPicPr>
          <p:cNvPr id="225" name="Google Shape;225;p22" descr="How to Create a Pareto Chart in Excel – Automate Excel"/>
          <p:cNvPicPr preferRelativeResize="0">
            <a:picLocks noGrp="1"/>
          </p:cNvPicPr>
          <p:nvPr>
            <p:ph type="body" idx="1"/>
          </p:nvPr>
        </p:nvPicPr>
        <p:blipFill rotWithShape="1">
          <a:blip r:embed="rId3">
            <a:alphaModFix/>
          </a:blip>
          <a:srcRect t="6194" b="-338"/>
          <a:stretch/>
        </p:blipFill>
        <p:spPr>
          <a:xfrm>
            <a:off x="1074175" y="1343374"/>
            <a:ext cx="8875500" cy="5149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3"/>
          <p:cNvSpPr txBox="1">
            <a:spLocks noGrp="1"/>
          </p:cNvSpPr>
          <p:nvPr>
            <p:ph type="title"/>
          </p:nvPr>
        </p:nvSpPr>
        <p:spPr>
          <a:xfrm>
            <a:off x="838200" y="365126"/>
            <a:ext cx="10515600" cy="7654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Attrition</a:t>
            </a:r>
            <a:endParaRPr/>
          </a:p>
        </p:txBody>
      </p:sp>
      <p:sp>
        <p:nvSpPr>
          <p:cNvPr id="231" name="Google Shape;231;p23"/>
          <p:cNvSpPr txBox="1">
            <a:spLocks noGrp="1"/>
          </p:cNvSpPr>
          <p:nvPr>
            <p:ph type="sldNum" idx="12"/>
          </p:nvPr>
        </p:nvSpPr>
        <p:spPr>
          <a:xfrm>
            <a:off x="10968644" y="6419778"/>
            <a:ext cx="573578"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n-US"/>
              <a:t>11</a:t>
            </a:fld>
            <a:endParaRPr/>
          </a:p>
        </p:txBody>
      </p:sp>
      <p:pic>
        <p:nvPicPr>
          <p:cNvPr id="232" name="Google Shape;232;p23" descr="Define Flow Chart, Control Chart, Run Chart, Pareto Diagram, &amp; Histogram"/>
          <p:cNvPicPr preferRelativeResize="0">
            <a:picLocks noGrp="1"/>
          </p:cNvPicPr>
          <p:nvPr>
            <p:ph type="body" idx="1"/>
          </p:nvPr>
        </p:nvPicPr>
        <p:blipFill rotWithShape="1">
          <a:blip r:embed="rId3">
            <a:alphaModFix/>
          </a:blip>
          <a:srcRect t="8755"/>
          <a:stretch/>
        </p:blipFill>
        <p:spPr>
          <a:xfrm>
            <a:off x="969671" y="1051874"/>
            <a:ext cx="9133114" cy="528924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4"/>
          <p:cNvSpPr txBox="1">
            <a:spLocks noGrp="1"/>
          </p:cNvSpPr>
          <p:nvPr>
            <p:ph type="title"/>
          </p:nvPr>
        </p:nvSpPr>
        <p:spPr>
          <a:xfrm>
            <a:off x="838200" y="365126"/>
            <a:ext cx="10515600" cy="7654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Medication Errors</a:t>
            </a:r>
            <a:endParaRPr/>
          </a:p>
        </p:txBody>
      </p:sp>
      <p:sp>
        <p:nvSpPr>
          <p:cNvPr id="238" name="Google Shape;238;p24"/>
          <p:cNvSpPr txBox="1">
            <a:spLocks noGrp="1"/>
          </p:cNvSpPr>
          <p:nvPr>
            <p:ph type="sldNum" idx="12"/>
          </p:nvPr>
        </p:nvSpPr>
        <p:spPr>
          <a:xfrm>
            <a:off x="10968644" y="6419778"/>
            <a:ext cx="573578"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n-US"/>
              <a:t>12</a:t>
            </a:fld>
            <a:endParaRPr/>
          </a:p>
        </p:txBody>
      </p:sp>
      <p:pic>
        <p:nvPicPr>
          <p:cNvPr id="239" name="Google Shape;239;p24" descr="Pareto Chart - MITE MMC Institute for Teaching Excellence"/>
          <p:cNvPicPr preferRelativeResize="0">
            <a:picLocks noGrp="1"/>
          </p:cNvPicPr>
          <p:nvPr>
            <p:ph type="body" idx="1"/>
          </p:nvPr>
        </p:nvPicPr>
        <p:blipFill rotWithShape="1">
          <a:blip r:embed="rId3">
            <a:alphaModFix/>
          </a:blip>
          <a:srcRect/>
          <a:stretch/>
        </p:blipFill>
        <p:spPr>
          <a:xfrm>
            <a:off x="2894077" y="1271588"/>
            <a:ext cx="6403846" cy="4905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3"/>
        <p:cNvGrpSpPr/>
        <p:nvPr/>
      </p:nvGrpSpPr>
      <p:grpSpPr>
        <a:xfrm>
          <a:off x="0" y="0"/>
          <a:ext cx="0" cy="0"/>
          <a:chOff x="0" y="0"/>
          <a:chExt cx="0" cy="0"/>
        </a:xfrm>
      </p:grpSpPr>
      <p:sp>
        <p:nvSpPr>
          <p:cNvPr id="244" name="Google Shape;244;p2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5" name="Google Shape;245;p25"/>
          <p:cNvSpPr txBox="1">
            <a:spLocks noGrp="1"/>
          </p:cNvSpPr>
          <p:nvPr>
            <p:ph type="title"/>
          </p:nvPr>
        </p:nvSpPr>
        <p:spPr>
          <a:xfrm>
            <a:off x="630936" y="502920"/>
            <a:ext cx="3419856" cy="146304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800"/>
              <a:buFont typeface="Calibri"/>
              <a:buNone/>
            </a:pPr>
            <a:r>
              <a:rPr lang="en-US" sz="4800"/>
              <a:t>Interactive Dashboards</a:t>
            </a:r>
            <a:endParaRPr/>
          </a:p>
        </p:txBody>
      </p:sp>
      <p:sp>
        <p:nvSpPr>
          <p:cNvPr id="246" name="Google Shape;246;p25"/>
          <p:cNvSpPr/>
          <p:nvPr/>
        </p:nvSpPr>
        <p:spPr>
          <a:xfrm rot="5400000">
            <a:off x="3566159" y="1225296"/>
            <a:ext cx="1554480" cy="18288"/>
          </a:xfrm>
          <a:custGeom>
            <a:avLst/>
            <a:gdLst/>
            <a:ahLst/>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7" name="Google Shape;247;p25"/>
          <p:cNvSpPr txBox="1">
            <a:spLocks noGrp="1"/>
          </p:cNvSpPr>
          <p:nvPr>
            <p:ph type="body" idx="1"/>
          </p:nvPr>
        </p:nvSpPr>
        <p:spPr>
          <a:xfrm>
            <a:off x="4654295" y="502919"/>
            <a:ext cx="6894576" cy="1621971"/>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374151"/>
              </a:buClr>
              <a:buSzPts val="2000"/>
              <a:buNone/>
            </a:pPr>
            <a:r>
              <a:rPr lang="en-US" sz="2000" b="0" i="0">
                <a:solidFill>
                  <a:srgbClr val="374151"/>
                </a:solidFill>
              </a:rPr>
              <a:t>Interactive dashboards in Excel are a powerful way to present and analyze data. They allow users to explore and analyze data through interactive charts, tables, and visualizations.</a:t>
            </a:r>
            <a:endParaRPr/>
          </a:p>
          <a:p>
            <a:pPr marL="0" lvl="0" indent="0" algn="l" rtl="0">
              <a:lnSpc>
                <a:spcPct val="100000"/>
              </a:lnSpc>
              <a:spcBef>
                <a:spcPts val="1000"/>
              </a:spcBef>
              <a:spcAft>
                <a:spcPts val="0"/>
              </a:spcAft>
              <a:buClr>
                <a:srgbClr val="374151"/>
              </a:buClr>
              <a:buSzPts val="2000"/>
              <a:buNone/>
            </a:pPr>
            <a:r>
              <a:rPr lang="en-US" sz="2000">
                <a:solidFill>
                  <a:srgbClr val="374151"/>
                </a:solidFill>
              </a:rPr>
              <a:t>It is a Data Management tool which comes with various interactive features where users can explore the data on a deeper level. </a:t>
            </a:r>
            <a:endParaRPr sz="2000"/>
          </a:p>
        </p:txBody>
      </p:sp>
      <p:sp>
        <p:nvSpPr>
          <p:cNvPr id="248" name="Google Shape;24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None/>
            </a:pPr>
            <a:fld id="{00000000-1234-1234-1234-123412341234}" type="slidenum">
              <a:rPr lang="en-US"/>
              <a:t>13</a:t>
            </a:fld>
            <a:endParaRPr/>
          </a:p>
        </p:txBody>
      </p:sp>
      <p:sp>
        <p:nvSpPr>
          <p:cNvPr id="249" name="Google Shape;249;p25"/>
          <p:cNvSpPr txBox="1"/>
          <p:nvPr/>
        </p:nvSpPr>
        <p:spPr>
          <a:xfrm>
            <a:off x="696686" y="2447109"/>
            <a:ext cx="10852185" cy="2957861"/>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1800" b="0" i="0">
                <a:solidFill>
                  <a:srgbClr val="374151"/>
                </a:solidFill>
                <a:latin typeface="Calibri"/>
                <a:ea typeface="Calibri"/>
                <a:cs typeface="Calibri"/>
                <a:sym typeface="Calibri"/>
              </a:rPr>
              <a:t>- Prepare your data.</a:t>
            </a:r>
            <a:endParaRPr sz="1800" b="0" i="0">
              <a:solidFill>
                <a:srgbClr val="374151"/>
              </a:solidFill>
              <a:latin typeface="Calibri"/>
              <a:ea typeface="Calibri"/>
              <a:cs typeface="Calibri"/>
              <a:sym typeface="Calibri"/>
            </a:endParaRPr>
          </a:p>
          <a:p>
            <a:pPr marL="0" marR="0" lvl="0" indent="0" algn="l" rtl="0">
              <a:lnSpc>
                <a:spcPct val="150000"/>
              </a:lnSpc>
              <a:spcBef>
                <a:spcPts val="0"/>
              </a:spcBef>
              <a:spcAft>
                <a:spcPts val="0"/>
              </a:spcAft>
              <a:buNone/>
            </a:pPr>
            <a:r>
              <a:rPr lang="en-US" sz="1800" b="0" i="0">
                <a:solidFill>
                  <a:srgbClr val="374151"/>
                </a:solidFill>
                <a:latin typeface="Calibri"/>
                <a:ea typeface="Calibri"/>
                <a:cs typeface="Calibri"/>
                <a:sym typeface="Calibri"/>
              </a:rPr>
              <a:t>- Create your dashboard with charts, tables or visualizations. </a:t>
            </a:r>
            <a:endParaRPr sz="1800">
              <a:solidFill>
                <a:srgbClr val="374151"/>
              </a:solidFill>
              <a:latin typeface="Calibri"/>
              <a:ea typeface="Calibri"/>
              <a:cs typeface="Calibri"/>
              <a:sym typeface="Calibri"/>
            </a:endParaRPr>
          </a:p>
          <a:p>
            <a:pPr marL="0" marR="0" lvl="0" indent="0" algn="l" rtl="0">
              <a:lnSpc>
                <a:spcPct val="150000"/>
              </a:lnSpc>
              <a:spcBef>
                <a:spcPts val="0"/>
              </a:spcBef>
              <a:spcAft>
                <a:spcPts val="0"/>
              </a:spcAft>
              <a:buNone/>
            </a:pPr>
            <a:r>
              <a:rPr lang="en-US" sz="1800" b="0" i="0">
                <a:solidFill>
                  <a:srgbClr val="374151"/>
                </a:solidFill>
                <a:latin typeface="Calibri"/>
                <a:ea typeface="Calibri"/>
                <a:cs typeface="Calibri"/>
                <a:sym typeface="Calibri"/>
              </a:rPr>
              <a:t>- Add interactivity using slicer, filters, pivot table etc</a:t>
            </a:r>
            <a:endParaRPr sz="1800" b="0" i="0">
              <a:solidFill>
                <a:srgbClr val="374151"/>
              </a:solidFill>
              <a:latin typeface="Calibri"/>
              <a:ea typeface="Calibri"/>
              <a:cs typeface="Calibri"/>
              <a:sym typeface="Calibri"/>
            </a:endParaRPr>
          </a:p>
          <a:p>
            <a:pPr marL="0" marR="0" lvl="0" indent="0" algn="l" rtl="0">
              <a:lnSpc>
                <a:spcPct val="150000"/>
              </a:lnSpc>
              <a:spcBef>
                <a:spcPts val="0"/>
              </a:spcBef>
              <a:spcAft>
                <a:spcPts val="0"/>
              </a:spcAft>
              <a:buNone/>
            </a:pPr>
            <a:r>
              <a:rPr lang="en-US" sz="1800">
                <a:solidFill>
                  <a:srgbClr val="374151"/>
                </a:solidFill>
                <a:latin typeface="Calibri"/>
                <a:ea typeface="Calibri"/>
                <a:cs typeface="Calibri"/>
                <a:sym typeface="Calibri"/>
              </a:rPr>
              <a:t>- Customize your dashboard</a:t>
            </a:r>
            <a:endParaRPr/>
          </a:p>
          <a:p>
            <a:pPr marL="0" marR="0" lvl="0" indent="0" algn="l" rtl="0">
              <a:lnSpc>
                <a:spcPct val="150000"/>
              </a:lnSpc>
              <a:spcBef>
                <a:spcPts val="0"/>
              </a:spcBef>
              <a:spcAft>
                <a:spcPts val="0"/>
              </a:spcAft>
              <a:buNone/>
            </a:pPr>
            <a:endParaRPr sz="1800">
              <a:solidFill>
                <a:srgbClr val="374151"/>
              </a:solidFill>
              <a:latin typeface="Calibri"/>
              <a:ea typeface="Calibri"/>
              <a:cs typeface="Calibri"/>
              <a:sym typeface="Calibri"/>
            </a:endParaRPr>
          </a:p>
          <a:p>
            <a:pPr marL="0" marR="0" lvl="0" indent="0" algn="l" rtl="0">
              <a:lnSpc>
                <a:spcPct val="150000"/>
              </a:lnSpc>
              <a:spcBef>
                <a:spcPts val="0"/>
              </a:spcBef>
              <a:spcAft>
                <a:spcPts val="0"/>
              </a:spcAft>
              <a:buNone/>
            </a:pPr>
            <a:r>
              <a:rPr lang="en-US" sz="1800">
                <a:solidFill>
                  <a:srgbClr val="374151"/>
                </a:solidFill>
                <a:latin typeface="Calibri"/>
                <a:ea typeface="Calibri"/>
                <a:cs typeface="Calibri"/>
                <a:sym typeface="Calibri"/>
              </a:rPr>
              <a:t>With interactivity, </a:t>
            </a:r>
            <a:r>
              <a:rPr lang="en-US" sz="1800" b="0" i="0">
                <a:solidFill>
                  <a:srgbClr val="374151"/>
                </a:solidFill>
                <a:latin typeface="Calibri"/>
                <a:ea typeface="Calibri"/>
                <a:cs typeface="Calibri"/>
                <a:sym typeface="Calibri"/>
              </a:rPr>
              <a:t>you can create a powerful and effective dashboard that will help you make better decisions based on your data.</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4"/>
          <p:cNvSpPr txBox="1">
            <a:spLocks noGrp="1"/>
          </p:cNvSpPr>
          <p:nvPr>
            <p:ph type="title"/>
          </p:nvPr>
        </p:nvSpPr>
        <p:spPr>
          <a:xfrm>
            <a:off x="838200" y="365126"/>
            <a:ext cx="10515600" cy="7654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b="1"/>
              <a:t>Time Series Data</a:t>
            </a:r>
            <a:endParaRPr/>
          </a:p>
        </p:txBody>
      </p:sp>
      <p:sp>
        <p:nvSpPr>
          <p:cNvPr id="154" name="Google Shape;154;p14"/>
          <p:cNvSpPr txBox="1">
            <a:spLocks noGrp="1"/>
          </p:cNvSpPr>
          <p:nvPr>
            <p:ph type="body" idx="1"/>
          </p:nvPr>
        </p:nvSpPr>
        <p:spPr>
          <a:xfrm>
            <a:off x="838200" y="1271847"/>
            <a:ext cx="10515600" cy="4905116"/>
          </a:xfrm>
          <a:prstGeom prst="rect">
            <a:avLst/>
          </a:prstGeom>
          <a:noFill/>
          <a:ln>
            <a:noFill/>
          </a:ln>
        </p:spPr>
        <p:txBody>
          <a:bodyPr spcFirstLastPara="1" wrap="square" lIns="91425" tIns="45700" rIns="91425" bIns="45700" anchor="t" anchorCtr="0">
            <a:normAutofit/>
          </a:bodyPr>
          <a:lstStyle/>
          <a:p>
            <a:pPr marL="228600" lvl="0" indent="-228600" algn="l" rtl="0">
              <a:lnSpc>
                <a:spcPct val="200000"/>
              </a:lnSpc>
              <a:spcBef>
                <a:spcPts val="0"/>
              </a:spcBef>
              <a:spcAft>
                <a:spcPts val="0"/>
              </a:spcAft>
              <a:buClr>
                <a:srgbClr val="273239"/>
              </a:buClr>
              <a:buSzPts val="2400"/>
              <a:buChar char="•"/>
            </a:pPr>
            <a:r>
              <a:rPr lang="en-US" sz="2400" b="0" i="0" dirty="0">
                <a:solidFill>
                  <a:srgbClr val="273239"/>
                </a:solidFill>
              </a:rPr>
              <a:t>Time series data is a sequence of data points that measure some variable over ordered period of time. It helps to understand and forecast data patterns. It is important to look for the pattern or components in a Time Series data such as Trend, Seasonality etc.</a:t>
            </a:r>
            <a:endParaRPr dirty="0"/>
          </a:p>
          <a:p>
            <a:pPr marL="228600" lvl="0" indent="-228600" algn="l" rtl="0">
              <a:lnSpc>
                <a:spcPct val="200000"/>
              </a:lnSpc>
              <a:spcBef>
                <a:spcPts val="1000"/>
              </a:spcBef>
              <a:spcAft>
                <a:spcPts val="0"/>
              </a:spcAft>
              <a:buClr>
                <a:srgbClr val="273239"/>
              </a:buClr>
              <a:buSzPts val="2400"/>
              <a:buChar char="•"/>
            </a:pPr>
            <a:r>
              <a:rPr lang="en-US" sz="2400" dirty="0">
                <a:solidFill>
                  <a:srgbClr val="273239"/>
                </a:solidFill>
              </a:rPr>
              <a:t>Examples:  Weather Forecasting, Sales Trends, Data captured in CCTV, Stock price, </a:t>
            </a:r>
            <a:r>
              <a:rPr lang="en-US" sz="2400" dirty="0" err="1">
                <a:solidFill>
                  <a:srgbClr val="273239"/>
                </a:solidFill>
              </a:rPr>
              <a:t>etc</a:t>
            </a:r>
            <a:endParaRPr sz="2400" b="0" i="0" dirty="0">
              <a:solidFill>
                <a:srgbClr val="273239"/>
              </a:solidFill>
            </a:endParaRPr>
          </a:p>
          <a:p>
            <a:pPr marL="228600" lvl="0" indent="-50800" algn="l" rtl="0">
              <a:lnSpc>
                <a:spcPct val="90000"/>
              </a:lnSpc>
              <a:spcBef>
                <a:spcPts val="1000"/>
              </a:spcBef>
              <a:spcAft>
                <a:spcPts val="0"/>
              </a:spcAft>
              <a:buClr>
                <a:schemeClr val="dk1"/>
              </a:buClr>
              <a:buSzPts val="2800"/>
              <a:buNone/>
            </a:pPr>
            <a:endParaRPr dirty="0">
              <a:solidFill>
                <a:srgbClr val="273239"/>
              </a:solidFill>
              <a:latin typeface="Arial"/>
              <a:ea typeface="Arial"/>
              <a:cs typeface="Arial"/>
              <a:sym typeface="Arial"/>
            </a:endParaRPr>
          </a:p>
          <a:p>
            <a:pPr marL="228600" lvl="0" indent="-50800" algn="l" rtl="0">
              <a:lnSpc>
                <a:spcPct val="90000"/>
              </a:lnSpc>
              <a:spcBef>
                <a:spcPts val="1000"/>
              </a:spcBef>
              <a:spcAft>
                <a:spcPts val="0"/>
              </a:spcAft>
              <a:buClr>
                <a:schemeClr val="dk1"/>
              </a:buClr>
              <a:buSzPts val="2800"/>
              <a:buNone/>
            </a:pPr>
            <a:endParaRPr dirty="0"/>
          </a:p>
        </p:txBody>
      </p:sp>
      <p:sp>
        <p:nvSpPr>
          <p:cNvPr id="155" name="Google Shape;155;p14"/>
          <p:cNvSpPr txBox="1">
            <a:spLocks noGrp="1"/>
          </p:cNvSpPr>
          <p:nvPr>
            <p:ph type="sldNum" idx="12"/>
          </p:nvPr>
        </p:nvSpPr>
        <p:spPr>
          <a:xfrm>
            <a:off x="10968644" y="6419778"/>
            <a:ext cx="573578"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FF296-4DB6-31EB-9884-9FAD49ABACC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FF3DE673-94CF-3615-8D79-7FE6BA8AE0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5033DC-89B5-0D14-D8C5-497A571DE34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15</a:t>
            </a:fld>
            <a:endParaRPr lang="en-US"/>
          </a:p>
        </p:txBody>
      </p:sp>
      <p:pic>
        <p:nvPicPr>
          <p:cNvPr id="6" name="Picture 5">
            <a:extLst>
              <a:ext uri="{FF2B5EF4-FFF2-40B4-BE49-F238E27FC236}">
                <a16:creationId xmlns:a16="http://schemas.microsoft.com/office/drawing/2014/main" id="{E575EC53-01B1-F772-2A2A-EBED8111EE15}"/>
              </a:ext>
            </a:extLst>
          </p:cNvPr>
          <p:cNvPicPr>
            <a:picLocks noChangeAspect="1"/>
          </p:cNvPicPr>
          <p:nvPr/>
        </p:nvPicPr>
        <p:blipFill>
          <a:blip r:embed="rId2"/>
          <a:stretch>
            <a:fillRect/>
          </a:stretch>
        </p:blipFill>
        <p:spPr>
          <a:xfrm>
            <a:off x="98939" y="169454"/>
            <a:ext cx="11994122" cy="6093694"/>
          </a:xfrm>
          <a:prstGeom prst="rect">
            <a:avLst/>
          </a:prstGeom>
        </p:spPr>
      </p:pic>
    </p:spTree>
    <p:extLst>
      <p:ext uri="{BB962C8B-B14F-4D97-AF65-F5344CB8AC3E}">
        <p14:creationId xmlns:p14="http://schemas.microsoft.com/office/powerpoint/2010/main" val="1728948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5"/>
          <p:cNvSpPr txBox="1">
            <a:spLocks noGrp="1"/>
          </p:cNvSpPr>
          <p:nvPr>
            <p:ph type="title"/>
          </p:nvPr>
        </p:nvSpPr>
        <p:spPr>
          <a:xfrm>
            <a:off x="838200" y="365126"/>
            <a:ext cx="10515600" cy="7654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Calibri"/>
              <a:buNone/>
            </a:pPr>
            <a:r>
              <a:rPr lang="en-US" sz="3600" b="1"/>
              <a:t>Trend Analysis</a:t>
            </a:r>
            <a:endParaRPr/>
          </a:p>
        </p:txBody>
      </p:sp>
      <p:sp>
        <p:nvSpPr>
          <p:cNvPr id="161" name="Google Shape;161;p15"/>
          <p:cNvSpPr txBox="1">
            <a:spLocks noGrp="1"/>
          </p:cNvSpPr>
          <p:nvPr>
            <p:ph type="body" idx="1"/>
          </p:nvPr>
        </p:nvSpPr>
        <p:spPr>
          <a:xfrm>
            <a:off x="838200" y="1271847"/>
            <a:ext cx="10515600" cy="4905116"/>
          </a:xfrm>
          <a:prstGeom prst="rect">
            <a:avLst/>
          </a:prstGeom>
          <a:noFill/>
          <a:ln>
            <a:noFill/>
          </a:ln>
        </p:spPr>
        <p:txBody>
          <a:bodyPr spcFirstLastPara="1" wrap="square" lIns="91425" tIns="45700" rIns="91425" bIns="45700" anchor="t" anchorCtr="0">
            <a:normAutofit/>
          </a:bodyPr>
          <a:lstStyle/>
          <a:p>
            <a:pPr marL="228600" lvl="0" indent="-228600" algn="l" rtl="0">
              <a:lnSpc>
                <a:spcPct val="200000"/>
              </a:lnSpc>
              <a:spcBef>
                <a:spcPts val="0"/>
              </a:spcBef>
              <a:spcAft>
                <a:spcPts val="0"/>
              </a:spcAft>
              <a:buClr>
                <a:srgbClr val="273239"/>
              </a:buClr>
              <a:buSzPts val="2400"/>
              <a:buChar char="•"/>
            </a:pPr>
            <a:r>
              <a:rPr lang="en-US" sz="2400" b="1" i="0" dirty="0">
                <a:solidFill>
                  <a:srgbClr val="273239"/>
                </a:solidFill>
              </a:rPr>
              <a:t>Trend </a:t>
            </a:r>
            <a:r>
              <a:rPr lang="en-US" sz="2400" b="0" i="0" dirty="0">
                <a:solidFill>
                  <a:srgbClr val="273239"/>
                </a:solidFill>
              </a:rPr>
              <a:t>is a pattern in data that shows the movement of a series to relatively higher or lower values over a long period of time. In other words, a trend is observed when there is an increasing or decreasing slope in the time series.</a:t>
            </a:r>
            <a:endParaRPr dirty="0"/>
          </a:p>
          <a:p>
            <a:pPr marL="228600" lvl="0" indent="-228600" algn="l" rtl="0">
              <a:lnSpc>
                <a:spcPct val="200000"/>
              </a:lnSpc>
              <a:spcBef>
                <a:spcPts val="1000"/>
              </a:spcBef>
              <a:spcAft>
                <a:spcPts val="0"/>
              </a:spcAft>
              <a:buClr>
                <a:srgbClr val="273239"/>
              </a:buClr>
              <a:buSzPts val="2400"/>
              <a:buChar char="•"/>
            </a:pPr>
            <a:r>
              <a:rPr lang="en-US" sz="2400" dirty="0">
                <a:solidFill>
                  <a:srgbClr val="273239"/>
                </a:solidFill>
              </a:rPr>
              <a:t> Hands-on – Trend Analysis for a Time Series Data.</a:t>
            </a:r>
            <a:endParaRPr dirty="0"/>
          </a:p>
          <a:p>
            <a:pPr marL="0" lvl="0" indent="0" algn="l" rtl="0">
              <a:lnSpc>
                <a:spcPct val="90000"/>
              </a:lnSpc>
              <a:spcBef>
                <a:spcPts val="1000"/>
              </a:spcBef>
              <a:spcAft>
                <a:spcPts val="0"/>
              </a:spcAft>
              <a:buClr>
                <a:srgbClr val="374151"/>
              </a:buClr>
              <a:buSzPts val="2400"/>
              <a:buNone/>
            </a:pPr>
            <a:r>
              <a:rPr lang="en-US" sz="2400" b="1" i="0" dirty="0">
                <a:solidFill>
                  <a:srgbClr val="374151"/>
                </a:solidFill>
              </a:rPr>
              <a:t>Line Chart</a:t>
            </a:r>
            <a:r>
              <a:rPr lang="en-US" sz="2400" b="0" i="0" dirty="0">
                <a:solidFill>
                  <a:srgbClr val="374151"/>
                </a:solidFill>
              </a:rPr>
              <a:t>:</a:t>
            </a:r>
            <a:endParaRPr dirty="0"/>
          </a:p>
          <a:p>
            <a:pPr marL="228600" lvl="0" indent="-228600" algn="l" rtl="0">
              <a:lnSpc>
                <a:spcPct val="90000"/>
              </a:lnSpc>
              <a:spcBef>
                <a:spcPts val="1000"/>
              </a:spcBef>
              <a:spcAft>
                <a:spcPts val="0"/>
              </a:spcAft>
              <a:buClr>
                <a:srgbClr val="374151"/>
              </a:buClr>
              <a:buSzPts val="2400"/>
              <a:buFont typeface="Arial"/>
              <a:buChar char="•"/>
            </a:pPr>
            <a:r>
              <a:rPr lang="en-US" sz="2400" b="0" i="0" dirty="0">
                <a:solidFill>
                  <a:srgbClr val="374151"/>
                </a:solidFill>
              </a:rPr>
              <a:t>Show how a continuous variable changes over time.</a:t>
            </a:r>
            <a:endParaRPr sz="2400" dirty="0">
              <a:solidFill>
                <a:srgbClr val="273239"/>
              </a:solidFill>
            </a:endParaRPr>
          </a:p>
        </p:txBody>
      </p:sp>
      <p:sp>
        <p:nvSpPr>
          <p:cNvPr id="162" name="Google Shape;162;p15"/>
          <p:cNvSpPr txBox="1">
            <a:spLocks noGrp="1"/>
          </p:cNvSpPr>
          <p:nvPr>
            <p:ph type="sldNum" idx="12"/>
          </p:nvPr>
        </p:nvSpPr>
        <p:spPr>
          <a:xfrm>
            <a:off x="10968644" y="6419778"/>
            <a:ext cx="573578"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6"/>
          <p:cNvSpPr txBox="1">
            <a:spLocks noGrp="1"/>
          </p:cNvSpPr>
          <p:nvPr>
            <p:ph type="title"/>
          </p:nvPr>
        </p:nvSpPr>
        <p:spPr>
          <a:xfrm>
            <a:off x="838200" y="365126"/>
            <a:ext cx="10515600" cy="7654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Calibri"/>
              <a:buNone/>
            </a:pPr>
            <a:r>
              <a:rPr lang="en-US" sz="3200" b="1"/>
              <a:t>Types of Trend</a:t>
            </a:r>
            <a:endParaRPr/>
          </a:p>
        </p:txBody>
      </p:sp>
      <p:sp>
        <p:nvSpPr>
          <p:cNvPr id="168" name="Google Shape;168;p16"/>
          <p:cNvSpPr txBox="1">
            <a:spLocks noGrp="1"/>
          </p:cNvSpPr>
          <p:nvPr>
            <p:ph type="body" idx="1"/>
          </p:nvPr>
        </p:nvSpPr>
        <p:spPr>
          <a:xfrm>
            <a:off x="838200" y="1271847"/>
            <a:ext cx="5562600" cy="4406142"/>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150000"/>
              </a:lnSpc>
              <a:spcBef>
                <a:spcPts val="0"/>
              </a:spcBef>
              <a:spcAft>
                <a:spcPts val="0"/>
              </a:spcAft>
              <a:buClr>
                <a:srgbClr val="273239"/>
              </a:buClr>
              <a:buSzPts val="2000"/>
              <a:buFont typeface="Arial"/>
              <a:buChar char="•"/>
            </a:pPr>
            <a:r>
              <a:rPr lang="en-US" sz="2000" b="1" i="0">
                <a:solidFill>
                  <a:srgbClr val="273239"/>
                </a:solidFill>
              </a:rPr>
              <a:t>Upward trend:</a:t>
            </a:r>
            <a:r>
              <a:rPr lang="en-US" sz="2000" b="0" i="0">
                <a:solidFill>
                  <a:srgbClr val="273239"/>
                </a:solidFill>
              </a:rPr>
              <a:t> </a:t>
            </a:r>
            <a:endParaRPr/>
          </a:p>
          <a:p>
            <a:pPr marL="0" lvl="0" indent="0" algn="l" rtl="0">
              <a:lnSpc>
                <a:spcPct val="150000"/>
              </a:lnSpc>
              <a:spcBef>
                <a:spcPts val="1000"/>
              </a:spcBef>
              <a:spcAft>
                <a:spcPts val="0"/>
              </a:spcAft>
              <a:buClr>
                <a:srgbClr val="273239"/>
              </a:buClr>
              <a:buSzPts val="1800"/>
              <a:buNone/>
            </a:pPr>
            <a:r>
              <a:rPr lang="en-US" sz="1800">
                <a:solidFill>
                  <a:srgbClr val="273239"/>
                </a:solidFill>
              </a:rPr>
              <a:t>          </a:t>
            </a:r>
            <a:r>
              <a:rPr lang="en-US" sz="1800" b="0" i="0">
                <a:solidFill>
                  <a:srgbClr val="273239"/>
                </a:solidFill>
              </a:rPr>
              <a:t>Time Series Analysis shows a general pattern that is upward then it is Upward trend.</a:t>
            </a:r>
            <a:endParaRPr/>
          </a:p>
          <a:p>
            <a:pPr marL="228600" lvl="0" indent="-228600" algn="l" rtl="0">
              <a:lnSpc>
                <a:spcPct val="150000"/>
              </a:lnSpc>
              <a:spcBef>
                <a:spcPts val="1000"/>
              </a:spcBef>
              <a:spcAft>
                <a:spcPts val="0"/>
              </a:spcAft>
              <a:buClr>
                <a:srgbClr val="273239"/>
              </a:buClr>
              <a:buSzPts val="2000"/>
              <a:buFont typeface="Arial"/>
              <a:buChar char="•"/>
            </a:pPr>
            <a:r>
              <a:rPr lang="en-US" sz="2000" b="1" i="0">
                <a:solidFill>
                  <a:srgbClr val="273239"/>
                </a:solidFill>
              </a:rPr>
              <a:t>Downward trend:</a:t>
            </a:r>
            <a:r>
              <a:rPr lang="en-US" sz="2000" b="0" i="0">
                <a:solidFill>
                  <a:srgbClr val="273239"/>
                </a:solidFill>
              </a:rPr>
              <a:t> </a:t>
            </a:r>
            <a:endParaRPr/>
          </a:p>
          <a:p>
            <a:pPr marL="0" lvl="0" indent="0" algn="l" rtl="0">
              <a:lnSpc>
                <a:spcPct val="150000"/>
              </a:lnSpc>
              <a:spcBef>
                <a:spcPts val="1000"/>
              </a:spcBef>
              <a:spcAft>
                <a:spcPts val="0"/>
              </a:spcAft>
              <a:buClr>
                <a:srgbClr val="273239"/>
              </a:buClr>
              <a:buSzPts val="1800"/>
              <a:buNone/>
            </a:pPr>
            <a:r>
              <a:rPr lang="en-US" sz="1800">
                <a:solidFill>
                  <a:srgbClr val="273239"/>
                </a:solidFill>
              </a:rPr>
              <a:t>          </a:t>
            </a:r>
            <a:r>
              <a:rPr lang="en-US" sz="1800" b="0" i="0">
                <a:solidFill>
                  <a:srgbClr val="273239"/>
                </a:solidFill>
              </a:rPr>
              <a:t>Time Series Analysis shows a pattern that is downward then it is Downward trend.</a:t>
            </a:r>
            <a:endParaRPr/>
          </a:p>
          <a:p>
            <a:pPr marL="228600" lvl="0" indent="-228600" algn="l" rtl="0">
              <a:lnSpc>
                <a:spcPct val="150000"/>
              </a:lnSpc>
              <a:spcBef>
                <a:spcPts val="1000"/>
              </a:spcBef>
              <a:spcAft>
                <a:spcPts val="0"/>
              </a:spcAft>
              <a:buClr>
                <a:srgbClr val="273239"/>
              </a:buClr>
              <a:buSzPts val="2000"/>
              <a:buFont typeface="Arial"/>
              <a:buChar char="•"/>
            </a:pPr>
            <a:r>
              <a:rPr lang="en-US" sz="2000" b="1" i="0">
                <a:solidFill>
                  <a:srgbClr val="273239"/>
                </a:solidFill>
              </a:rPr>
              <a:t>Horizontal or Stationary trend:</a:t>
            </a:r>
            <a:r>
              <a:rPr lang="en-US" sz="2000" b="0" i="0">
                <a:solidFill>
                  <a:srgbClr val="273239"/>
                </a:solidFill>
              </a:rPr>
              <a:t> </a:t>
            </a:r>
            <a:endParaRPr/>
          </a:p>
          <a:p>
            <a:pPr marL="0" lvl="0" indent="0" algn="l" rtl="0">
              <a:lnSpc>
                <a:spcPct val="150000"/>
              </a:lnSpc>
              <a:spcBef>
                <a:spcPts val="1000"/>
              </a:spcBef>
              <a:spcAft>
                <a:spcPts val="0"/>
              </a:spcAft>
              <a:buClr>
                <a:srgbClr val="273239"/>
              </a:buClr>
              <a:buSzPts val="1800"/>
              <a:buNone/>
            </a:pPr>
            <a:r>
              <a:rPr lang="en-US" sz="1800" b="0" i="0">
                <a:solidFill>
                  <a:srgbClr val="273239"/>
                </a:solidFill>
              </a:rPr>
              <a:t>           If no pattern is observed then it is called a Horizontal or stationary trend.</a:t>
            </a:r>
            <a:endParaRPr/>
          </a:p>
          <a:p>
            <a:pPr marL="228600" lvl="0" indent="-50800" algn="l" rtl="0">
              <a:lnSpc>
                <a:spcPct val="90000"/>
              </a:lnSpc>
              <a:spcBef>
                <a:spcPts val="1000"/>
              </a:spcBef>
              <a:spcAft>
                <a:spcPts val="0"/>
              </a:spcAft>
              <a:buClr>
                <a:schemeClr val="dk1"/>
              </a:buClr>
              <a:buSzPts val="2800"/>
              <a:buNone/>
            </a:pPr>
            <a:endParaRPr/>
          </a:p>
        </p:txBody>
      </p:sp>
      <p:sp>
        <p:nvSpPr>
          <p:cNvPr id="169" name="Google Shape;169;p16"/>
          <p:cNvSpPr txBox="1">
            <a:spLocks noGrp="1"/>
          </p:cNvSpPr>
          <p:nvPr>
            <p:ph type="sldNum" idx="12"/>
          </p:nvPr>
        </p:nvSpPr>
        <p:spPr>
          <a:xfrm>
            <a:off x="10968644" y="6419778"/>
            <a:ext cx="573578" cy="365125"/>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None/>
            </a:pPr>
            <a:fld id="{00000000-1234-1234-1234-123412341234}" type="slidenum">
              <a:rPr lang="en-US"/>
              <a:t>17</a:t>
            </a:fld>
            <a:endParaRPr/>
          </a:p>
        </p:txBody>
      </p:sp>
      <p:pic>
        <p:nvPicPr>
          <p:cNvPr id="170" name="Google Shape;170;p16" descr="A Guide to Time Series Forecasting with Prophet in Python 3 | DigitalOcean"/>
          <p:cNvPicPr preferRelativeResize="0"/>
          <p:nvPr/>
        </p:nvPicPr>
        <p:blipFill rotWithShape="1">
          <a:blip r:embed="rId3">
            <a:alphaModFix/>
          </a:blip>
          <a:srcRect/>
          <a:stretch/>
        </p:blipFill>
        <p:spPr>
          <a:xfrm>
            <a:off x="6096000" y="1180011"/>
            <a:ext cx="5885915" cy="440614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Clr>
                <a:schemeClr val="dk1"/>
              </a:buClr>
              <a:buSzPts val="4800"/>
              <a:buFont typeface="Calibri"/>
              <a:buNone/>
            </a:pPr>
            <a:br>
              <a:rPr lang="en-US" sz="4800"/>
            </a:br>
            <a:r>
              <a:rPr lang="en-US" sz="4800"/>
              <a:t>Break Even Analysis</a:t>
            </a:r>
            <a:endParaRPr sz="2400"/>
          </a:p>
        </p:txBody>
      </p:sp>
      <p:sp>
        <p:nvSpPr>
          <p:cNvPr id="38" name="Google Shape;38;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Decision Modeling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3"/>
          <p:cNvSpPr txBox="1">
            <a:spLocks noGrp="1"/>
          </p:cNvSpPr>
          <p:nvPr>
            <p:ph type="title"/>
          </p:nvPr>
        </p:nvSpPr>
        <p:spPr>
          <a:xfrm>
            <a:off x="838200" y="365126"/>
            <a:ext cx="10515600" cy="7654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What is Break-even?</a:t>
            </a:r>
            <a:endParaRPr dirty="0"/>
          </a:p>
        </p:txBody>
      </p:sp>
      <p:sp>
        <p:nvSpPr>
          <p:cNvPr id="44" name="Google Shape;44;p3"/>
          <p:cNvSpPr txBox="1"/>
          <p:nvPr/>
        </p:nvSpPr>
        <p:spPr>
          <a:xfrm>
            <a:off x="609600" y="1375023"/>
            <a:ext cx="5862900" cy="50760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233" dirty="0">
                <a:solidFill>
                  <a:schemeClr val="dk1"/>
                </a:solidFill>
                <a:latin typeface="Calibri"/>
                <a:ea typeface="Calibri"/>
                <a:cs typeface="Calibri"/>
                <a:sym typeface="Calibri"/>
              </a:rPr>
              <a:t>Primarily, any venture begun by a firm requires certain capital costs. </a:t>
            </a:r>
            <a:endParaRPr sz="2233"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US" sz="2233" dirty="0">
                <a:solidFill>
                  <a:schemeClr val="dk1"/>
                </a:solidFill>
                <a:latin typeface="Calibri"/>
                <a:ea typeface="Calibri"/>
                <a:cs typeface="Calibri"/>
                <a:sym typeface="Calibri"/>
              </a:rPr>
              <a:t>It is expected that the business recovers this initial capital through earnings over a period of time.</a:t>
            </a:r>
            <a:endParaRPr sz="2233"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US" sz="2233" dirty="0">
                <a:solidFill>
                  <a:schemeClr val="dk1"/>
                </a:solidFill>
                <a:latin typeface="Calibri"/>
                <a:ea typeface="Calibri"/>
                <a:cs typeface="Calibri"/>
                <a:sym typeface="Calibri"/>
              </a:rPr>
              <a:t>The position of </a:t>
            </a:r>
            <a:r>
              <a:rPr lang="en-US" sz="2233" i="1" dirty="0">
                <a:solidFill>
                  <a:schemeClr val="dk1"/>
                </a:solidFill>
                <a:latin typeface="Calibri"/>
                <a:ea typeface="Calibri"/>
                <a:cs typeface="Calibri"/>
                <a:sym typeface="Calibri"/>
              </a:rPr>
              <a:t>no profit - no loss</a:t>
            </a:r>
            <a:r>
              <a:rPr lang="en-US" sz="2233" dirty="0">
                <a:solidFill>
                  <a:schemeClr val="dk1"/>
                </a:solidFill>
                <a:latin typeface="Calibri"/>
                <a:ea typeface="Calibri"/>
                <a:cs typeface="Calibri"/>
                <a:sym typeface="Calibri"/>
              </a:rPr>
              <a:t> is termed as Break-Even for a venture.</a:t>
            </a:r>
            <a:endParaRPr sz="2233"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233"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233" dirty="0">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endParaRPr sz="2233" dirty="0">
              <a:solidFill>
                <a:schemeClr val="dk1"/>
              </a:solidFill>
              <a:latin typeface="Calibri"/>
              <a:ea typeface="Calibri"/>
              <a:cs typeface="Calibri"/>
              <a:sym typeface="Calibri"/>
            </a:endParaRPr>
          </a:p>
        </p:txBody>
      </p:sp>
      <p:pic>
        <p:nvPicPr>
          <p:cNvPr id="45" name="Google Shape;45;p3"/>
          <p:cNvPicPr preferRelativeResize="0"/>
          <p:nvPr/>
        </p:nvPicPr>
        <p:blipFill rotWithShape="1">
          <a:blip r:embed="rId3">
            <a:alphaModFix/>
          </a:blip>
          <a:srcRect b="8500"/>
          <a:stretch/>
        </p:blipFill>
        <p:spPr>
          <a:xfrm>
            <a:off x="6624900" y="1282926"/>
            <a:ext cx="5414700" cy="49543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2"/>
          <p:cNvSpPr txBox="1">
            <a:spLocks noGrp="1"/>
          </p:cNvSpPr>
          <p:nvPr>
            <p:ph type="title"/>
          </p:nvPr>
        </p:nvSpPr>
        <p:spPr>
          <a:xfrm>
            <a:off x="609600" y="482600"/>
            <a:ext cx="10261500" cy="6144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a:t>Decision Modeling</a:t>
            </a:r>
            <a:endParaRPr/>
          </a:p>
          <a:p>
            <a:pPr marL="0" lvl="0" indent="0" algn="l" rtl="0">
              <a:lnSpc>
                <a:spcPct val="90000"/>
              </a:lnSpc>
              <a:spcBef>
                <a:spcPts val="0"/>
              </a:spcBef>
              <a:spcAft>
                <a:spcPts val="0"/>
              </a:spcAft>
              <a:buClr>
                <a:schemeClr val="dk1"/>
              </a:buClr>
              <a:buSzPct val="100000"/>
              <a:buFont typeface="Calibri"/>
              <a:buNone/>
            </a:pPr>
            <a:r>
              <a:rPr lang="en-US"/>
              <a:t>Software Purchase or In-House?</a:t>
            </a:r>
            <a:endParaRPr/>
          </a:p>
        </p:txBody>
      </p:sp>
      <p:sp>
        <p:nvSpPr>
          <p:cNvPr id="72" name="Google Shape;72;p2"/>
          <p:cNvSpPr txBox="1"/>
          <p:nvPr/>
        </p:nvSpPr>
        <p:spPr>
          <a:xfrm>
            <a:off x="541867" y="1544225"/>
            <a:ext cx="10261500" cy="44946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200" b="0" i="0" u="none" strike="noStrike" cap="none">
                <a:solidFill>
                  <a:schemeClr val="dk1"/>
                </a:solidFill>
                <a:latin typeface="Calibri"/>
                <a:ea typeface="Calibri"/>
                <a:cs typeface="Calibri"/>
                <a:sym typeface="Calibri"/>
              </a:rPr>
              <a:t>The business decision needs to be made to make or buy a software product.</a:t>
            </a:r>
            <a:endParaRPr sz="2200"/>
          </a:p>
          <a:p>
            <a:pPr marL="380990" marR="0" lvl="0" indent="-368290" algn="l" rtl="0">
              <a:lnSpc>
                <a:spcPct val="150000"/>
              </a:lnSpc>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Software development project costs  $200,000  and maintenance of the software infrastructure costs  $30 per user per annum.</a:t>
            </a:r>
            <a:endParaRPr sz="2200"/>
          </a:p>
          <a:p>
            <a:pPr marL="380990" marR="0" lvl="0" indent="-368290" algn="l" rtl="0">
              <a:lnSpc>
                <a:spcPct val="150000"/>
              </a:lnSpc>
              <a:spcBef>
                <a:spcPts val="0"/>
              </a:spcBef>
              <a:spcAft>
                <a:spcPts val="0"/>
              </a:spcAft>
              <a:buClr>
                <a:schemeClr val="dk1"/>
              </a:buClr>
              <a:buSzPts val="2200"/>
              <a:buFont typeface="Arial"/>
              <a:buChar char="•"/>
            </a:pPr>
            <a:r>
              <a:rPr lang="en-US" sz="2200" b="0" i="0" u="none" strike="noStrike" cap="none">
                <a:solidFill>
                  <a:schemeClr val="dk1"/>
                </a:solidFill>
                <a:latin typeface="Calibri"/>
                <a:ea typeface="Calibri"/>
                <a:cs typeface="Calibri"/>
                <a:sym typeface="Calibri"/>
              </a:rPr>
              <a:t>Buying a SAAS product directly from a software vendor. This has no development or upfront costs, and the software vendor charges  $250 per user per annum.</a:t>
            </a:r>
            <a:endParaRPr sz="2200"/>
          </a:p>
          <a:p>
            <a:pPr marL="0" marR="0" lvl="0" indent="0" algn="l" rtl="0">
              <a:lnSpc>
                <a:spcPct val="150000"/>
              </a:lnSpc>
              <a:spcBef>
                <a:spcPts val="0"/>
              </a:spcBef>
              <a:spcAft>
                <a:spcPts val="0"/>
              </a:spcAft>
              <a:buNone/>
            </a:pPr>
            <a:endParaRPr sz="22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None/>
            </a:pPr>
            <a:r>
              <a:rPr lang="en-US" sz="2200" b="0" i="0" u="none" strike="noStrike" cap="none">
                <a:solidFill>
                  <a:schemeClr val="dk1"/>
                </a:solidFill>
                <a:latin typeface="Calibri"/>
                <a:ea typeface="Calibri"/>
                <a:cs typeface="Calibri"/>
                <a:sym typeface="Calibri"/>
              </a:rPr>
              <a:t>Decision is to choose more economic model based on the number of users.</a:t>
            </a:r>
            <a:endParaRPr sz="2200"/>
          </a:p>
          <a:p>
            <a:pPr marL="0" marR="0" lvl="0" indent="0" algn="l" rtl="0">
              <a:lnSpc>
                <a:spcPct val="150000"/>
              </a:lnSpc>
              <a:spcBef>
                <a:spcPts val="0"/>
              </a:spcBef>
              <a:spcAft>
                <a:spcPts val="0"/>
              </a:spcAft>
              <a:buNone/>
            </a:pPr>
            <a:r>
              <a:rPr lang="en-US" sz="2200" b="0" i="0" u="none" strike="noStrike" cap="none">
                <a:solidFill>
                  <a:schemeClr val="dk1"/>
                </a:solidFill>
                <a:latin typeface="Calibri"/>
                <a:ea typeface="Calibri"/>
                <a:cs typeface="Calibri"/>
                <a:sym typeface="Calibri"/>
              </a:rPr>
              <a:t>Assume that development cost of $200k is required to maintain and add new feature every year.</a:t>
            </a:r>
            <a:endParaRPr sz="22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4"/>
          <p:cNvSpPr txBox="1">
            <a:spLocks noGrp="1"/>
          </p:cNvSpPr>
          <p:nvPr>
            <p:ph type="title"/>
          </p:nvPr>
        </p:nvSpPr>
        <p:spPr>
          <a:xfrm>
            <a:off x="838200" y="365126"/>
            <a:ext cx="10515600" cy="76540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Break Even Decision Model</a:t>
            </a:r>
            <a:endParaRPr/>
          </a:p>
        </p:txBody>
      </p:sp>
      <p:sp>
        <p:nvSpPr>
          <p:cNvPr id="78" name="Google Shape;78;p4"/>
          <p:cNvSpPr txBox="1">
            <a:spLocks noGrp="1"/>
          </p:cNvSpPr>
          <p:nvPr>
            <p:ph type="body" idx="1"/>
          </p:nvPr>
        </p:nvSpPr>
        <p:spPr>
          <a:xfrm>
            <a:off x="838200" y="1271847"/>
            <a:ext cx="10515600" cy="4905116"/>
          </a:xfrm>
          <a:prstGeom prst="rect">
            <a:avLst/>
          </a:prstGeom>
          <a:noFill/>
          <a:ln>
            <a:noFill/>
          </a:ln>
        </p:spPr>
        <p:txBody>
          <a:bodyPr spcFirstLastPara="1" wrap="square" lIns="91425" tIns="45700" rIns="91425" bIns="45700" anchor="t" anchorCtr="0">
            <a:normAutofit fontScale="92500" lnSpcReduction="20000"/>
          </a:bodyPr>
          <a:lstStyle/>
          <a:p>
            <a:pPr marL="228600" lvl="0" indent="-228661" algn="l" rtl="0">
              <a:lnSpc>
                <a:spcPct val="90000"/>
              </a:lnSpc>
              <a:spcBef>
                <a:spcPts val="0"/>
              </a:spcBef>
              <a:spcAft>
                <a:spcPts val="0"/>
              </a:spcAft>
              <a:buClr>
                <a:schemeClr val="dk1"/>
              </a:buClr>
              <a:buSzPct val="100000"/>
              <a:buChar char="•"/>
            </a:pPr>
            <a:r>
              <a:rPr lang="en-US" sz="1867"/>
              <a:t>Total Cost of Development = $200,000 + $30 x Users</a:t>
            </a:r>
            <a:endParaRPr/>
          </a:p>
          <a:p>
            <a:pPr marL="228600" lvl="0" indent="-228661" algn="l" rtl="0">
              <a:lnSpc>
                <a:spcPct val="90000"/>
              </a:lnSpc>
              <a:spcBef>
                <a:spcPts val="1000"/>
              </a:spcBef>
              <a:spcAft>
                <a:spcPts val="0"/>
              </a:spcAft>
              <a:buClr>
                <a:schemeClr val="dk1"/>
              </a:buClr>
              <a:buSzPct val="100000"/>
              <a:buChar char="•"/>
            </a:pPr>
            <a:r>
              <a:rPr lang="en-US" sz="1867"/>
              <a:t>Total Cost of SAAS software = $250 x Users</a:t>
            </a:r>
            <a:endParaRPr/>
          </a:p>
          <a:p>
            <a:pPr marL="16933" lvl="0" indent="92668" algn="l" rtl="0">
              <a:lnSpc>
                <a:spcPct val="100000"/>
              </a:lnSpc>
              <a:spcBef>
                <a:spcPts val="133"/>
              </a:spcBef>
              <a:spcAft>
                <a:spcPts val="0"/>
              </a:spcAft>
              <a:buClr>
                <a:schemeClr val="dk1"/>
              </a:buClr>
              <a:buSzPct val="100000"/>
              <a:buNone/>
            </a:pPr>
            <a:endParaRPr sz="1867" u="sng">
              <a:latin typeface="Arial"/>
              <a:ea typeface="Arial"/>
              <a:cs typeface="Arial"/>
              <a:sym typeface="Arial"/>
            </a:endParaRPr>
          </a:p>
          <a:p>
            <a:pPr marL="16933" lvl="0" indent="92668" algn="l" rtl="0">
              <a:lnSpc>
                <a:spcPct val="100000"/>
              </a:lnSpc>
              <a:spcBef>
                <a:spcPts val="133"/>
              </a:spcBef>
              <a:spcAft>
                <a:spcPts val="0"/>
              </a:spcAft>
              <a:buClr>
                <a:schemeClr val="dk1"/>
              </a:buClr>
              <a:buSzPct val="100000"/>
              <a:buNone/>
            </a:pPr>
            <a:endParaRPr sz="1867" u="sng">
              <a:latin typeface="Arial"/>
              <a:ea typeface="Arial"/>
              <a:cs typeface="Arial"/>
              <a:sym typeface="Arial"/>
            </a:endParaRPr>
          </a:p>
          <a:p>
            <a:pPr marL="16933" lvl="0" indent="-16994" algn="l" rtl="0">
              <a:lnSpc>
                <a:spcPct val="100000"/>
              </a:lnSpc>
              <a:spcBef>
                <a:spcPts val="133"/>
              </a:spcBef>
              <a:spcAft>
                <a:spcPts val="0"/>
              </a:spcAft>
              <a:buClr>
                <a:schemeClr val="dk1"/>
              </a:buClr>
              <a:buSzPct val="100000"/>
              <a:buChar char="•"/>
            </a:pPr>
            <a:r>
              <a:rPr lang="en-US" sz="1867" u="sng">
                <a:latin typeface="Arial"/>
                <a:ea typeface="Arial"/>
                <a:cs typeface="Arial"/>
                <a:sym typeface="Arial"/>
              </a:rPr>
              <a:t>Breakeven Point</a:t>
            </a:r>
            <a:r>
              <a:rPr lang="en-US" sz="1867">
                <a:latin typeface="Arial"/>
                <a:ea typeface="Arial"/>
                <a:cs typeface="Arial"/>
                <a:sym typeface="Arial"/>
              </a:rPr>
              <a:t>:</a:t>
            </a:r>
            <a:endParaRPr sz="1867">
              <a:latin typeface="Arial"/>
              <a:ea typeface="Arial"/>
              <a:cs typeface="Arial"/>
              <a:sym typeface="Arial"/>
            </a:endParaRPr>
          </a:p>
          <a:p>
            <a:pPr marL="228600" lvl="0" indent="-118999" algn="l" rtl="0">
              <a:lnSpc>
                <a:spcPct val="100000"/>
              </a:lnSpc>
              <a:spcBef>
                <a:spcPts val="40"/>
              </a:spcBef>
              <a:spcAft>
                <a:spcPts val="0"/>
              </a:spcAft>
              <a:buClr>
                <a:schemeClr val="dk1"/>
              </a:buClr>
              <a:buSzPct val="100000"/>
              <a:buNone/>
            </a:pPr>
            <a:endParaRPr sz="1867">
              <a:latin typeface="Arial"/>
              <a:ea typeface="Arial"/>
              <a:cs typeface="Arial"/>
              <a:sym typeface="Arial"/>
            </a:endParaRPr>
          </a:p>
          <a:p>
            <a:pPr marL="228600" lvl="0" indent="-228661" algn="l" rtl="0">
              <a:lnSpc>
                <a:spcPct val="100000"/>
              </a:lnSpc>
              <a:spcBef>
                <a:spcPts val="40"/>
              </a:spcBef>
              <a:spcAft>
                <a:spcPts val="0"/>
              </a:spcAft>
              <a:buClr>
                <a:schemeClr val="dk1"/>
              </a:buClr>
              <a:buSzPct val="100000"/>
              <a:buChar char="•"/>
            </a:pPr>
            <a:r>
              <a:rPr lang="en-US" sz="1867">
                <a:latin typeface="Arial"/>
                <a:ea typeface="Arial"/>
                <a:cs typeface="Arial"/>
                <a:sym typeface="Arial"/>
              </a:rPr>
              <a:t>Can get break even point by equating above equations</a:t>
            </a:r>
            <a:endParaRPr/>
          </a:p>
          <a:p>
            <a:pPr marL="228600" lvl="0" indent="-118999" algn="l" rtl="0">
              <a:lnSpc>
                <a:spcPct val="100000"/>
              </a:lnSpc>
              <a:spcBef>
                <a:spcPts val="40"/>
              </a:spcBef>
              <a:spcAft>
                <a:spcPts val="0"/>
              </a:spcAft>
              <a:buClr>
                <a:schemeClr val="dk1"/>
              </a:buClr>
              <a:buSzPct val="100000"/>
              <a:buNone/>
            </a:pPr>
            <a:endParaRPr sz="1867">
              <a:latin typeface="Arial"/>
              <a:ea typeface="Arial"/>
              <a:cs typeface="Arial"/>
              <a:sym typeface="Arial"/>
            </a:endParaRPr>
          </a:p>
          <a:p>
            <a:pPr marL="16933" lvl="0" indent="-16994" algn="l" rtl="0">
              <a:lnSpc>
                <a:spcPct val="100000"/>
              </a:lnSpc>
              <a:spcBef>
                <a:spcPts val="1000"/>
              </a:spcBef>
              <a:spcAft>
                <a:spcPts val="0"/>
              </a:spcAft>
              <a:buClr>
                <a:schemeClr val="dk1"/>
              </a:buClr>
              <a:buSzPct val="100000"/>
              <a:buChar char="•"/>
            </a:pPr>
            <a:r>
              <a:rPr lang="en-US" sz="1867"/>
              <a:t>$200,000 + $30 x Users = $250 x Users</a:t>
            </a:r>
            <a:endParaRPr/>
          </a:p>
          <a:p>
            <a:pPr marL="228600" lvl="0" indent="-228661" algn="l" rtl="0">
              <a:lnSpc>
                <a:spcPct val="100000"/>
              </a:lnSpc>
              <a:spcBef>
                <a:spcPts val="1000"/>
              </a:spcBef>
              <a:spcAft>
                <a:spcPts val="0"/>
              </a:spcAft>
              <a:buClr>
                <a:schemeClr val="dk1"/>
              </a:buClr>
              <a:buSzPct val="100000"/>
              <a:buFont typeface="Noto Sans Symbols"/>
              <a:buChar char="🡺"/>
            </a:pPr>
            <a:r>
              <a:rPr lang="en-US" sz="1867">
                <a:latin typeface="Arial"/>
                <a:ea typeface="Arial"/>
                <a:cs typeface="Arial"/>
                <a:sym typeface="Arial"/>
              </a:rPr>
              <a:t>220xusers = 200,000 🡺  about  909  users.</a:t>
            </a:r>
            <a:endParaRPr/>
          </a:p>
          <a:p>
            <a:pPr marL="0" lvl="0" indent="0" algn="l" rtl="0">
              <a:lnSpc>
                <a:spcPct val="100000"/>
              </a:lnSpc>
              <a:spcBef>
                <a:spcPts val="1000"/>
              </a:spcBef>
              <a:spcAft>
                <a:spcPts val="0"/>
              </a:spcAft>
              <a:buClr>
                <a:schemeClr val="dk1"/>
              </a:buClr>
              <a:buSzPct val="100000"/>
              <a:buNone/>
            </a:pPr>
            <a:endParaRPr sz="1867" i="1">
              <a:latin typeface="Arial"/>
              <a:ea typeface="Arial"/>
              <a:cs typeface="Arial"/>
              <a:sym typeface="Arial"/>
            </a:endParaRPr>
          </a:p>
          <a:p>
            <a:pPr marL="0" lvl="0" indent="0" algn="l" rtl="0">
              <a:lnSpc>
                <a:spcPct val="100000"/>
              </a:lnSpc>
              <a:spcBef>
                <a:spcPts val="1000"/>
              </a:spcBef>
              <a:spcAft>
                <a:spcPts val="0"/>
              </a:spcAft>
              <a:buClr>
                <a:schemeClr val="dk1"/>
              </a:buClr>
              <a:buSzPct val="100000"/>
              <a:buNone/>
            </a:pPr>
            <a:r>
              <a:rPr lang="en-US" sz="1867">
                <a:latin typeface="Arial"/>
                <a:ea typeface="Arial"/>
                <a:cs typeface="Arial"/>
                <a:sym typeface="Arial"/>
              </a:rPr>
              <a:t>This means at 909 users both costs are same. So, if  number of users are more than 909, then we develop software otherwise buying SAAS software is better.</a:t>
            </a:r>
            <a:endParaRPr/>
          </a:p>
          <a:p>
            <a:pPr marL="0" lvl="0" indent="0" algn="l" rtl="0">
              <a:lnSpc>
                <a:spcPct val="100000"/>
              </a:lnSpc>
              <a:spcBef>
                <a:spcPts val="1000"/>
              </a:spcBef>
              <a:spcAft>
                <a:spcPts val="0"/>
              </a:spcAft>
              <a:buClr>
                <a:schemeClr val="dk1"/>
              </a:buClr>
              <a:buSzPct val="100000"/>
              <a:buNone/>
            </a:pPr>
            <a:endParaRPr sz="1867" i="1">
              <a:latin typeface="Arial"/>
              <a:ea typeface="Arial"/>
              <a:cs typeface="Arial"/>
              <a:sym typeface="Arial"/>
            </a:endParaRPr>
          </a:p>
          <a:p>
            <a:pPr marL="16933" lvl="0" indent="-16994" algn="l" rtl="0">
              <a:lnSpc>
                <a:spcPct val="100000"/>
              </a:lnSpc>
              <a:spcBef>
                <a:spcPts val="660"/>
              </a:spcBef>
              <a:spcAft>
                <a:spcPts val="0"/>
              </a:spcAft>
              <a:buClr>
                <a:schemeClr val="dk1"/>
              </a:buClr>
              <a:buSzPct val="100000"/>
              <a:buChar char="•"/>
            </a:pPr>
            <a:r>
              <a:rPr lang="en-US" sz="1867" b="1">
                <a:latin typeface="Arial"/>
                <a:ea typeface="Arial"/>
                <a:cs typeface="Arial"/>
                <a:sym typeface="Arial"/>
              </a:rPr>
              <a:t>General Formula</a:t>
            </a:r>
            <a:endParaRPr sz="1867">
              <a:latin typeface="Arial"/>
              <a:ea typeface="Arial"/>
              <a:cs typeface="Arial"/>
              <a:sym typeface="Arial"/>
            </a:endParaRPr>
          </a:p>
          <a:p>
            <a:pPr marL="16933" lvl="0" indent="-16994" algn="l" rtl="0">
              <a:lnSpc>
                <a:spcPct val="100000"/>
              </a:lnSpc>
              <a:spcBef>
                <a:spcPts val="527"/>
              </a:spcBef>
              <a:spcAft>
                <a:spcPts val="0"/>
              </a:spcAft>
              <a:buClr>
                <a:schemeClr val="dk1"/>
              </a:buClr>
              <a:buSzPct val="100000"/>
              <a:buChar char="•"/>
            </a:pPr>
            <a:r>
              <a:rPr lang="en-US" sz="1867" i="1">
                <a:latin typeface="Arial"/>
                <a:ea typeface="Arial"/>
                <a:cs typeface="Arial"/>
                <a:sym typeface="Arial"/>
              </a:rPr>
              <a:t>F </a:t>
            </a:r>
            <a:r>
              <a:rPr lang="en-US" sz="1867">
                <a:latin typeface="Arial"/>
                <a:ea typeface="Arial"/>
                <a:cs typeface="Arial"/>
                <a:sym typeface="Arial"/>
              </a:rPr>
              <a:t>+ </a:t>
            </a:r>
            <a:r>
              <a:rPr lang="en-US" sz="1867" i="1">
                <a:latin typeface="Arial"/>
                <a:ea typeface="Arial"/>
                <a:cs typeface="Arial"/>
                <a:sym typeface="Arial"/>
              </a:rPr>
              <a:t>VQ </a:t>
            </a:r>
            <a:r>
              <a:rPr lang="en-US" sz="1867">
                <a:latin typeface="Arial"/>
                <a:ea typeface="Arial"/>
                <a:cs typeface="Arial"/>
                <a:sym typeface="Arial"/>
              </a:rPr>
              <a:t>= </a:t>
            </a:r>
            <a:r>
              <a:rPr lang="en-US" sz="1867" i="1">
                <a:latin typeface="Arial"/>
                <a:ea typeface="Arial"/>
                <a:cs typeface="Arial"/>
                <a:sym typeface="Arial"/>
              </a:rPr>
              <a:t>CQ</a:t>
            </a:r>
            <a:endParaRPr sz="1867">
              <a:latin typeface="Arial"/>
              <a:ea typeface="Arial"/>
              <a:cs typeface="Arial"/>
              <a:sym typeface="Arial"/>
            </a:endParaRPr>
          </a:p>
          <a:p>
            <a:pPr marL="853419" lvl="0" indent="-228661" algn="l" rtl="0">
              <a:lnSpc>
                <a:spcPct val="100000"/>
              </a:lnSpc>
              <a:spcBef>
                <a:spcPts val="540"/>
              </a:spcBef>
              <a:spcAft>
                <a:spcPts val="0"/>
              </a:spcAft>
              <a:buClr>
                <a:schemeClr val="dk1"/>
              </a:buClr>
              <a:buSzPct val="100000"/>
              <a:buChar char="•"/>
            </a:pPr>
            <a:r>
              <a:rPr lang="en-US" sz="1867" i="1">
                <a:latin typeface="Arial"/>
                <a:ea typeface="Arial"/>
                <a:cs typeface="Arial"/>
                <a:sym typeface="Arial"/>
              </a:rPr>
              <a:t>Q </a:t>
            </a:r>
            <a:r>
              <a:rPr lang="en-US" sz="1867">
                <a:latin typeface="Arial"/>
                <a:ea typeface="Arial"/>
                <a:cs typeface="Arial"/>
                <a:sym typeface="Arial"/>
              </a:rPr>
              <a:t>= </a:t>
            </a:r>
            <a:r>
              <a:rPr lang="en-US" sz="1867" i="1">
                <a:latin typeface="Arial"/>
                <a:ea typeface="Arial"/>
                <a:cs typeface="Arial"/>
                <a:sym typeface="Arial"/>
              </a:rPr>
              <a:t>F/(C </a:t>
            </a:r>
            <a:r>
              <a:rPr lang="en-US" sz="1867">
                <a:latin typeface="Arial"/>
                <a:ea typeface="Arial"/>
                <a:cs typeface="Arial"/>
                <a:sym typeface="Arial"/>
              </a:rPr>
              <a:t>- </a:t>
            </a:r>
            <a:r>
              <a:rPr lang="en-US" sz="1867" i="1">
                <a:latin typeface="Arial"/>
                <a:ea typeface="Arial"/>
                <a:cs typeface="Arial"/>
                <a:sym typeface="Arial"/>
              </a:rPr>
              <a:t>V)</a:t>
            </a:r>
            <a:endParaRPr sz="1867">
              <a:latin typeface="Arial"/>
              <a:ea typeface="Arial"/>
              <a:cs typeface="Arial"/>
              <a:sym typeface="Arial"/>
            </a:endParaRPr>
          </a:p>
          <a:p>
            <a:pPr marL="228600" lvl="0" indent="-118999" algn="l" rtl="0">
              <a:lnSpc>
                <a:spcPct val="90000"/>
              </a:lnSpc>
              <a:spcBef>
                <a:spcPts val="1000"/>
              </a:spcBef>
              <a:spcAft>
                <a:spcPts val="0"/>
              </a:spcAft>
              <a:buClr>
                <a:schemeClr val="dk1"/>
              </a:buClr>
              <a:buSzPct val="100000"/>
              <a:buNone/>
            </a:pPr>
            <a:endParaRPr sz="1867" i="1">
              <a:latin typeface="Arial"/>
              <a:ea typeface="Arial"/>
              <a:cs typeface="Arial"/>
              <a:sym typeface="Arial"/>
            </a:endParaRPr>
          </a:p>
          <a:p>
            <a:pPr marL="228600" lvl="0" indent="-118999" algn="l" rtl="0">
              <a:lnSpc>
                <a:spcPct val="90000"/>
              </a:lnSpc>
              <a:spcBef>
                <a:spcPts val="1000"/>
              </a:spcBef>
              <a:spcAft>
                <a:spcPts val="0"/>
              </a:spcAft>
              <a:buClr>
                <a:schemeClr val="dk1"/>
              </a:buClr>
              <a:buSzPct val="100000"/>
              <a:buNone/>
            </a:pPr>
            <a:endParaRPr sz="1867"/>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3"/>
        <p:cNvGrpSpPr/>
        <p:nvPr/>
      </p:nvGrpSpPr>
      <p:grpSpPr>
        <a:xfrm>
          <a:off x="0" y="0"/>
          <a:ext cx="0" cy="0"/>
          <a:chOff x="0" y="0"/>
          <a:chExt cx="0" cy="0"/>
        </a:xfrm>
      </p:grpSpPr>
      <p:sp>
        <p:nvSpPr>
          <p:cNvPr id="254" name="Google Shape;254;p26"/>
          <p:cNvSpPr/>
          <p:nvPr/>
        </p:nvSpPr>
        <p:spPr>
          <a:xfrm>
            <a:off x="0" y="175260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5" name="Google Shape;255;p26"/>
          <p:cNvSpPr txBox="1">
            <a:spLocks noGrp="1"/>
          </p:cNvSpPr>
          <p:nvPr>
            <p:ph type="body" idx="1"/>
          </p:nvPr>
        </p:nvSpPr>
        <p:spPr>
          <a:xfrm>
            <a:off x="7676941" y="1581141"/>
            <a:ext cx="3370384" cy="57925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solidFill>
                  <a:schemeClr val="dk1"/>
                </a:solidFill>
              </a:rPr>
              <a:t>End of the Module</a:t>
            </a:r>
            <a:endParaRPr/>
          </a:p>
        </p:txBody>
      </p:sp>
      <p:sp>
        <p:nvSpPr>
          <p:cNvPr id="256" name="Google Shape;256;p26"/>
          <p:cNvSpPr/>
          <p:nvPr/>
        </p:nvSpPr>
        <p:spPr>
          <a:xfrm flipH="1">
            <a:off x="530529" y="1"/>
            <a:ext cx="1155142" cy="591009"/>
          </a:xfrm>
          <a:custGeom>
            <a:avLst/>
            <a:gdLst/>
            <a:ahLst/>
            <a:cxnLst/>
            <a:rect l="l" t="t" r="r" b="b"/>
            <a:pathLst>
              <a:path w="1155142" h="591009" extrusionOk="0">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7" name="Google Shape;257;p26"/>
          <p:cNvSpPr/>
          <p:nvPr/>
        </p:nvSpPr>
        <p:spPr>
          <a:xfrm flipH="1">
            <a:off x="4349052" y="0"/>
            <a:ext cx="1737401" cy="959536"/>
          </a:xfrm>
          <a:custGeom>
            <a:avLst/>
            <a:gdLst/>
            <a:ahLst/>
            <a:cxnLst/>
            <a:rect l="l" t="t" r="r" b="b"/>
            <a:pathLst>
              <a:path w="1737401" h="959536" extrusionOk="0">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58" name="Google Shape;258;p26"/>
          <p:cNvSpPr/>
          <p:nvPr/>
        </p:nvSpPr>
        <p:spPr>
          <a:xfrm flipH="1">
            <a:off x="0" y="2916245"/>
            <a:ext cx="159741" cy="552996"/>
          </a:xfrm>
          <a:custGeom>
            <a:avLst/>
            <a:gdLst/>
            <a:ahLst/>
            <a:cxnLst/>
            <a:rect l="l" t="t" r="r" b="b"/>
            <a:pathLst>
              <a:path w="159741" h="552996" extrusionOk="0">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 name="Google Shape;259;p26"/>
          <p:cNvSpPr/>
          <p:nvPr/>
        </p:nvSpPr>
        <p:spPr>
          <a:xfrm flipH="1">
            <a:off x="0" y="5835649"/>
            <a:ext cx="1548180" cy="1022351"/>
          </a:xfrm>
          <a:custGeom>
            <a:avLst/>
            <a:gdLst/>
            <a:ahLst/>
            <a:cxnLst/>
            <a:rect l="l" t="t" r="r" b="b"/>
            <a:pathLst>
              <a:path w="1548180" h="1022351" extrusionOk="0">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26"/>
          <p:cNvSpPr/>
          <p:nvPr/>
        </p:nvSpPr>
        <p:spPr>
          <a:xfrm flipH="1">
            <a:off x="3697761" y="5717906"/>
            <a:ext cx="1771609" cy="1140095"/>
          </a:xfrm>
          <a:custGeom>
            <a:avLst/>
            <a:gdLst/>
            <a:ahLst/>
            <a:cxnLst/>
            <a:rect l="l" t="t" r="r" b="b"/>
            <a:pathLst>
              <a:path w="1771609" h="1140095" extrusionOk="0">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61" name="Google Shape;261;p26" descr="Q&amp;A - STM – Sea Traffic Management"/>
          <p:cNvPicPr preferRelativeResize="0"/>
          <p:nvPr/>
        </p:nvPicPr>
        <p:blipFill rotWithShape="1">
          <a:blip r:embed="rId3">
            <a:alphaModFix/>
          </a:blip>
          <a:srcRect l="10792" r="24709" b="1"/>
          <a:stretch/>
        </p:blipFill>
        <p:spPr>
          <a:xfrm>
            <a:off x="631840" y="598720"/>
            <a:ext cx="5178249" cy="5178249"/>
          </a:xfrm>
          <a:custGeom>
            <a:avLst/>
            <a:gdLst/>
            <a:ahLst/>
            <a:cxnLst/>
            <a:rect l="l" t="t" r="r" b="b"/>
            <a:pathLst>
              <a:path w="3741748" h="3741748" extrusionOk="0">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ln>
            <a:noFill/>
          </a:ln>
        </p:spPr>
      </p:pic>
      <p:sp>
        <p:nvSpPr>
          <p:cNvPr id="262" name="Google Shape;262;p26"/>
          <p:cNvSpPr/>
          <p:nvPr/>
        </p:nvSpPr>
        <p:spPr>
          <a:xfrm flipH="1">
            <a:off x="4520513" y="6258756"/>
            <a:ext cx="1565940" cy="599245"/>
          </a:xfrm>
          <a:custGeom>
            <a:avLst/>
            <a:gdLst/>
            <a:ahLst/>
            <a:cxnLst/>
            <a:rect l="l" t="t" r="r" b="b"/>
            <a:pathLst>
              <a:path w="1565940" h="599245" extrusionOk="0">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63" name="Google Shape;263;p26" descr="Logo&#10;&#10;Description automatically generated"/>
          <p:cNvPicPr preferRelativeResize="0"/>
          <p:nvPr/>
        </p:nvPicPr>
        <p:blipFill rotWithShape="1">
          <a:blip r:embed="rId4">
            <a:alphaModFix/>
          </a:blip>
          <a:srcRect/>
          <a:stretch/>
        </p:blipFill>
        <p:spPr>
          <a:xfrm>
            <a:off x="7676941" y="2916245"/>
            <a:ext cx="3577213" cy="925483"/>
          </a:xfrm>
          <a:prstGeom prst="rect">
            <a:avLst/>
          </a:prstGeom>
          <a:noFill/>
          <a:ln>
            <a:noFill/>
          </a:ln>
        </p:spPr>
      </p:pic>
      <p:sp>
        <p:nvSpPr>
          <p:cNvPr id="264" name="Google Shape;264;p26"/>
          <p:cNvSpPr txBox="1"/>
          <p:nvPr/>
        </p:nvSpPr>
        <p:spPr>
          <a:xfrm>
            <a:off x="7302711" y="4393145"/>
            <a:ext cx="446833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Contact </a:t>
            </a:r>
            <a:r>
              <a:rPr lang="en-US" sz="1800" u="sng">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care@datamites.com</a:t>
            </a:r>
            <a:r>
              <a:rPr lang="en-US" sz="1800">
                <a:solidFill>
                  <a:schemeClr val="dk1"/>
                </a:solidFill>
                <a:latin typeface="Calibri"/>
                <a:ea typeface="Calibri"/>
                <a:cs typeface="Calibri"/>
                <a:sym typeface="Calibri"/>
              </a:rPr>
              <a:t>  for any queries</a:t>
            </a:r>
            <a:endParaRPr/>
          </a:p>
        </p:txBody>
      </p:sp>
      <p:grpSp>
        <p:nvGrpSpPr>
          <p:cNvPr id="265" name="Google Shape;265;p26"/>
          <p:cNvGrpSpPr/>
          <p:nvPr/>
        </p:nvGrpSpPr>
        <p:grpSpPr>
          <a:xfrm>
            <a:off x="5615740" y="135600"/>
            <a:ext cx="2061216" cy="2024812"/>
            <a:chOff x="13944600" y="3619500"/>
            <a:chExt cx="4294200" cy="4218359"/>
          </a:xfrm>
        </p:grpSpPr>
        <p:sp>
          <p:nvSpPr>
            <p:cNvPr id="266" name="Google Shape;266;p26"/>
            <p:cNvSpPr/>
            <p:nvPr/>
          </p:nvSpPr>
          <p:spPr>
            <a:xfrm>
              <a:off x="14731458" y="5067300"/>
              <a:ext cx="2720338" cy="2770559"/>
            </a:xfrm>
            <a:custGeom>
              <a:avLst/>
              <a:gdLst/>
              <a:ahLst/>
              <a:cxnLst/>
              <a:rect l="l" t="t" r="r" b="b"/>
              <a:pathLst>
                <a:path w="3348108" h="3348108" extrusionOk="0">
                  <a:moveTo>
                    <a:pt x="0" y="0"/>
                  </a:moveTo>
                  <a:lnTo>
                    <a:pt x="3348108" y="0"/>
                  </a:lnTo>
                  <a:lnTo>
                    <a:pt x="3348108" y="3348108"/>
                  </a:lnTo>
                  <a:lnTo>
                    <a:pt x="0" y="3348108"/>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672">
                <a:solidFill>
                  <a:srgbClr val="000000"/>
                </a:solidFill>
                <a:latin typeface="Calibri"/>
                <a:ea typeface="Calibri"/>
                <a:cs typeface="Calibri"/>
                <a:sym typeface="Calibri"/>
              </a:endParaRPr>
            </a:p>
          </p:txBody>
        </p:sp>
        <p:sp>
          <p:nvSpPr>
            <p:cNvPr id="267" name="Google Shape;267;p26"/>
            <p:cNvSpPr txBox="1"/>
            <p:nvPr/>
          </p:nvSpPr>
          <p:spPr>
            <a:xfrm>
              <a:off x="13944600" y="3619500"/>
              <a:ext cx="4294200" cy="1262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592" b="1">
                  <a:solidFill>
                    <a:srgbClr val="000000"/>
                  </a:solidFill>
                  <a:latin typeface="Calibri"/>
                  <a:ea typeface="Calibri"/>
                  <a:cs typeface="Calibri"/>
                  <a:sym typeface="Calibri"/>
                </a:rPr>
                <a:t>Refer &amp; Earn</a:t>
              </a:r>
              <a:endParaRPr/>
            </a:p>
            <a:p>
              <a:pPr marL="0" marR="0" lvl="0" indent="0" algn="ctr" rtl="0">
                <a:spcBef>
                  <a:spcPts val="0"/>
                </a:spcBef>
                <a:spcAft>
                  <a:spcPts val="0"/>
                </a:spcAft>
                <a:buNone/>
              </a:pPr>
              <a:r>
                <a:rPr lang="en-US" sz="1344" b="1">
                  <a:solidFill>
                    <a:srgbClr val="000000"/>
                  </a:solidFill>
                  <a:latin typeface="Calibri"/>
                  <a:ea typeface="Calibri"/>
                  <a:cs typeface="Calibri"/>
                  <a:sym typeface="Calibri"/>
                </a:rPr>
                <a:t>up to ₹ 5,000/- per referral </a:t>
              </a:r>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628</TotalTime>
  <Words>882</Words>
  <Application>Microsoft Office PowerPoint</Application>
  <PresentationFormat>Widescreen</PresentationFormat>
  <Paragraphs>101</Paragraphs>
  <Slides>22</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Noto Sans Symbols</vt:lpstr>
      <vt:lpstr>Office Theme</vt:lpstr>
      <vt:lpstr>Data Analysis Associate</vt:lpstr>
      <vt:lpstr>Comparison Analysis</vt:lpstr>
      <vt:lpstr>Comparison Analysis</vt:lpstr>
      <vt:lpstr>PowerPoint Presentation</vt:lpstr>
      <vt:lpstr>PowerPoint Presentation</vt:lpstr>
      <vt:lpstr>Ranking Analysis</vt:lpstr>
      <vt:lpstr>Contribution Analysis</vt:lpstr>
      <vt:lpstr>Pareto Analysis</vt:lpstr>
      <vt:lpstr>PowerPoint Presentation</vt:lpstr>
      <vt:lpstr>Returns &amp; Refunds</vt:lpstr>
      <vt:lpstr>Attrition</vt:lpstr>
      <vt:lpstr>Medication Errors</vt:lpstr>
      <vt:lpstr>Interactive Dashboards</vt:lpstr>
      <vt:lpstr>Time Series Data</vt:lpstr>
      <vt:lpstr>PowerPoint Presentation</vt:lpstr>
      <vt:lpstr>Trend Analysis</vt:lpstr>
      <vt:lpstr>Types of Trend</vt:lpstr>
      <vt:lpstr> Break Even Analysis</vt:lpstr>
      <vt:lpstr>What is Break-even?</vt:lpstr>
      <vt:lpstr>Decision Modeling Software Purchase or In-House?</vt:lpstr>
      <vt:lpstr>Break Even Decision Model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Ashok Kumar A</dc:creator>
  <cp:lastModifiedBy>Gangula Vijayalakshmi</cp:lastModifiedBy>
  <cp:revision>1</cp:revision>
  <dcterms:created xsi:type="dcterms:W3CDTF">2022-12-11T17:17:08Z</dcterms:created>
  <dcterms:modified xsi:type="dcterms:W3CDTF">2026-04-13T09:32:19Z</dcterms:modified>
</cp:coreProperties>
</file>